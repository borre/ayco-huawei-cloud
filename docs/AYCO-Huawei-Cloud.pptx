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2.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
      <p:font typeface="Inter"/>
      <p:regular r:id="rId25"/>
    </p:embeddedFont>
    <p:embeddedFont>
      <p:font typeface="Inter"/>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hyperlink" Target="mailto:eduardo@bor.re" TargetMode="External"/><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751633"/>
            <a:ext cx="3344466"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AYCO × Huawei Cloud</a:t>
            </a:r>
            <a:endParaRPr lang="en-US" sz="2400" dirty="0"/>
          </a:p>
        </p:txBody>
      </p:sp>
      <p:sp>
        <p:nvSpPr>
          <p:cNvPr id="4" name="Text 1"/>
          <p:cNvSpPr/>
          <p:nvPr/>
        </p:nvSpPr>
        <p:spPr>
          <a:xfrm>
            <a:off x="496119" y="2188741"/>
            <a:ext cx="4722763" cy="620167"/>
          </a:xfrm>
          <a:prstGeom prst="rect">
            <a:avLst/>
          </a:prstGeom>
          <a:noFill/>
          <a:ln/>
        </p:spPr>
        <p:txBody>
          <a:bodyPr wrap="square" lIns="0" tIns="0" rIns="0" bIns="0" rtlCol="0" anchor="t"/>
          <a:lstStyle/>
          <a:p>
            <a:pPr algn="l" indent="0" marL="0">
              <a:lnSpc>
                <a:spcPts val="2400"/>
              </a:lnSpc>
              <a:buNone/>
            </a:pPr>
            <a:r>
              <a:rPr lang="en-US" sz="1950" b="1" dirty="0">
                <a:solidFill>
                  <a:srgbClr val="1F1E1E"/>
                </a:solidFill>
                <a:latin typeface="Inter Bold" pitchFamily="34" charset="0"/>
                <a:ea typeface="Inter Bold" pitchFamily="34" charset="-122"/>
                <a:cs typeface="Inter Bold" pitchFamily="34" charset="-120"/>
              </a:rPr>
              <a:t>Inteligencia Artificial y Gobierno de Datos para la Industria Automotriz</a:t>
            </a:r>
            <a:endParaRPr lang="en-US" sz="1950" dirty="0"/>
          </a:p>
        </p:txBody>
      </p:sp>
      <p:sp>
        <p:nvSpPr>
          <p:cNvPr id="5" name="Text 2"/>
          <p:cNvSpPr/>
          <p:nvPr/>
        </p:nvSpPr>
        <p:spPr>
          <a:xfrm>
            <a:off x="496119" y="2994943"/>
            <a:ext cx="4722763"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Una solución end-to-end para transformar la gestión contractual y el cumplimiento regulatorio en la industria automotriz mexicana.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574253"/>
            <a:ext cx="3101132"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El Reto</a:t>
            </a:r>
            <a:endParaRPr lang="en-US" sz="2400" dirty="0"/>
          </a:p>
        </p:txBody>
      </p:sp>
      <p:sp>
        <p:nvSpPr>
          <p:cNvPr id="3" name="Text 1"/>
          <p:cNvSpPr/>
          <p:nvPr/>
        </p:nvSpPr>
        <p:spPr>
          <a:xfrm>
            <a:off x="496119" y="1209824"/>
            <a:ext cx="8151763" cy="396925"/>
          </a:xfrm>
          <a:prstGeom prst="rect">
            <a:avLst/>
          </a:prstGeom>
          <a:noFill/>
          <a:ln/>
        </p:spPr>
        <p:txBody>
          <a:bodyPr wrap="squar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AYCO</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fabrica autobuses en México — modelos Sigma y Cosmopolitan. Gestiona cientos de contratos con proveedores estratégicos, pero el proceso actual presenta brechas críticas que representan riesgo operativo y regulatorio:</a:t>
            </a:r>
            <a:endParaRPr lang="en-US" sz="950" dirty="0"/>
          </a:p>
        </p:txBody>
      </p:sp>
      <p:sp>
        <p:nvSpPr>
          <p:cNvPr id="4" name="Shape 2"/>
          <p:cNvSpPr/>
          <p:nvPr/>
        </p:nvSpPr>
        <p:spPr>
          <a:xfrm>
            <a:off x="496119" y="1746275"/>
            <a:ext cx="4013895" cy="1140172"/>
          </a:xfrm>
          <a:prstGeom prst="roundRect">
            <a:avLst>
              <a:gd name="adj" fmla="val 6015"/>
            </a:avLst>
          </a:prstGeom>
          <a:solidFill>
            <a:srgbClr val="FFFFFF"/>
          </a:solidFill>
          <a:ln w="14288">
            <a:solidFill>
              <a:srgbClr val="D8D4D4"/>
            </a:solidFill>
            <a:prstDash val="solid"/>
          </a:ln>
        </p:spPr>
        <p:txBody>
          <a:bodyPr/>
          <a:p/>
        </p:txBody>
      </p:sp>
      <p:sp>
        <p:nvSpPr>
          <p:cNvPr id="5" name="Shape 3"/>
          <p:cNvSpPr/>
          <p:nvPr/>
        </p:nvSpPr>
        <p:spPr>
          <a:xfrm>
            <a:off x="481831" y="1746275"/>
            <a:ext cx="57150" cy="1140172"/>
          </a:xfrm>
          <a:prstGeom prst="roundRect">
            <a:avLst>
              <a:gd name="adj" fmla="val 10000"/>
            </a:avLst>
          </a:prstGeom>
          <a:solidFill>
            <a:srgbClr val="DA1B2E"/>
          </a:solidFill>
          <a:ln/>
        </p:spPr>
        <p:txBody>
          <a:bodyPr/>
          <a:p/>
        </p:txBody>
      </p:sp>
      <p:sp>
        <p:nvSpPr>
          <p:cNvPr id="6" name="Text 4"/>
          <p:cNvSpPr/>
          <p:nvPr/>
        </p:nvSpPr>
        <p:spPr>
          <a:xfrm>
            <a:off x="677242" y="1884536"/>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Revisión Manual</a:t>
            </a:r>
            <a:endParaRPr lang="en-US" sz="1200" dirty="0"/>
          </a:p>
        </p:txBody>
      </p:sp>
      <p:sp>
        <p:nvSpPr>
          <p:cNvPr id="7" name="Text 5"/>
          <p:cNvSpPr/>
          <p:nvPr/>
        </p:nvSpPr>
        <p:spPr>
          <a:xfrm>
            <a:off x="677242" y="2152799"/>
            <a:ext cx="3694509"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Los contratos se leen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página por página</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sin automatización ni criterios de priorización de riesgo.</a:t>
            </a:r>
            <a:endParaRPr lang="en-US" sz="950" dirty="0"/>
          </a:p>
        </p:txBody>
      </p:sp>
      <p:sp>
        <p:nvSpPr>
          <p:cNvPr id="8" name="Shape 6"/>
          <p:cNvSpPr/>
          <p:nvPr/>
        </p:nvSpPr>
        <p:spPr>
          <a:xfrm>
            <a:off x="4633987" y="1746275"/>
            <a:ext cx="4013895" cy="1140172"/>
          </a:xfrm>
          <a:prstGeom prst="roundRect">
            <a:avLst>
              <a:gd name="adj" fmla="val 6015"/>
            </a:avLst>
          </a:prstGeom>
          <a:solidFill>
            <a:srgbClr val="FFFFFF"/>
          </a:solidFill>
          <a:ln w="14288">
            <a:solidFill>
              <a:srgbClr val="D8D4D4"/>
            </a:solidFill>
            <a:prstDash val="solid"/>
          </a:ln>
        </p:spPr>
        <p:txBody>
          <a:bodyPr/>
          <a:p/>
        </p:txBody>
      </p:sp>
      <p:sp>
        <p:nvSpPr>
          <p:cNvPr id="9" name="Shape 7"/>
          <p:cNvSpPr/>
          <p:nvPr/>
        </p:nvSpPr>
        <p:spPr>
          <a:xfrm>
            <a:off x="4619699" y="1746275"/>
            <a:ext cx="57150" cy="1140172"/>
          </a:xfrm>
          <a:prstGeom prst="roundRect">
            <a:avLst>
              <a:gd name="adj" fmla="val 10000"/>
            </a:avLst>
          </a:prstGeom>
          <a:solidFill>
            <a:srgbClr val="DA1B2E"/>
          </a:solidFill>
          <a:ln/>
        </p:spPr>
        <p:txBody>
          <a:bodyPr/>
          <a:p/>
        </p:txBody>
      </p:sp>
      <p:sp>
        <p:nvSpPr>
          <p:cNvPr id="10" name="Text 8"/>
          <p:cNvSpPr/>
          <p:nvPr/>
        </p:nvSpPr>
        <p:spPr>
          <a:xfrm>
            <a:off x="4815111" y="1884536"/>
            <a:ext cx="1851868"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Sin Visibilidad de Riesgo</a:t>
            </a:r>
            <a:endParaRPr lang="en-US" sz="1200" dirty="0"/>
          </a:p>
        </p:txBody>
      </p:sp>
      <p:sp>
        <p:nvSpPr>
          <p:cNvPr id="11" name="Text 9"/>
          <p:cNvSpPr/>
          <p:nvPr/>
        </p:nvSpPr>
        <p:spPr>
          <a:xfrm>
            <a:off x="4815111" y="2152799"/>
            <a:ext cx="3694509" cy="595387"/>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No existe un modelo de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riesgo agregado</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por proveedor. Las exposiciones críticas permanecen ocultas hasta que es demasiado tarde.</a:t>
            </a:r>
            <a:endParaRPr lang="en-US" sz="950" dirty="0"/>
          </a:p>
        </p:txBody>
      </p:sp>
      <p:sp>
        <p:nvSpPr>
          <p:cNvPr id="12" name="Shape 10"/>
          <p:cNvSpPr/>
          <p:nvPr/>
        </p:nvSpPr>
        <p:spPr>
          <a:xfrm>
            <a:off x="496119" y="3010421"/>
            <a:ext cx="4013895" cy="941710"/>
          </a:xfrm>
          <a:prstGeom prst="roundRect">
            <a:avLst>
              <a:gd name="adj" fmla="val 7282"/>
            </a:avLst>
          </a:prstGeom>
          <a:solidFill>
            <a:srgbClr val="FFFFFF"/>
          </a:solidFill>
          <a:ln w="14288">
            <a:solidFill>
              <a:srgbClr val="D8D4D4"/>
            </a:solidFill>
            <a:prstDash val="solid"/>
          </a:ln>
        </p:spPr>
        <p:txBody>
          <a:bodyPr/>
          <a:p/>
        </p:txBody>
      </p:sp>
      <p:sp>
        <p:nvSpPr>
          <p:cNvPr id="13" name="Shape 11"/>
          <p:cNvSpPr/>
          <p:nvPr/>
        </p:nvSpPr>
        <p:spPr>
          <a:xfrm>
            <a:off x="481831" y="3010421"/>
            <a:ext cx="57150" cy="941710"/>
          </a:xfrm>
          <a:prstGeom prst="roundRect">
            <a:avLst>
              <a:gd name="adj" fmla="val 10000"/>
            </a:avLst>
          </a:prstGeom>
          <a:solidFill>
            <a:srgbClr val="DA1B2E"/>
          </a:solidFill>
          <a:ln/>
        </p:spPr>
        <p:txBody>
          <a:bodyPr/>
          <a:p/>
        </p:txBody>
      </p:sp>
      <p:sp>
        <p:nvSpPr>
          <p:cNvPr id="14" name="Text 12"/>
          <p:cNvSpPr/>
          <p:nvPr/>
        </p:nvSpPr>
        <p:spPr>
          <a:xfrm>
            <a:off x="677242" y="3148682"/>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Datos en Silos</a:t>
            </a:r>
            <a:endParaRPr lang="en-US" sz="1200" dirty="0"/>
          </a:p>
        </p:txBody>
      </p:sp>
      <p:sp>
        <p:nvSpPr>
          <p:cNvPr id="15" name="Text 13"/>
          <p:cNvSpPr/>
          <p:nvPr/>
        </p:nvSpPr>
        <p:spPr>
          <a:xfrm>
            <a:off x="677242" y="3416945"/>
            <a:ext cx="3694509"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La información está dispersa sin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gobierno ni linaje</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No hay trazabilidad, no hay calidad de datos garantizada.</a:t>
            </a:r>
            <a:endParaRPr lang="en-US" sz="950" dirty="0"/>
          </a:p>
        </p:txBody>
      </p:sp>
      <p:sp>
        <p:nvSpPr>
          <p:cNvPr id="16" name="Shape 14"/>
          <p:cNvSpPr/>
          <p:nvPr/>
        </p:nvSpPr>
        <p:spPr>
          <a:xfrm>
            <a:off x="4633987" y="3010421"/>
            <a:ext cx="4013895" cy="941710"/>
          </a:xfrm>
          <a:prstGeom prst="roundRect">
            <a:avLst>
              <a:gd name="adj" fmla="val 7282"/>
            </a:avLst>
          </a:prstGeom>
          <a:solidFill>
            <a:srgbClr val="FFFFFF"/>
          </a:solidFill>
          <a:ln w="14288">
            <a:solidFill>
              <a:srgbClr val="D8D4D4"/>
            </a:solidFill>
            <a:prstDash val="solid"/>
          </a:ln>
        </p:spPr>
        <p:txBody>
          <a:bodyPr/>
          <a:p/>
        </p:txBody>
      </p:sp>
      <p:sp>
        <p:nvSpPr>
          <p:cNvPr id="17" name="Shape 15"/>
          <p:cNvSpPr/>
          <p:nvPr/>
        </p:nvSpPr>
        <p:spPr>
          <a:xfrm>
            <a:off x="4619699" y="3010421"/>
            <a:ext cx="57150" cy="941710"/>
          </a:xfrm>
          <a:prstGeom prst="roundRect">
            <a:avLst>
              <a:gd name="adj" fmla="val 10000"/>
            </a:avLst>
          </a:prstGeom>
          <a:solidFill>
            <a:srgbClr val="DA1B2E"/>
          </a:solidFill>
          <a:ln/>
        </p:spPr>
        <p:txBody>
          <a:bodyPr/>
          <a:p/>
        </p:txBody>
      </p:sp>
      <p:sp>
        <p:nvSpPr>
          <p:cNvPr id="18" name="Text 16"/>
          <p:cNvSpPr/>
          <p:nvPr/>
        </p:nvSpPr>
        <p:spPr>
          <a:xfrm>
            <a:off x="4815111" y="3148682"/>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Auditoría Lenta</a:t>
            </a:r>
            <a:endParaRPr lang="en-US" sz="1200" dirty="0"/>
          </a:p>
        </p:txBody>
      </p:sp>
      <p:sp>
        <p:nvSpPr>
          <p:cNvPr id="19" name="Text 17"/>
          <p:cNvSpPr/>
          <p:nvPr/>
        </p:nvSpPr>
        <p:spPr>
          <a:xfrm>
            <a:off x="4815111" y="3416945"/>
            <a:ext cx="3694509"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El proceso de auditoría y cumplimiento ante la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CNBV puede tomar semanas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generando cuellos de botella críticos.</a:t>
            </a:r>
            <a:endParaRPr lang="en-US" sz="950" dirty="0"/>
          </a:p>
        </p:txBody>
      </p:sp>
      <p:sp>
        <p:nvSpPr>
          <p:cNvPr id="20" name="Text 18"/>
          <p:cNvSpPr/>
          <p:nvPr/>
        </p:nvSpPr>
        <p:spPr>
          <a:xfrm>
            <a:off x="682154" y="4231184"/>
            <a:ext cx="7965728"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"No sabemos qué contratos nos van a explotar hasta que explotan."</a:t>
            </a:r>
            <a:endParaRPr lang="en-US" sz="950" dirty="0"/>
          </a:p>
        </p:txBody>
      </p:sp>
      <p:sp>
        <p:nvSpPr>
          <p:cNvPr id="21" name="Shape 19"/>
          <p:cNvSpPr/>
          <p:nvPr/>
        </p:nvSpPr>
        <p:spPr>
          <a:xfrm>
            <a:off x="496119" y="4091657"/>
            <a:ext cx="14288" cy="477515"/>
          </a:xfrm>
          <a:prstGeom prst="rect">
            <a:avLst/>
          </a:prstGeom>
          <a:solidFill>
            <a:srgbClr val="DA1B2E"/>
          </a:solidFill>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48022" y="170557"/>
            <a:ext cx="4354711" cy="193849"/>
          </a:xfrm>
          <a:prstGeom prst="rect">
            <a:avLst/>
          </a:prstGeom>
          <a:noFill/>
          <a:ln/>
        </p:spPr>
        <p:txBody>
          <a:bodyPr wrap="none" lIns="0" tIns="0" rIns="0" bIns="0" rtlCol="0" anchor="t"/>
          <a:lstStyle/>
          <a:p>
            <a:pPr algn="l" indent="0" marL="0">
              <a:lnSpc>
                <a:spcPts val="1500"/>
              </a:lnSpc>
              <a:buNone/>
            </a:pPr>
            <a:r>
              <a:rPr lang="en-US" sz="1200" b="1" dirty="0">
                <a:solidFill>
                  <a:srgbClr val="1F1E1E"/>
                </a:solidFill>
                <a:latin typeface="Inter Bold" pitchFamily="34" charset="0"/>
                <a:ea typeface="Inter Bold" pitchFamily="34" charset="-122"/>
                <a:cs typeface="Inter Bold" pitchFamily="34" charset="-120"/>
              </a:rPr>
              <a:t>La Solución: Un Data Pipeline Inteligente en Huawei Cloud</a:t>
            </a:r>
            <a:endParaRPr lang="en-US" sz="1200" dirty="0"/>
          </a:p>
        </p:txBody>
      </p:sp>
      <p:sp>
        <p:nvSpPr>
          <p:cNvPr id="3" name="Text 1"/>
          <p:cNvSpPr/>
          <p:nvPr/>
        </p:nvSpPr>
        <p:spPr>
          <a:xfrm>
            <a:off x="248022" y="426393"/>
            <a:ext cx="8647956" cy="74340"/>
          </a:xfrm>
          <a:prstGeom prst="rect">
            <a:avLst/>
          </a:prstGeom>
          <a:noFill/>
          <a:ln/>
        </p:spPr>
        <p:txBody>
          <a:bodyPr wrap="none" lIns="0" tIns="0" rIns="0" bIns="0" rtlCol="0" anchor="t"/>
          <a:lstStyle/>
          <a:p>
            <a:pPr algn="l" indent="0" marL="0">
              <a:lnSpc>
                <a:spcPts val="550"/>
              </a:lnSpc>
              <a:buNone/>
            </a:pPr>
            <a:r>
              <a:rPr lang="en-US" sz="450" dirty="0">
                <a:solidFill>
                  <a:srgbClr val="3B3535"/>
                </a:solidFill>
                <a:latin typeface="Inter" pitchFamily="34" charset="0"/>
                <a:ea typeface="Inter" pitchFamily="34" charset="-122"/>
                <a:cs typeface="Inter" pitchFamily="34" charset="-120"/>
              </a:rPr>
              <a:t>Transformamos documentos contractuales sin estructura en inteligencia accionable, utilizando un pipeline completamente integrado sobre infraestructura soberana en México. </a:t>
            </a:r>
            <a:pPr algn="l" indent="0" marL="0">
              <a:lnSpc>
                <a:spcPts val="550"/>
              </a:lnSpc>
              <a:buNone/>
            </a:pPr>
            <a:r>
              <a:rPr lang="en-US" sz="450" b="1" dirty="0">
                <a:solidFill>
                  <a:srgbClr val="3B3535"/>
                </a:solidFill>
                <a:latin typeface="Inter" pitchFamily="34" charset="0"/>
                <a:ea typeface="Inter" pitchFamily="34" charset="-122"/>
                <a:cs typeface="Inter" pitchFamily="34" charset="-120"/>
              </a:rPr>
              <a:t>Todo en una sola plataforma. Todo en la región la-north-2 (Mexico City 2).</a:t>
            </a:r>
            <a:endParaRPr lang="en-US" sz="450" dirty="0"/>
          </a:p>
        </p:txBody>
      </p:sp>
      <p:pic>
        <p:nvPicPr>
          <p:cNvPr id="4" name="Image 0" descr="preencoded.png">    </p:cNvPr>
          <p:cNvPicPr>
            <a:picLocks noChangeAspect="1"/>
          </p:cNvPicPr>
          <p:nvPr/>
        </p:nvPicPr>
        <p:blipFill>
          <a:blip r:embed="rId1"/>
          <a:stretch>
            <a:fillRect/>
          </a:stretch>
        </p:blipFill>
        <p:spPr>
          <a:xfrm>
            <a:off x="1522586" y="535558"/>
            <a:ext cx="6098828" cy="4705499"/>
          </a:xfrm>
          <a:prstGeom prst="rect">
            <a:avLst/>
          </a:prstGeom>
        </p:spPr>
      </p:pic>
      <p:sp>
        <p:nvSpPr>
          <p:cNvPr id="5" name="Text 2"/>
          <p:cNvSpPr/>
          <p:nvPr/>
        </p:nvSpPr>
        <p:spPr>
          <a:xfrm>
            <a:off x="4032364" y="2502398"/>
            <a:ext cx="1063684" cy="729661"/>
          </a:xfrm>
          <a:prstGeom prst="rect">
            <a:avLst/>
          </a:prstGeom>
          <a:noFill/>
          <a:ln/>
        </p:spPr>
        <p:txBody>
          <a:bodyPr wrap="square" lIns="0" tIns="0" rIns="0" bIns="0" rtlCol="0" anchor="t"/>
          <a:lstStyle/>
          <a:p>
            <a:pPr algn="ctr" indent="0" marL="0">
              <a:lnSpc>
                <a:spcPts val="1900"/>
              </a:lnSpc>
              <a:buNone/>
            </a:pPr>
            <a:r>
              <a:rPr lang="en-US" sz="1500" b="1" dirty="0">
                <a:solidFill>
                  <a:srgbClr val="FFFFFF"/>
                </a:solidFill>
                <a:latin typeface="Inter Bold" pitchFamily="34" charset="0"/>
                <a:ea typeface="Inter Bold" pitchFamily="34" charset="-122"/>
                <a:cs typeface="Inter Bold" pitchFamily="34" charset="-120"/>
              </a:rPr>
              <a:t>Pipeline de Datos Inteligente</a:t>
            </a:r>
            <a:endParaRPr lang="en-US" sz="1500" dirty="0"/>
          </a:p>
        </p:txBody>
      </p:sp>
      <p:sp>
        <p:nvSpPr>
          <p:cNvPr id="6" name="Text 3"/>
          <p:cNvSpPr/>
          <p:nvPr/>
        </p:nvSpPr>
        <p:spPr>
          <a:xfrm>
            <a:off x="5078752" y="4004283"/>
            <a:ext cx="1582419" cy="486441"/>
          </a:xfrm>
          <a:prstGeom prst="rect">
            <a:avLst/>
          </a:prstGeom>
          <a:noFill/>
          <a:ln/>
        </p:spPr>
        <p:txBody>
          <a:bodyPr wrap="square" lIns="0" tIns="0" rIns="0" bIns="0" rtlCol="0" anchor="t"/>
          <a:lstStyle/>
          <a:p>
            <a:pPr algn="ctr" indent="0" marL="0">
              <a:lnSpc>
                <a:spcPts val="1900"/>
              </a:lnSpc>
              <a:buNone/>
            </a:pPr>
            <a:r>
              <a:rPr lang="en-US" sz="1500" b="1" dirty="0">
                <a:solidFill>
                  <a:srgbClr val="3B3535"/>
                </a:solidFill>
                <a:latin typeface="Inter Bold" pitchFamily="34" charset="0"/>
                <a:ea typeface="Inter Bold" pitchFamily="34" charset="-122"/>
                <a:cs typeface="Inter Bold" pitchFamily="34" charset="-120"/>
              </a:rPr>
              <a:t>DeepSeek Risk Score</a:t>
            </a:r>
            <a:endParaRPr lang="en-US" sz="1500" dirty="0"/>
          </a:p>
        </p:txBody>
      </p:sp>
      <p:sp>
        <p:nvSpPr>
          <p:cNvPr id="7" name="Text 4"/>
          <p:cNvSpPr/>
          <p:nvPr/>
        </p:nvSpPr>
        <p:spPr>
          <a:xfrm>
            <a:off x="5078752" y="4559907"/>
            <a:ext cx="1582419" cy="291864"/>
          </a:xfrm>
          <a:prstGeom prst="rect">
            <a:avLst/>
          </a:prstGeom>
          <a:noFill/>
          <a:ln/>
        </p:spPr>
        <p:txBody>
          <a:bodyPr wrap="square" lIns="0" tIns="0" rIns="0" bIns="0" rtlCol="0" anchor="t"/>
          <a:lstStyle/>
          <a:p>
            <a:pPr algn="ctr" indent="0" marL="0">
              <a:lnSpc>
                <a:spcPts val="1100"/>
              </a:lnSpc>
              <a:buNone/>
            </a:pPr>
            <a:r>
              <a:rPr lang="en-US" sz="1200" dirty="0">
                <a:solidFill>
                  <a:srgbClr val="3B3535"/>
                </a:solidFill>
                <a:latin typeface="Inter" pitchFamily="34" charset="0"/>
                <a:ea typeface="Inter" pitchFamily="34" charset="-122"/>
                <a:cs typeface="Inter" pitchFamily="34" charset="-120"/>
              </a:rPr>
              <a:t>Puntuación de riesgo 0-100</a:t>
            </a:r>
            <a:endParaRPr lang="en-US" sz="1200" dirty="0"/>
          </a:p>
        </p:txBody>
      </p:sp>
      <p:sp>
        <p:nvSpPr>
          <p:cNvPr id="8" name="Text 5"/>
          <p:cNvSpPr/>
          <p:nvPr/>
        </p:nvSpPr>
        <p:spPr>
          <a:xfrm>
            <a:off x="1775280" y="2447673"/>
            <a:ext cx="1617010" cy="486441"/>
          </a:xfrm>
          <a:prstGeom prst="rect">
            <a:avLst/>
          </a:prstGeom>
          <a:noFill/>
          <a:ln/>
        </p:spPr>
        <p:txBody>
          <a:bodyPr wrap="square" lIns="0" tIns="0" rIns="0" bIns="0" rtlCol="0" anchor="t"/>
          <a:lstStyle/>
          <a:p>
            <a:pPr algn="ctr" indent="0" marL="0">
              <a:lnSpc>
                <a:spcPts val="1900"/>
              </a:lnSpc>
              <a:buNone/>
            </a:pPr>
            <a:r>
              <a:rPr lang="en-US" sz="1500" b="1" dirty="0">
                <a:solidFill>
                  <a:srgbClr val="3B3535"/>
                </a:solidFill>
                <a:latin typeface="Inter Bold" pitchFamily="34" charset="0"/>
                <a:ea typeface="Inter Bold" pitchFamily="34" charset="-122"/>
                <a:cs typeface="Inter Bold" pitchFamily="34" charset="-120"/>
              </a:rPr>
              <a:t>Chatbot Inteligente</a:t>
            </a:r>
            <a:endParaRPr lang="en-US" sz="1500" dirty="0"/>
          </a:p>
        </p:txBody>
      </p:sp>
      <p:sp>
        <p:nvSpPr>
          <p:cNvPr id="9" name="Text 6"/>
          <p:cNvSpPr/>
          <p:nvPr/>
        </p:nvSpPr>
        <p:spPr>
          <a:xfrm>
            <a:off x="1775280" y="3003297"/>
            <a:ext cx="1617010" cy="291864"/>
          </a:xfrm>
          <a:prstGeom prst="rect">
            <a:avLst/>
          </a:prstGeom>
          <a:noFill/>
          <a:ln/>
        </p:spPr>
        <p:txBody>
          <a:bodyPr wrap="square" lIns="0" tIns="0" rIns="0" bIns="0" rtlCol="0" anchor="t"/>
          <a:lstStyle/>
          <a:p>
            <a:pPr algn="ctr" indent="0" marL="0">
              <a:lnSpc>
                <a:spcPts val="1100"/>
              </a:lnSpc>
              <a:buNone/>
            </a:pPr>
            <a:r>
              <a:rPr lang="en-US" sz="1200" dirty="0">
                <a:solidFill>
                  <a:srgbClr val="3B3535"/>
                </a:solidFill>
                <a:latin typeface="Inter" pitchFamily="34" charset="0"/>
                <a:ea typeface="Inter" pitchFamily="34" charset="-122"/>
                <a:cs typeface="Inter" pitchFamily="34" charset="-120"/>
              </a:rPr>
              <a:t>Dify + RAG para consultas</a:t>
            </a:r>
            <a:endParaRPr lang="en-US" sz="1200" dirty="0"/>
          </a:p>
        </p:txBody>
      </p:sp>
      <p:sp>
        <p:nvSpPr>
          <p:cNvPr id="10" name="Text 7"/>
          <p:cNvSpPr/>
          <p:nvPr/>
        </p:nvSpPr>
        <p:spPr>
          <a:xfrm>
            <a:off x="2441163" y="4125894"/>
            <a:ext cx="1582419" cy="243220"/>
          </a:xfrm>
          <a:prstGeom prst="rect">
            <a:avLst/>
          </a:prstGeom>
          <a:noFill/>
          <a:ln/>
        </p:spPr>
        <p:txBody>
          <a:bodyPr wrap="none" lIns="0" tIns="0" rIns="0" bIns="0" rtlCol="0" anchor="t"/>
          <a:lstStyle/>
          <a:p>
            <a:pPr algn="ctr" indent="0" marL="0">
              <a:lnSpc>
                <a:spcPts val="1900"/>
              </a:lnSpc>
              <a:buNone/>
            </a:pPr>
            <a:r>
              <a:rPr lang="en-US" sz="1500" b="1" dirty="0">
                <a:solidFill>
                  <a:srgbClr val="3B3535"/>
                </a:solidFill>
                <a:latin typeface="Inter Bold" pitchFamily="34" charset="0"/>
                <a:ea typeface="Inter Bold" pitchFamily="34" charset="-122"/>
                <a:cs typeface="Inter Bold" pitchFamily="34" charset="-120"/>
              </a:rPr>
              <a:t>Almacén DWS</a:t>
            </a:r>
            <a:endParaRPr lang="en-US" sz="1500" dirty="0"/>
          </a:p>
        </p:txBody>
      </p:sp>
      <p:sp>
        <p:nvSpPr>
          <p:cNvPr id="11" name="Text 8"/>
          <p:cNvSpPr/>
          <p:nvPr/>
        </p:nvSpPr>
        <p:spPr>
          <a:xfrm>
            <a:off x="2441163" y="4438297"/>
            <a:ext cx="1582419" cy="291864"/>
          </a:xfrm>
          <a:prstGeom prst="rect">
            <a:avLst/>
          </a:prstGeom>
          <a:noFill/>
          <a:ln/>
        </p:spPr>
        <p:txBody>
          <a:bodyPr wrap="square" lIns="0" tIns="0" rIns="0" bIns="0" rtlCol="0" anchor="t"/>
          <a:lstStyle/>
          <a:p>
            <a:pPr algn="ctr" indent="0" marL="0">
              <a:lnSpc>
                <a:spcPts val="1100"/>
              </a:lnSpc>
              <a:buNone/>
            </a:pPr>
            <a:r>
              <a:rPr lang="en-US" sz="1200" dirty="0">
                <a:solidFill>
                  <a:srgbClr val="3B3535"/>
                </a:solidFill>
                <a:latin typeface="Inter" pitchFamily="34" charset="0"/>
                <a:ea typeface="Inter" pitchFamily="34" charset="-122"/>
                <a:cs typeface="Inter" pitchFamily="34" charset="-120"/>
              </a:rPr>
              <a:t>Resultados estructurados</a:t>
            </a:r>
            <a:endParaRPr lang="en-US" sz="1200" dirty="0"/>
          </a:p>
        </p:txBody>
      </p:sp>
      <p:sp>
        <p:nvSpPr>
          <p:cNvPr id="12" name="Text 9"/>
          <p:cNvSpPr/>
          <p:nvPr/>
        </p:nvSpPr>
        <p:spPr>
          <a:xfrm>
            <a:off x="5735987" y="2560636"/>
            <a:ext cx="1617010" cy="243221"/>
          </a:xfrm>
          <a:prstGeom prst="rect">
            <a:avLst/>
          </a:prstGeom>
          <a:noFill/>
          <a:ln/>
        </p:spPr>
        <p:txBody>
          <a:bodyPr wrap="none" lIns="0" tIns="0" rIns="0" bIns="0" rtlCol="0" anchor="t"/>
          <a:lstStyle/>
          <a:p>
            <a:pPr algn="ctr" indent="0" marL="0">
              <a:lnSpc>
                <a:spcPts val="1900"/>
              </a:lnSpc>
              <a:buNone/>
            </a:pPr>
            <a:r>
              <a:rPr lang="en-US" sz="1500" b="1" dirty="0">
                <a:solidFill>
                  <a:srgbClr val="3B3535"/>
                </a:solidFill>
                <a:latin typeface="Inter Bold" pitchFamily="34" charset="0"/>
                <a:ea typeface="Inter Bold" pitchFamily="34" charset="-122"/>
                <a:cs typeface="Inter Bold" pitchFamily="34" charset="-120"/>
              </a:rPr>
              <a:t>OCR + AI</a:t>
            </a:r>
            <a:endParaRPr lang="en-US" sz="1500" dirty="0"/>
          </a:p>
        </p:txBody>
      </p:sp>
      <p:sp>
        <p:nvSpPr>
          <p:cNvPr id="13" name="Text 10"/>
          <p:cNvSpPr/>
          <p:nvPr/>
        </p:nvSpPr>
        <p:spPr>
          <a:xfrm>
            <a:off x="5735987" y="2873039"/>
            <a:ext cx="1617010" cy="291864"/>
          </a:xfrm>
          <a:prstGeom prst="rect">
            <a:avLst/>
          </a:prstGeom>
          <a:noFill/>
          <a:ln/>
        </p:spPr>
        <p:txBody>
          <a:bodyPr wrap="square" lIns="0" tIns="0" rIns="0" bIns="0" rtlCol="0" anchor="t"/>
          <a:lstStyle/>
          <a:p>
            <a:pPr algn="ctr" indent="0" marL="0">
              <a:lnSpc>
                <a:spcPts val="1100"/>
              </a:lnSpc>
              <a:buNone/>
            </a:pPr>
            <a:r>
              <a:rPr lang="en-US" sz="1200" dirty="0">
                <a:solidFill>
                  <a:srgbClr val="3B3535"/>
                </a:solidFill>
                <a:latin typeface="Inter" pitchFamily="34" charset="0"/>
                <a:ea typeface="Inter" pitchFamily="34" charset="-122"/>
                <a:cs typeface="Inter" pitchFamily="34" charset="-120"/>
              </a:rPr>
              <a:t>Extrae cláusulas y entidades</a:t>
            </a:r>
            <a:endParaRPr lang="en-US" sz="1200" dirty="0"/>
          </a:p>
        </p:txBody>
      </p:sp>
      <p:sp>
        <p:nvSpPr>
          <p:cNvPr id="14" name="Text 11"/>
          <p:cNvSpPr/>
          <p:nvPr/>
        </p:nvSpPr>
        <p:spPr>
          <a:xfrm>
            <a:off x="3721042" y="1012133"/>
            <a:ext cx="1625658" cy="243220"/>
          </a:xfrm>
          <a:prstGeom prst="rect">
            <a:avLst/>
          </a:prstGeom>
          <a:noFill/>
          <a:ln/>
        </p:spPr>
        <p:txBody>
          <a:bodyPr wrap="none" lIns="0" tIns="0" rIns="0" bIns="0" rtlCol="0" anchor="t"/>
          <a:lstStyle/>
          <a:p>
            <a:pPr algn="ctr" indent="0" marL="0">
              <a:lnSpc>
                <a:spcPts val="1900"/>
              </a:lnSpc>
              <a:buNone/>
            </a:pPr>
            <a:r>
              <a:rPr lang="en-US" sz="1500" b="1" dirty="0">
                <a:solidFill>
                  <a:srgbClr val="3B3535"/>
                </a:solidFill>
                <a:latin typeface="Inter Bold" pitchFamily="34" charset="0"/>
                <a:ea typeface="Inter Bold" pitchFamily="34" charset="-122"/>
                <a:cs typeface="Inter Bold" pitchFamily="34" charset="-120"/>
              </a:rPr>
              <a:t>Ingesta de PDFs</a:t>
            </a:r>
            <a:endParaRPr lang="en-US" sz="1500" dirty="0"/>
          </a:p>
        </p:txBody>
      </p:sp>
      <p:sp>
        <p:nvSpPr>
          <p:cNvPr id="15" name="Text 12"/>
          <p:cNvSpPr/>
          <p:nvPr/>
        </p:nvSpPr>
        <p:spPr>
          <a:xfrm>
            <a:off x="3721042" y="1324536"/>
            <a:ext cx="1625658" cy="145932"/>
          </a:xfrm>
          <a:prstGeom prst="rect">
            <a:avLst/>
          </a:prstGeom>
          <a:noFill/>
          <a:ln/>
        </p:spPr>
        <p:txBody>
          <a:bodyPr wrap="none" lIns="0" tIns="0" rIns="0" bIns="0" rtlCol="0" anchor="t"/>
          <a:lstStyle/>
          <a:p>
            <a:pPr algn="ctr" indent="0" marL="0">
              <a:lnSpc>
                <a:spcPts val="1100"/>
              </a:lnSpc>
              <a:buNone/>
            </a:pPr>
            <a:r>
              <a:rPr lang="en-US" sz="1200" dirty="0">
                <a:solidFill>
                  <a:srgbClr val="3B3535"/>
                </a:solidFill>
                <a:latin typeface="Inter" pitchFamily="34" charset="0"/>
                <a:ea typeface="Inter" pitchFamily="34" charset="-122"/>
                <a:cs typeface="Inter" pitchFamily="34" charset="-120"/>
              </a:rPr>
              <a:t>Documentos vía OBS</a:t>
            </a:r>
            <a:endParaRPr lang="en-US" sz="1200" dirty="0"/>
          </a:p>
        </p:txBody>
      </p:sp>
      <p:sp>
        <p:nvSpPr>
          <p:cNvPr id="16" name="Text 13"/>
          <p:cNvSpPr/>
          <p:nvPr/>
        </p:nvSpPr>
        <p:spPr>
          <a:xfrm>
            <a:off x="248022" y="5275883"/>
            <a:ext cx="8647956" cy="74340"/>
          </a:xfrm>
          <a:prstGeom prst="rect">
            <a:avLst/>
          </a:prstGeom>
          <a:noFill/>
          <a:ln/>
        </p:spPr>
        <p:txBody>
          <a:bodyPr wrap="none" lIns="0" tIns="0" rIns="0" bIns="0" rtlCol="0" anchor="t"/>
          <a:lstStyle/>
          <a:p>
            <a:pPr algn="l" indent="0" marL="0">
              <a:lnSpc>
                <a:spcPts val="550"/>
              </a:lnSpc>
              <a:buNone/>
            </a:pPr>
            <a:r>
              <a:rPr lang="en-US" sz="450" dirty="0">
                <a:solidFill>
                  <a:srgbClr val="3B3535"/>
                </a:solidFill>
                <a:latin typeface="Inter" pitchFamily="34" charset="0"/>
                <a:ea typeface="Inter" pitchFamily="34" charset="-122"/>
                <a:cs typeface="Inter" pitchFamily="34" charset="-120"/>
              </a:rPr>
              <a:t>Cada etapa del pipeline está diseñada para escalar bajo demanda, garantizando latencia menor a 10ms y costos controlados con arquitectura serverless donde aplica.</a:t>
            </a:r>
            <a:endParaRPr lang="en-US" sz="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947514"/>
            <a:ext cx="7541940"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Demo 1: Scoring Inteligente de Riesgo Contractual</a:t>
            </a:r>
            <a:endParaRPr lang="en-US" sz="2400" dirty="0"/>
          </a:p>
        </p:txBody>
      </p:sp>
      <p:sp>
        <p:nvSpPr>
          <p:cNvPr id="3" name="Shape 1"/>
          <p:cNvSpPr/>
          <p:nvPr/>
        </p:nvSpPr>
        <p:spPr>
          <a:xfrm>
            <a:off x="496119" y="1583085"/>
            <a:ext cx="1712119" cy="233214"/>
          </a:xfrm>
          <a:prstGeom prst="roundRect">
            <a:avLst>
              <a:gd name="adj" fmla="val 2451"/>
            </a:avLst>
          </a:prstGeom>
          <a:solidFill>
            <a:srgbClr val="F9D2D6"/>
          </a:solidFill>
          <a:ln/>
        </p:spPr>
        <p:txBody>
          <a:bodyPr/>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0533" y="1650057"/>
            <a:ext cx="99194" cy="99194"/>
          </a:xfrm>
          <a:prstGeom prst="rect">
            <a:avLst/>
          </a:prstGeom>
        </p:spPr>
      </p:pic>
      <p:sp>
        <p:nvSpPr>
          <p:cNvPr id="5" name="Text 2"/>
          <p:cNvSpPr/>
          <p:nvPr/>
        </p:nvSpPr>
        <p:spPr>
          <a:xfrm>
            <a:off x="719286" y="1620292"/>
            <a:ext cx="1414537" cy="158800"/>
          </a:xfrm>
          <a:prstGeom prst="rect">
            <a:avLst/>
          </a:prstGeom>
          <a:noFill/>
          <a:ln/>
        </p:spPr>
        <p:txBody>
          <a:bodyPr wrap="none" lIns="0" tIns="0" rIns="0" bIns="0" rtlCol="0" anchor="t"/>
          <a:lstStyle/>
          <a:p>
            <a:pPr algn="l" indent="0" marL="0">
              <a:lnSpc>
                <a:spcPts val="1250"/>
              </a:lnSpc>
              <a:buNone/>
            </a:pPr>
            <a:r>
              <a:rPr lang="en-US" sz="750" dirty="0">
                <a:solidFill>
                  <a:srgbClr val="3B3535"/>
                </a:solidFill>
                <a:latin typeface="Inter" pitchFamily="34" charset="0"/>
                <a:ea typeface="Inter" pitchFamily="34" charset="-122"/>
                <a:cs typeface="Inter" pitchFamily="34" charset="-120"/>
              </a:rPr>
              <a:t>DE 2 SEMANAS A 8 MINUTOS</a:t>
            </a:r>
            <a:endParaRPr lang="en-US" sz="750" dirty="0"/>
          </a:p>
        </p:txBody>
      </p:sp>
      <p:sp>
        <p:nvSpPr>
          <p:cNvPr id="6" name="Shape 3"/>
          <p:cNvSpPr/>
          <p:nvPr/>
        </p:nvSpPr>
        <p:spPr>
          <a:xfrm>
            <a:off x="406822" y="1955825"/>
            <a:ext cx="4103191" cy="2240161"/>
          </a:xfrm>
          <a:prstGeom prst="roundRect">
            <a:avLst>
              <a:gd name="adj" fmla="val 255"/>
            </a:avLst>
          </a:prstGeom>
          <a:solidFill>
            <a:srgbClr val="DA1B2E"/>
          </a:solidFill>
          <a:ln/>
        </p:spPr>
        <p:txBody>
          <a:bodyPr/>
          <a:p/>
        </p:txBody>
      </p:sp>
      <p:sp>
        <p:nvSpPr>
          <p:cNvPr id="7" name="Text 4"/>
          <p:cNvSpPr/>
          <p:nvPr/>
        </p:nvSpPr>
        <p:spPr>
          <a:xfrm>
            <a:off x="530796" y="2079799"/>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FFFFFF"/>
                </a:solidFill>
                <a:latin typeface="Inter Bold" pitchFamily="34" charset="0"/>
                <a:ea typeface="Inter Bold" pitchFamily="34" charset="-122"/>
                <a:cs typeface="Inter Bold" pitchFamily="34" charset="-120"/>
              </a:rPr>
              <a:t>¿Cómo Funciona?</a:t>
            </a:r>
            <a:endParaRPr lang="en-US" sz="1200" dirty="0"/>
          </a:p>
        </p:txBody>
      </p:sp>
      <p:sp>
        <p:nvSpPr>
          <p:cNvPr id="8" name="Text 5"/>
          <p:cNvSpPr/>
          <p:nvPr/>
        </p:nvSpPr>
        <p:spPr>
          <a:xfrm>
            <a:off x="530796" y="2397621"/>
            <a:ext cx="3855244" cy="1190774"/>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Inter" pitchFamily="34" charset="0"/>
                <a:ea typeface="Inter" pitchFamily="34" charset="-122"/>
                <a:cs typeface="Inter" pitchFamily="34" charset="-120"/>
              </a:rPr>
              <a:t>El usuario sube un PDF de contrato al almacenamiento OBS. El servicio de </a:t>
            </a:r>
            <a:pPr algn="l" indent="0" marL="0">
              <a:lnSpc>
                <a:spcPts val="1550"/>
              </a:lnSpc>
              <a:buNone/>
            </a:pPr>
            <a:r>
              <a:rPr lang="en-US" sz="950" b="1" dirty="0">
                <a:solidFill>
                  <a:srgbClr val="FFFFFF"/>
                </a:solidFill>
                <a:latin typeface="Inter" pitchFamily="34" charset="0"/>
                <a:ea typeface="Inter" pitchFamily="34" charset="-122"/>
                <a:cs typeface="Inter" pitchFamily="34" charset="-120"/>
              </a:rPr>
              <a:t>OCR + DeepSeek v4 Flash</a:t>
            </a:r>
            <a:pPr algn="l" indent="0" marL="0">
              <a:lnSpc>
                <a:spcPts val="1550"/>
              </a:lnSpc>
              <a:buNone/>
            </a:pPr>
            <a:r>
              <a:rPr lang="en-US" sz="950" dirty="0">
                <a:solidFill>
                  <a:srgbClr val="FFFFFF"/>
                </a:solidFill>
                <a:latin typeface="Inter" pitchFamily="34" charset="0"/>
                <a:ea typeface="Inter" pitchFamily="34" charset="-122"/>
                <a:cs typeface="Inter" pitchFamily="34" charset="-120"/>
              </a:rPr>
              <a:t> extrae automáticamente: proveedor, monto, plazo, penalizaciones y garantías. Se calcula un </a:t>
            </a:r>
            <a:pPr algn="l" indent="0" marL="0">
              <a:lnSpc>
                <a:spcPts val="1550"/>
              </a:lnSpc>
              <a:buNone/>
            </a:pPr>
            <a:r>
              <a:rPr lang="en-US" sz="950" b="1" dirty="0">
                <a:solidFill>
                  <a:srgbClr val="FFFFFF"/>
                </a:solidFill>
                <a:latin typeface="Inter" pitchFamily="34" charset="0"/>
                <a:ea typeface="Inter" pitchFamily="34" charset="-122"/>
                <a:cs typeface="Inter" pitchFamily="34" charset="-120"/>
              </a:rPr>
              <a:t>risk score de 0 a 100</a:t>
            </a:r>
            <a:pPr algn="l" indent="0" marL="0">
              <a:lnSpc>
                <a:spcPts val="1550"/>
              </a:lnSpc>
              <a:buNone/>
            </a:pPr>
            <a:r>
              <a:rPr lang="en-US" sz="950" dirty="0">
                <a:solidFill>
                  <a:srgbClr val="FFFFFF"/>
                </a:solidFill>
                <a:latin typeface="Inter" pitchFamily="34" charset="0"/>
                <a:ea typeface="Inter" pitchFamily="34" charset="-122"/>
                <a:cs typeface="Inter" pitchFamily="34" charset="-120"/>
              </a:rPr>
              <a:t> con IA generativa y los resultados aparecen en tiempo real en el Data Warehouse (DWS) y en un dashboard Streamlit.</a:t>
            </a:r>
            <a:endParaRPr lang="en-US" sz="950" dirty="0"/>
          </a:p>
        </p:txBody>
      </p:sp>
      <p:sp>
        <p:nvSpPr>
          <p:cNvPr id="9" name="Text 6"/>
          <p:cNvSpPr/>
          <p:nvPr/>
        </p:nvSpPr>
        <p:spPr>
          <a:xfrm>
            <a:off x="4728046" y="2079799"/>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1F1E1E"/>
                </a:solidFill>
                <a:latin typeface="Inter Bold" pitchFamily="34" charset="0"/>
                <a:ea typeface="Inter Bold" pitchFamily="34" charset="-122"/>
                <a:cs typeface="Inter Bold" pitchFamily="34" charset="-120"/>
              </a:rPr>
              <a:t>Impacto Medido</a:t>
            </a:r>
            <a:endParaRPr lang="en-US" sz="1200" dirty="0"/>
          </a:p>
        </p:txBody>
      </p:sp>
      <p:sp>
        <p:nvSpPr>
          <p:cNvPr id="10" name="Text 7"/>
          <p:cNvSpPr/>
          <p:nvPr/>
        </p:nvSpPr>
        <p:spPr>
          <a:xfrm>
            <a:off x="4728046" y="2397621"/>
            <a:ext cx="3924598" cy="992312"/>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Durante la demo en producción sintética, el sistema procesó contratos en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8 minutos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 frente a las 2 semanas del proceso manual. Lo más relevante: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3 contratos críticos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fueron detectados automáticamente con riesgo alto. Auditoría manual los había pasado por alto en revisiones anteriores.</a:t>
            </a:r>
            <a:endParaRPr lang="en-US" sz="950" dirty="0"/>
          </a:p>
        </p:txBody>
      </p:sp>
      <p:sp>
        <p:nvSpPr>
          <p:cNvPr id="11" name="Shape 8"/>
          <p:cNvSpPr/>
          <p:nvPr/>
        </p:nvSpPr>
        <p:spPr>
          <a:xfrm>
            <a:off x="4728046" y="3529459"/>
            <a:ext cx="3924598" cy="527000"/>
          </a:xfrm>
          <a:prstGeom prst="roundRect">
            <a:avLst>
              <a:gd name="adj" fmla="val 1084"/>
            </a:avLst>
          </a:prstGeom>
          <a:solidFill>
            <a:srgbClr val="B6FCB8"/>
          </a:solidFill>
          <a:ln/>
        </p:spPr>
        <p:txBody>
          <a:bodyPr/>
          <a:p/>
        </p:txBody>
      </p:sp>
      <p:pic>
        <p:nvPicPr>
          <p:cNvPr id="12" name="Image 1" descr="preencoded.png">    </p:cNvPr>
          <p:cNvPicPr>
            <a:picLocks noChangeAspect="1"/>
          </p:cNvPicPr>
          <p:nvPr/>
        </p:nvPicPr>
        <p:blipFill>
          <a:blip r:embed="rId3"/>
          <a:stretch>
            <a:fillRect/>
          </a:stretch>
        </p:blipFill>
        <p:spPr>
          <a:xfrm>
            <a:off x="4852020" y="3718768"/>
            <a:ext cx="155004" cy="123974"/>
          </a:xfrm>
          <a:prstGeom prst="rect">
            <a:avLst/>
          </a:prstGeom>
        </p:spPr>
      </p:pic>
      <p:sp>
        <p:nvSpPr>
          <p:cNvPr id="13" name="Text 9"/>
          <p:cNvSpPr/>
          <p:nvPr/>
        </p:nvSpPr>
        <p:spPr>
          <a:xfrm>
            <a:off x="5130998" y="3684389"/>
            <a:ext cx="3397672"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Inter" pitchFamily="34" charset="0"/>
                <a:ea typeface="Inter" pitchFamily="34" charset="-122"/>
                <a:cs typeface="Inter" pitchFamily="34" charset="-120"/>
              </a:rPr>
              <a:t>Reducción del 99.6% en tiempo de revisión contractual.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8379" y="338361"/>
            <a:ext cx="5684490" cy="381521"/>
          </a:xfrm>
          <a:prstGeom prst="rect">
            <a:avLst/>
          </a:prstGeom>
          <a:noFill/>
          <a:ln/>
        </p:spPr>
        <p:txBody>
          <a:bodyPr wrap="none" lIns="0" tIns="0" rIns="0" bIns="0" rtlCol="0" anchor="t"/>
          <a:lstStyle/>
          <a:p>
            <a:pPr algn="l" indent="0" marL="0">
              <a:lnSpc>
                <a:spcPts val="3000"/>
              </a:lnSpc>
              <a:buNone/>
            </a:pPr>
            <a:r>
              <a:rPr lang="en-US" sz="2400" b="1" dirty="0">
                <a:solidFill>
                  <a:srgbClr val="1F1E1E"/>
                </a:solidFill>
                <a:latin typeface="Inter Bold" pitchFamily="34" charset="0"/>
                <a:ea typeface="Inter Bold" pitchFamily="34" charset="-122"/>
                <a:cs typeface="Inter Bold" pitchFamily="34" charset="-120"/>
              </a:rPr>
              <a:t>Demo 2: Gobierno de Datos Enterprise</a:t>
            </a:r>
            <a:endParaRPr lang="en-US" sz="2400" dirty="0"/>
          </a:p>
        </p:txBody>
      </p:sp>
      <p:sp>
        <p:nvSpPr>
          <p:cNvPr id="3" name="Shape 1"/>
          <p:cNvSpPr/>
          <p:nvPr/>
        </p:nvSpPr>
        <p:spPr>
          <a:xfrm>
            <a:off x="488379" y="960239"/>
            <a:ext cx="2385715" cy="247352"/>
          </a:xfrm>
          <a:prstGeom prst="roundRect">
            <a:avLst>
              <a:gd name="adj" fmla="val 2310"/>
            </a:avLst>
          </a:prstGeom>
          <a:noFill/>
          <a:ln w="9525">
            <a:solidFill>
              <a:srgbClr val="DA1B2E"/>
            </a:solidFill>
            <a:prstDash val="solid"/>
          </a:ln>
        </p:spPr>
        <p:txBody>
          <a:bodyPr/>
          <a:p/>
        </p:txBody>
      </p:sp>
      <p:sp>
        <p:nvSpPr>
          <p:cNvPr id="4" name="Text 2"/>
          <p:cNvSpPr/>
          <p:nvPr/>
        </p:nvSpPr>
        <p:spPr>
          <a:xfrm>
            <a:off x="571128" y="1006376"/>
            <a:ext cx="2220218" cy="155079"/>
          </a:xfrm>
          <a:prstGeom prst="rect">
            <a:avLst/>
          </a:prstGeom>
          <a:noFill/>
          <a:ln/>
        </p:spPr>
        <p:txBody>
          <a:bodyPr wrap="none" lIns="0" tIns="0" rIns="0" bIns="0" rtlCol="0" anchor="t"/>
          <a:lstStyle/>
          <a:p>
            <a:pPr algn="l" indent="0" marL="0">
              <a:lnSpc>
                <a:spcPts val="1200"/>
              </a:lnSpc>
              <a:buNone/>
            </a:pPr>
            <a:r>
              <a:rPr lang="en-US" sz="750" dirty="0">
                <a:solidFill>
                  <a:srgbClr val="DA1B2E"/>
                </a:solidFill>
                <a:latin typeface="Inter" pitchFamily="34" charset="0"/>
                <a:ea typeface="Inter" pitchFamily="34" charset="-122"/>
                <a:cs typeface="Inter" pitchFamily="34" charset="-120"/>
              </a:rPr>
              <a:t>NO SOLO PROCESAR DATOS — GOBERNARLOS</a:t>
            </a:r>
            <a:endParaRPr lang="en-US" sz="750" dirty="0"/>
          </a:p>
        </p:txBody>
      </p:sp>
      <p:sp>
        <p:nvSpPr>
          <p:cNvPr id="5" name="Text 3"/>
          <p:cNvSpPr/>
          <p:nvPr/>
        </p:nvSpPr>
        <p:spPr>
          <a:xfrm>
            <a:off x="488379" y="1342802"/>
            <a:ext cx="8167241" cy="387697"/>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La propuesta va más allá del procesamiento puntual. Implementamos un modelo de </a:t>
            </a:r>
            <a:pPr algn="l" indent="0" marL="0">
              <a:lnSpc>
                <a:spcPts val="1500"/>
              </a:lnSpc>
              <a:buNone/>
            </a:pPr>
            <a:r>
              <a:rPr lang="en-US" sz="950" b="1" dirty="0">
                <a:solidFill>
                  <a:srgbClr val="3B3535"/>
                </a:solidFill>
                <a:latin typeface="Inter" pitchFamily="34" charset="0"/>
                <a:ea typeface="Inter" pitchFamily="34" charset="-122"/>
                <a:cs typeface="Inter" pitchFamily="34" charset="-120"/>
              </a:rPr>
              <a:t>data mesh</a:t>
            </a:r>
            <a:pPr algn="l" indent="0" marL="0">
              <a:lnSpc>
                <a:spcPts val="1500"/>
              </a:lnSpc>
              <a:buNone/>
            </a:pPr>
            <a:r>
              <a:rPr lang="en-US" sz="950" dirty="0">
                <a:solidFill>
                  <a:srgbClr val="3B3535"/>
                </a:solidFill>
                <a:latin typeface="Inter" pitchFamily="34" charset="0"/>
                <a:ea typeface="Inter" pitchFamily="34" charset="-122"/>
                <a:cs typeface="Inter" pitchFamily="34" charset="-120"/>
              </a:rPr>
              <a:t> con 6 módulos activos de </a:t>
            </a:r>
            <a:pPr algn="l" indent="0" marL="0">
              <a:lnSpc>
                <a:spcPts val="1500"/>
              </a:lnSpc>
              <a:buNone/>
            </a:pPr>
            <a:r>
              <a:rPr lang="en-US" sz="950" b="1" dirty="0">
                <a:solidFill>
                  <a:srgbClr val="3B3535"/>
                </a:solidFill>
                <a:latin typeface="Inter" pitchFamily="34" charset="0"/>
                <a:ea typeface="Inter" pitchFamily="34" charset="-122"/>
                <a:cs typeface="Inter" pitchFamily="34" charset="-120"/>
              </a:rPr>
              <a:t>DataArts Studio</a:t>
            </a:r>
            <a:pPr algn="l" indent="0" marL="0">
              <a:lnSpc>
                <a:spcPts val="1500"/>
              </a:lnSpc>
              <a:buNone/>
            </a:pPr>
            <a:r>
              <a:rPr lang="en-US" sz="950" dirty="0">
                <a:solidFill>
                  <a:srgbClr val="3B3535"/>
                </a:solidFill>
                <a:latin typeface="Inter" pitchFamily="34" charset="0"/>
                <a:ea typeface="Inter" pitchFamily="34" charset="-122"/>
                <a:cs typeface="Inter" pitchFamily="34" charset="-120"/>
              </a:rPr>
              <a:t>, llevando a AYCO de cero gobierno de datos a una arquitectura enterprise completamente auditable.</a:t>
            </a:r>
            <a:endParaRPr lang="en-US" sz="950" dirty="0"/>
          </a:p>
        </p:txBody>
      </p:sp>
      <p:sp>
        <p:nvSpPr>
          <p:cNvPr id="6" name="Shape 4"/>
          <p:cNvSpPr/>
          <p:nvPr/>
        </p:nvSpPr>
        <p:spPr>
          <a:xfrm>
            <a:off x="488379" y="1865709"/>
            <a:ext cx="4023494" cy="1409626"/>
          </a:xfrm>
          <a:prstGeom prst="roundRect">
            <a:avLst>
              <a:gd name="adj" fmla="val 405"/>
            </a:avLst>
          </a:prstGeom>
          <a:solidFill>
            <a:srgbClr val="F2EEEE"/>
          </a:solidFill>
          <a:ln w="14288">
            <a:solidFill>
              <a:srgbClr val="D8D4D4"/>
            </a:solidFill>
            <a:prstDash val="solid"/>
          </a:ln>
        </p:spPr>
        <p:txBody>
          <a:bodyPr/>
          <a:p/>
        </p:txBody>
      </p:sp>
      <p:sp>
        <p:nvSpPr>
          <p:cNvPr id="7" name="Shape 5"/>
          <p:cNvSpPr/>
          <p:nvPr/>
        </p:nvSpPr>
        <p:spPr>
          <a:xfrm>
            <a:off x="624706" y="2002036"/>
            <a:ext cx="366266" cy="366266"/>
          </a:xfrm>
          <a:prstGeom prst="roundRect">
            <a:avLst>
              <a:gd name="adj" fmla="val 15601854"/>
            </a:avLst>
          </a:prstGeom>
          <a:solidFill>
            <a:srgbClr val="DA1B2E"/>
          </a:solidFill>
          <a:ln/>
        </p:spPr>
        <p:txBody>
          <a:bodyPr/>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5388" y="2102718"/>
            <a:ext cx="164827" cy="164827"/>
          </a:xfrm>
          <a:prstGeom prst="rect">
            <a:avLst/>
          </a:prstGeom>
        </p:spPr>
      </p:pic>
      <p:sp>
        <p:nvSpPr>
          <p:cNvPr id="9" name="Text 6"/>
          <p:cNvSpPr/>
          <p:nvPr/>
        </p:nvSpPr>
        <p:spPr>
          <a:xfrm>
            <a:off x="624706" y="2488481"/>
            <a:ext cx="1526307" cy="190723"/>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DataArts Catalog</a:t>
            </a:r>
            <a:endParaRPr lang="en-US" sz="1200" dirty="0"/>
          </a:p>
        </p:txBody>
      </p:sp>
      <p:sp>
        <p:nvSpPr>
          <p:cNvPr id="10" name="Text 7"/>
          <p:cNvSpPr/>
          <p:nvPr/>
        </p:nvSpPr>
        <p:spPr>
          <a:xfrm>
            <a:off x="624706" y="2751311"/>
            <a:ext cx="3750841" cy="387697"/>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Linaje de datos end-to-end y metadata automática para cada activo de información.</a:t>
            </a:r>
            <a:endParaRPr lang="en-US" sz="950" dirty="0"/>
          </a:p>
        </p:txBody>
      </p:sp>
      <p:sp>
        <p:nvSpPr>
          <p:cNvPr id="11" name="Shape 8"/>
          <p:cNvSpPr/>
          <p:nvPr/>
        </p:nvSpPr>
        <p:spPr>
          <a:xfrm>
            <a:off x="4632052" y="1865709"/>
            <a:ext cx="4023568" cy="1409626"/>
          </a:xfrm>
          <a:prstGeom prst="roundRect">
            <a:avLst>
              <a:gd name="adj" fmla="val 405"/>
            </a:avLst>
          </a:prstGeom>
          <a:solidFill>
            <a:srgbClr val="F2EEEE"/>
          </a:solidFill>
          <a:ln w="14288">
            <a:solidFill>
              <a:srgbClr val="D8D4D4"/>
            </a:solidFill>
            <a:prstDash val="solid"/>
          </a:ln>
        </p:spPr>
        <p:txBody>
          <a:bodyPr/>
          <a:p/>
        </p:txBody>
      </p:sp>
      <p:sp>
        <p:nvSpPr>
          <p:cNvPr id="12" name="Shape 9"/>
          <p:cNvSpPr/>
          <p:nvPr/>
        </p:nvSpPr>
        <p:spPr>
          <a:xfrm>
            <a:off x="4768379" y="2002036"/>
            <a:ext cx="366266" cy="366266"/>
          </a:xfrm>
          <a:prstGeom prst="roundRect">
            <a:avLst>
              <a:gd name="adj" fmla="val 15601854"/>
            </a:avLst>
          </a:prstGeom>
          <a:solidFill>
            <a:srgbClr val="DA1B2E"/>
          </a:solidFill>
          <a:ln/>
        </p:spPr>
        <p:txBody>
          <a:bodyPr/>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9061" y="2102718"/>
            <a:ext cx="164827" cy="164827"/>
          </a:xfrm>
          <a:prstGeom prst="rect">
            <a:avLst/>
          </a:prstGeom>
        </p:spPr>
      </p:pic>
      <p:sp>
        <p:nvSpPr>
          <p:cNvPr id="14" name="Text 10"/>
          <p:cNvSpPr/>
          <p:nvPr/>
        </p:nvSpPr>
        <p:spPr>
          <a:xfrm>
            <a:off x="4768379" y="2488481"/>
            <a:ext cx="1632719" cy="190723"/>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DataArts Architecture</a:t>
            </a:r>
            <a:endParaRPr lang="en-US" sz="1200" dirty="0"/>
          </a:p>
        </p:txBody>
      </p:sp>
      <p:sp>
        <p:nvSpPr>
          <p:cNvPr id="15" name="Text 11"/>
          <p:cNvSpPr/>
          <p:nvPr/>
        </p:nvSpPr>
        <p:spPr>
          <a:xfrm>
            <a:off x="4768379" y="2751311"/>
            <a:ext cx="3750915" cy="387697"/>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Modelo de datos con subject areas definidos: Proveedores, Contratos y Riesgos.</a:t>
            </a:r>
            <a:endParaRPr lang="en-US" sz="950" dirty="0"/>
          </a:p>
        </p:txBody>
      </p:sp>
      <p:sp>
        <p:nvSpPr>
          <p:cNvPr id="16" name="Shape 12"/>
          <p:cNvSpPr/>
          <p:nvPr/>
        </p:nvSpPr>
        <p:spPr>
          <a:xfrm>
            <a:off x="488379" y="3395514"/>
            <a:ext cx="4023494" cy="1409626"/>
          </a:xfrm>
          <a:prstGeom prst="roundRect">
            <a:avLst>
              <a:gd name="adj" fmla="val 405"/>
            </a:avLst>
          </a:prstGeom>
          <a:solidFill>
            <a:srgbClr val="F2EEEE"/>
          </a:solidFill>
          <a:ln w="14288">
            <a:solidFill>
              <a:srgbClr val="D8D4D4"/>
            </a:solidFill>
            <a:prstDash val="solid"/>
          </a:ln>
        </p:spPr>
        <p:txBody>
          <a:bodyPr/>
          <a:p/>
        </p:txBody>
      </p:sp>
      <p:sp>
        <p:nvSpPr>
          <p:cNvPr id="17" name="Shape 13"/>
          <p:cNvSpPr/>
          <p:nvPr/>
        </p:nvSpPr>
        <p:spPr>
          <a:xfrm>
            <a:off x="624706" y="3531840"/>
            <a:ext cx="366266" cy="366266"/>
          </a:xfrm>
          <a:prstGeom prst="roundRect">
            <a:avLst>
              <a:gd name="adj" fmla="val 15601854"/>
            </a:avLst>
          </a:prstGeom>
          <a:solidFill>
            <a:srgbClr val="DA1B2E"/>
          </a:solidFill>
          <a:ln/>
        </p:spPr>
        <p:txBody>
          <a:bodyPr/>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388" y="3632522"/>
            <a:ext cx="164827" cy="164827"/>
          </a:xfrm>
          <a:prstGeom prst="rect">
            <a:avLst/>
          </a:prstGeom>
        </p:spPr>
      </p:pic>
      <p:sp>
        <p:nvSpPr>
          <p:cNvPr id="19" name="Text 14"/>
          <p:cNvSpPr/>
          <p:nvPr/>
        </p:nvSpPr>
        <p:spPr>
          <a:xfrm>
            <a:off x="624706" y="4018285"/>
            <a:ext cx="1526307" cy="190723"/>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DataArts Security</a:t>
            </a:r>
            <a:endParaRPr lang="en-US" sz="1200" dirty="0"/>
          </a:p>
        </p:txBody>
      </p:sp>
      <p:sp>
        <p:nvSpPr>
          <p:cNvPr id="20" name="Text 15"/>
          <p:cNvSpPr/>
          <p:nvPr/>
        </p:nvSpPr>
        <p:spPr>
          <a:xfrm>
            <a:off x="624706" y="4281115"/>
            <a:ext cx="3750841" cy="387697"/>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Enmascaramiento dinámico de datos sensibles para cumplimiento regulatorio.</a:t>
            </a:r>
            <a:endParaRPr lang="en-US" sz="950" dirty="0"/>
          </a:p>
        </p:txBody>
      </p:sp>
      <p:sp>
        <p:nvSpPr>
          <p:cNvPr id="21" name="Shape 16"/>
          <p:cNvSpPr/>
          <p:nvPr/>
        </p:nvSpPr>
        <p:spPr>
          <a:xfrm>
            <a:off x="4632052" y="3395514"/>
            <a:ext cx="4023568" cy="1409626"/>
          </a:xfrm>
          <a:prstGeom prst="roundRect">
            <a:avLst>
              <a:gd name="adj" fmla="val 405"/>
            </a:avLst>
          </a:prstGeom>
          <a:solidFill>
            <a:srgbClr val="F2EEEE"/>
          </a:solidFill>
          <a:ln w="14288">
            <a:solidFill>
              <a:srgbClr val="D8D4D4"/>
            </a:solidFill>
            <a:prstDash val="solid"/>
          </a:ln>
        </p:spPr>
        <p:txBody>
          <a:bodyPr/>
          <a:p/>
        </p:txBody>
      </p:sp>
      <p:sp>
        <p:nvSpPr>
          <p:cNvPr id="22" name="Shape 17"/>
          <p:cNvSpPr/>
          <p:nvPr/>
        </p:nvSpPr>
        <p:spPr>
          <a:xfrm>
            <a:off x="4768379" y="3531840"/>
            <a:ext cx="366266" cy="366266"/>
          </a:xfrm>
          <a:prstGeom prst="roundRect">
            <a:avLst>
              <a:gd name="adj" fmla="val 15601854"/>
            </a:avLst>
          </a:prstGeom>
          <a:solidFill>
            <a:srgbClr val="DA1B2E"/>
          </a:solidFill>
          <a:ln/>
        </p:spPr>
        <p:txBody>
          <a:bodyPr/>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9061" y="3632522"/>
            <a:ext cx="164827" cy="164827"/>
          </a:xfrm>
          <a:prstGeom prst="rect">
            <a:avLst/>
          </a:prstGeom>
        </p:spPr>
      </p:pic>
      <p:sp>
        <p:nvSpPr>
          <p:cNvPr id="24" name="Text 18"/>
          <p:cNvSpPr/>
          <p:nvPr/>
        </p:nvSpPr>
        <p:spPr>
          <a:xfrm>
            <a:off x="4768379" y="4018285"/>
            <a:ext cx="1526307" cy="190723"/>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DataService</a:t>
            </a:r>
            <a:endParaRPr lang="en-US" sz="1200" dirty="0"/>
          </a:p>
        </p:txBody>
      </p:sp>
      <p:sp>
        <p:nvSpPr>
          <p:cNvPr id="25" name="Text 19"/>
          <p:cNvSpPr/>
          <p:nvPr/>
        </p:nvSpPr>
        <p:spPr>
          <a:xfrm>
            <a:off x="4768379" y="4281115"/>
            <a:ext cx="3750915" cy="387697"/>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APIs REST auto-generadas directamente desde DWS, listas para consumo empresarial.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17379" y="460028"/>
            <a:ext cx="4738241" cy="763042"/>
          </a:xfrm>
          <a:prstGeom prst="rect">
            <a:avLst/>
          </a:prstGeom>
          <a:noFill/>
          <a:ln/>
        </p:spPr>
        <p:txBody>
          <a:bodyPr wrap="square" lIns="0" tIns="0" rIns="0" bIns="0" rtlCol="0" anchor="t"/>
          <a:lstStyle/>
          <a:p>
            <a:pPr algn="l" indent="0" marL="0">
              <a:lnSpc>
                <a:spcPts val="3000"/>
              </a:lnSpc>
              <a:buNone/>
            </a:pPr>
            <a:r>
              <a:rPr lang="en-US" sz="2400" b="1" dirty="0">
                <a:solidFill>
                  <a:srgbClr val="1F1E1E"/>
                </a:solidFill>
                <a:latin typeface="Inter Bold" pitchFamily="34" charset="0"/>
                <a:ea typeface="Inter Bold" pitchFamily="34" charset="-122"/>
                <a:cs typeface="Inter Bold" pitchFamily="34" charset="-120"/>
              </a:rPr>
              <a:t>Demo 3: Chatbot Inteligente sobre Contratos</a:t>
            </a:r>
            <a:endParaRPr lang="en-US" sz="2400" dirty="0"/>
          </a:p>
        </p:txBody>
      </p:sp>
      <p:sp>
        <p:nvSpPr>
          <p:cNvPr id="4" name="Shape 1"/>
          <p:cNvSpPr/>
          <p:nvPr/>
        </p:nvSpPr>
        <p:spPr>
          <a:xfrm>
            <a:off x="3917379" y="1403300"/>
            <a:ext cx="1735262" cy="228302"/>
          </a:xfrm>
          <a:prstGeom prst="roundRect">
            <a:avLst>
              <a:gd name="adj" fmla="val 2503"/>
            </a:avLst>
          </a:prstGeom>
          <a:solidFill>
            <a:srgbClr val="F9D2D6"/>
          </a:solidFill>
          <a:ln/>
        </p:spPr>
        <p:txBody>
          <a:bodyPr/>
          <a:p/>
        </p:txBody>
      </p:sp>
      <p:sp>
        <p:nvSpPr>
          <p:cNvPr id="5" name="Text 2"/>
          <p:cNvSpPr/>
          <p:nvPr/>
        </p:nvSpPr>
        <p:spPr>
          <a:xfrm>
            <a:off x="3990603" y="1439912"/>
            <a:ext cx="1588815" cy="155079"/>
          </a:xfrm>
          <a:prstGeom prst="rect">
            <a:avLst/>
          </a:prstGeom>
          <a:noFill/>
          <a:ln/>
        </p:spPr>
        <p:txBody>
          <a:bodyPr wrap="none" lIns="0" tIns="0" rIns="0" bIns="0" rtlCol="0" anchor="t"/>
          <a:lstStyle/>
          <a:p>
            <a:pPr algn="l" indent="0" marL="0">
              <a:lnSpc>
                <a:spcPts val="1200"/>
              </a:lnSpc>
              <a:buNone/>
            </a:pPr>
            <a:r>
              <a:rPr lang="en-US" sz="750" dirty="0">
                <a:solidFill>
                  <a:srgbClr val="3B3535"/>
                </a:solidFill>
                <a:latin typeface="Inter" pitchFamily="34" charset="0"/>
                <a:ea typeface="Inter" pitchFamily="34" charset="-122"/>
                <a:cs typeface="Inter" pitchFamily="34" charset="-120"/>
              </a:rPr>
              <a:t>PREGÚNTALE A TUS CONTRATOS</a:t>
            </a:r>
            <a:endParaRPr lang="en-US" sz="750" dirty="0"/>
          </a:p>
        </p:txBody>
      </p:sp>
      <p:sp>
        <p:nvSpPr>
          <p:cNvPr id="6" name="Text 3"/>
          <p:cNvSpPr/>
          <p:nvPr/>
        </p:nvSpPr>
        <p:spPr>
          <a:xfrm>
            <a:off x="3917379" y="1766813"/>
            <a:ext cx="4738241" cy="581546"/>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Con </a:t>
            </a:r>
            <a:pPr algn="l" indent="0" marL="0">
              <a:lnSpc>
                <a:spcPts val="1500"/>
              </a:lnSpc>
              <a:buNone/>
            </a:pPr>
            <a:r>
              <a:rPr lang="en-US" sz="950" b="1" dirty="0">
                <a:solidFill>
                  <a:srgbClr val="3B3535"/>
                </a:solidFill>
                <a:latin typeface="Inter" pitchFamily="34" charset="0"/>
                <a:ea typeface="Inter" pitchFamily="34" charset="-122"/>
                <a:cs typeface="Inter" pitchFamily="34" charset="-120"/>
              </a:rPr>
              <a:t>Dify + RAG</a:t>
            </a:r>
            <a:pPr algn="l" indent="0" marL="0">
              <a:lnSpc>
                <a:spcPts val="1500"/>
              </a:lnSpc>
              <a:buNone/>
            </a:pPr>
            <a:r>
              <a:rPr lang="en-US" sz="950" dirty="0">
                <a:solidFill>
                  <a:srgbClr val="3B3535"/>
                </a:solidFill>
                <a:latin typeface="Inter" pitchFamily="34" charset="0"/>
                <a:ea typeface="Inter" pitchFamily="34" charset="-122"/>
                <a:cs typeface="Inter" pitchFamily="34" charset="-120"/>
              </a:rPr>
              <a:t> sobre todos los contratos indexados, cualquier ejecutivo puede interrogar su cartera contractual en lenguaje natural — sin necesidad de saber SQL ni depender del equipo de datos.</a:t>
            </a:r>
            <a:endParaRPr lang="en-US" sz="950" dirty="0"/>
          </a:p>
        </p:txBody>
      </p:sp>
      <p:pic>
        <p:nvPicPr>
          <p:cNvPr id="7" name="Image 1" descr="preencoded.png">    </p:cNvPr>
          <p:cNvPicPr>
            <a:picLocks noChangeAspect="1"/>
          </p:cNvPicPr>
          <p:nvPr/>
        </p:nvPicPr>
        <p:blipFill>
          <a:blip r:embed="rId2"/>
          <a:stretch>
            <a:fillRect/>
          </a:stretch>
        </p:blipFill>
        <p:spPr>
          <a:xfrm>
            <a:off x="3917379" y="2483569"/>
            <a:ext cx="2308994" cy="778371"/>
          </a:xfrm>
          <a:prstGeom prst="rect">
            <a:avLst/>
          </a:prstGeom>
        </p:spPr>
      </p:pic>
      <p:sp>
        <p:nvSpPr>
          <p:cNvPr id="8" name="Text 4"/>
          <p:cNvSpPr/>
          <p:nvPr/>
        </p:nvSpPr>
        <p:spPr>
          <a:xfrm>
            <a:off x="4039419" y="2605608"/>
            <a:ext cx="2064916" cy="387697"/>
          </a:xfrm>
          <a:prstGeom prst="rect">
            <a:avLst/>
          </a:prstGeom>
          <a:noFill/>
          <a:ln/>
        </p:spPr>
        <p:txBody>
          <a:bodyPr wrap="square" lIns="0" tIns="0" rIns="0" bIns="0" rtlCol="0" anchor="t"/>
          <a:lstStyle/>
          <a:p>
            <a:pPr algn="l" indent="0" marL="0">
              <a:lnSpc>
                <a:spcPts val="1500"/>
              </a:lnSpc>
              <a:buNone/>
            </a:pPr>
            <a:r>
              <a:rPr lang="en-US" sz="950" i="1" dirty="0">
                <a:solidFill>
                  <a:srgbClr val="3B3535"/>
                </a:solidFill>
                <a:latin typeface="Inter" pitchFamily="34" charset="0"/>
                <a:ea typeface="Inter" pitchFamily="34" charset="-122"/>
                <a:cs typeface="Inter" pitchFamily="34" charset="-120"/>
              </a:rPr>
              <a:t>"¿Qué contratos tienen penalizaciones superiores al 10%?"</a:t>
            </a:r>
            <a:endParaRPr lang="en-US" sz="950" dirty="0"/>
          </a:p>
        </p:txBody>
      </p:sp>
      <p:pic>
        <p:nvPicPr>
          <p:cNvPr id="9" name="Image 2" descr="preencoded.png">    </p:cNvPr>
          <p:cNvPicPr>
            <a:picLocks noChangeAspect="1"/>
          </p:cNvPicPr>
          <p:nvPr/>
        </p:nvPicPr>
        <p:blipFill>
          <a:blip r:embed="rId3"/>
          <a:stretch>
            <a:fillRect/>
          </a:stretch>
        </p:blipFill>
        <p:spPr>
          <a:xfrm>
            <a:off x="6346552" y="2483569"/>
            <a:ext cx="2309068" cy="778371"/>
          </a:xfrm>
          <a:prstGeom prst="rect">
            <a:avLst/>
          </a:prstGeom>
        </p:spPr>
      </p:pic>
      <p:sp>
        <p:nvSpPr>
          <p:cNvPr id="10" name="Text 5"/>
          <p:cNvSpPr/>
          <p:nvPr/>
        </p:nvSpPr>
        <p:spPr>
          <a:xfrm>
            <a:off x="6468591" y="2605608"/>
            <a:ext cx="2064990" cy="387697"/>
          </a:xfrm>
          <a:prstGeom prst="rect">
            <a:avLst/>
          </a:prstGeom>
          <a:noFill/>
          <a:ln/>
        </p:spPr>
        <p:txBody>
          <a:bodyPr wrap="square" lIns="0" tIns="0" rIns="0" bIns="0" rtlCol="0" anchor="t"/>
          <a:lstStyle/>
          <a:p>
            <a:pPr algn="l" indent="0" marL="0">
              <a:lnSpc>
                <a:spcPts val="1500"/>
              </a:lnSpc>
              <a:buNone/>
            </a:pPr>
            <a:r>
              <a:rPr lang="en-US" sz="950" i="1" dirty="0">
                <a:solidFill>
                  <a:srgbClr val="3B3535"/>
                </a:solidFill>
                <a:latin typeface="Inter" pitchFamily="34" charset="0"/>
                <a:ea typeface="Inter" pitchFamily="34" charset="-122"/>
                <a:cs typeface="Inter" pitchFamily="34" charset="-120"/>
              </a:rPr>
              <a:t>"Muéstrame los proveedores con riesgo alto en los últimos 6 meses."</a:t>
            </a:r>
            <a:endParaRPr lang="en-US" sz="950" dirty="0"/>
          </a:p>
        </p:txBody>
      </p:sp>
      <p:pic>
        <p:nvPicPr>
          <p:cNvPr id="11" name="Image 3" descr="preencoded.png">    </p:cNvPr>
          <p:cNvPicPr>
            <a:picLocks noChangeAspect="1"/>
          </p:cNvPicPr>
          <p:nvPr/>
        </p:nvPicPr>
        <p:blipFill>
          <a:blip r:embed="rId4"/>
          <a:stretch>
            <a:fillRect/>
          </a:stretch>
        </p:blipFill>
        <p:spPr>
          <a:xfrm>
            <a:off x="3917379" y="3382119"/>
            <a:ext cx="4738241" cy="584522"/>
          </a:xfrm>
          <a:prstGeom prst="rect">
            <a:avLst/>
          </a:prstGeom>
        </p:spPr>
      </p:pic>
      <p:sp>
        <p:nvSpPr>
          <p:cNvPr id="12" name="Text 6"/>
          <p:cNvSpPr/>
          <p:nvPr/>
        </p:nvSpPr>
        <p:spPr>
          <a:xfrm>
            <a:off x="4039419" y="3504158"/>
            <a:ext cx="4494163" cy="193849"/>
          </a:xfrm>
          <a:prstGeom prst="rect">
            <a:avLst/>
          </a:prstGeom>
          <a:noFill/>
          <a:ln/>
        </p:spPr>
        <p:txBody>
          <a:bodyPr wrap="none" lIns="0" tIns="0" rIns="0" bIns="0" rtlCol="0" anchor="t"/>
          <a:lstStyle/>
          <a:p>
            <a:pPr algn="l" indent="0" marL="0">
              <a:lnSpc>
                <a:spcPts val="1500"/>
              </a:lnSpc>
              <a:buNone/>
            </a:pPr>
            <a:r>
              <a:rPr lang="en-US" sz="950" i="1" dirty="0">
                <a:solidFill>
                  <a:srgbClr val="3B3535"/>
                </a:solidFill>
                <a:latin typeface="Inter" pitchFamily="34" charset="0"/>
                <a:ea typeface="Inter" pitchFamily="34" charset="-122"/>
                <a:cs typeface="Inter" pitchFamily="34" charset="-120"/>
              </a:rPr>
              <a:t>"¿Cuál es mi exposición total con Proveedora Mexicana SA?"</a:t>
            </a:r>
            <a:endParaRPr lang="en-US" sz="950" dirty="0"/>
          </a:p>
        </p:txBody>
      </p:sp>
      <p:sp>
        <p:nvSpPr>
          <p:cNvPr id="13" name="Text 7"/>
          <p:cNvSpPr/>
          <p:nvPr/>
        </p:nvSpPr>
        <p:spPr>
          <a:xfrm>
            <a:off x="3917379" y="4101852"/>
            <a:ext cx="4738241" cy="581546"/>
          </a:xfrm>
          <a:prstGeom prst="rect">
            <a:avLst/>
          </a:prstGeom>
          <a:noFill/>
          <a:ln/>
        </p:spPr>
        <p:txBody>
          <a:bodyPr wrap="square" lIns="0" tIns="0" rIns="0" bIns="0" rtlCol="0" anchor="t"/>
          <a:lstStyle/>
          <a:p>
            <a:pPr algn="l" indent="0" marL="0">
              <a:lnSpc>
                <a:spcPts val="1500"/>
              </a:lnSpc>
              <a:buNone/>
            </a:pPr>
            <a:r>
              <a:rPr lang="en-US" sz="950" dirty="0">
                <a:solidFill>
                  <a:srgbClr val="3B3535"/>
                </a:solidFill>
                <a:latin typeface="Inter" pitchFamily="34" charset="0"/>
                <a:ea typeface="Inter" pitchFamily="34" charset="-122"/>
                <a:cs typeface="Inter" pitchFamily="34" charset="-120"/>
              </a:rPr>
              <a:t>El motor de </a:t>
            </a:r>
            <a:pPr algn="l" indent="0" marL="0">
              <a:lnSpc>
                <a:spcPts val="1500"/>
              </a:lnSpc>
              <a:buNone/>
            </a:pPr>
            <a:r>
              <a:rPr lang="en-US" sz="950" b="1" dirty="0">
                <a:solidFill>
                  <a:srgbClr val="3B3535"/>
                </a:solidFill>
                <a:latin typeface="Inter" pitchFamily="34" charset="0"/>
                <a:ea typeface="Inter" pitchFamily="34" charset="-122"/>
                <a:cs typeface="Inter" pitchFamily="34" charset="-120"/>
              </a:rPr>
              <a:t>embeddings vía MaaS + DeepSeek v4 Flash</a:t>
            </a:r>
            <a:pPr algn="l" indent="0" marL="0">
              <a:lnSpc>
                <a:spcPts val="1500"/>
              </a:lnSpc>
              <a:buNone/>
            </a:pPr>
            <a:r>
              <a:rPr lang="en-US" sz="950" dirty="0">
                <a:solidFill>
                  <a:srgbClr val="3B3535"/>
                </a:solidFill>
                <a:latin typeface="Inter" pitchFamily="34" charset="0"/>
                <a:ea typeface="Inter" pitchFamily="34" charset="-122"/>
                <a:cs typeface="Inter" pitchFamily="34" charset="-120"/>
              </a:rPr>
              <a:t> garantiza respuestas precisas y contextualizadas. El 100% de los contratos están indexados y disponibles para consulta inmediata.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56220"/>
            <a:ext cx="3175025"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Arquitectura Técnica</a:t>
            </a:r>
            <a:endParaRPr lang="en-US" sz="2400" dirty="0"/>
          </a:p>
        </p:txBody>
      </p:sp>
      <p:sp>
        <p:nvSpPr>
          <p:cNvPr id="3" name="Text 1"/>
          <p:cNvSpPr/>
          <p:nvPr/>
        </p:nvSpPr>
        <p:spPr>
          <a:xfrm>
            <a:off x="496119" y="99179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Cada capa de la solución fue seleccionada para maximizar rendimiento, seguridad y soberanía de datos dentro de la región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la-north-2 (Mexico City 2)</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con latencia inferior a 10ms.</a:t>
            </a:r>
            <a:endParaRPr lang="en-US" sz="950" dirty="0"/>
          </a:p>
        </p:txBody>
      </p:sp>
      <p:sp>
        <p:nvSpPr>
          <p:cNvPr id="4" name="Shape 2"/>
          <p:cNvSpPr/>
          <p:nvPr/>
        </p:nvSpPr>
        <p:spPr>
          <a:xfrm>
            <a:off x="496119" y="1528242"/>
            <a:ext cx="8151763" cy="3258964"/>
          </a:xfrm>
          <a:prstGeom prst="roundRect">
            <a:avLst>
              <a:gd name="adj" fmla="val 175"/>
            </a:avLst>
          </a:prstGeom>
          <a:noFill/>
          <a:ln w="4763">
            <a:solidFill>
              <a:srgbClr val="000000">
                <a:alpha val="8000"/>
              </a:srgbClr>
            </a:solidFill>
            <a:prstDash val="solid"/>
          </a:ln>
        </p:spPr>
        <p:txBody>
          <a:bodyPr/>
          <a:p/>
        </p:txBody>
      </p:sp>
      <p:sp>
        <p:nvSpPr>
          <p:cNvPr id="5" name="Text 3"/>
          <p:cNvSpPr/>
          <p:nvPr/>
        </p:nvSpPr>
        <p:spPr>
          <a:xfrm>
            <a:off x="625004" y="1612181"/>
            <a:ext cx="1540892" cy="198462"/>
          </a:xfrm>
          <a:prstGeom prst="rect">
            <a:avLst/>
          </a:prstGeom>
          <a:noFill/>
          <a:ln/>
        </p:spPr>
        <p:txBody>
          <a:bodyPr wrap="non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Capa</a:t>
            </a:r>
            <a:endParaRPr lang="en-US" sz="950" dirty="0"/>
          </a:p>
        </p:txBody>
      </p:sp>
      <p:sp>
        <p:nvSpPr>
          <p:cNvPr id="6" name="Text 4"/>
          <p:cNvSpPr/>
          <p:nvPr/>
        </p:nvSpPr>
        <p:spPr>
          <a:xfrm>
            <a:off x="2418606" y="1612181"/>
            <a:ext cx="3004170" cy="198462"/>
          </a:xfrm>
          <a:prstGeom prst="rect">
            <a:avLst/>
          </a:prstGeom>
          <a:noFill/>
          <a:ln/>
        </p:spPr>
        <p:txBody>
          <a:bodyPr wrap="non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Tecnología Huawei Cloud</a:t>
            </a:r>
            <a:endParaRPr lang="en-US" sz="950" dirty="0"/>
          </a:p>
        </p:txBody>
      </p:sp>
      <p:sp>
        <p:nvSpPr>
          <p:cNvPr id="7" name="Text 5"/>
          <p:cNvSpPr/>
          <p:nvPr/>
        </p:nvSpPr>
        <p:spPr>
          <a:xfrm>
            <a:off x="5675486" y="1612181"/>
            <a:ext cx="2843659" cy="198462"/>
          </a:xfrm>
          <a:prstGeom prst="rect">
            <a:avLst/>
          </a:prstGeom>
          <a:noFill/>
          <a:ln/>
        </p:spPr>
        <p:txBody>
          <a:bodyPr wrap="non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Función Principal</a:t>
            </a:r>
            <a:endParaRPr lang="en-US" sz="950" dirty="0"/>
          </a:p>
        </p:txBody>
      </p:sp>
      <p:sp>
        <p:nvSpPr>
          <p:cNvPr id="8" name="Text 6"/>
          <p:cNvSpPr/>
          <p:nvPr/>
        </p:nvSpPr>
        <p:spPr>
          <a:xfrm>
            <a:off x="625004" y="1973759"/>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Ingesta</a:t>
            </a:r>
            <a:endParaRPr lang="en-US" sz="950" dirty="0"/>
          </a:p>
        </p:txBody>
      </p:sp>
      <p:sp>
        <p:nvSpPr>
          <p:cNvPr id="9" name="Text 7"/>
          <p:cNvSpPr/>
          <p:nvPr/>
        </p:nvSpPr>
        <p:spPr>
          <a:xfrm>
            <a:off x="2418606" y="1973759"/>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OBS + OCR Service</a:t>
            </a:r>
            <a:endParaRPr lang="en-US" sz="950" dirty="0"/>
          </a:p>
        </p:txBody>
      </p:sp>
      <p:sp>
        <p:nvSpPr>
          <p:cNvPr id="10" name="Text 8"/>
          <p:cNvSpPr/>
          <p:nvPr/>
        </p:nvSpPr>
        <p:spPr>
          <a:xfrm>
            <a:off x="5675486" y="1973759"/>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Carga y extracción de PDFs</a:t>
            </a:r>
            <a:endParaRPr lang="en-US" sz="950" dirty="0"/>
          </a:p>
        </p:txBody>
      </p:sp>
      <p:sp>
        <p:nvSpPr>
          <p:cNvPr id="11" name="Text 9"/>
          <p:cNvSpPr/>
          <p:nvPr/>
        </p:nvSpPr>
        <p:spPr>
          <a:xfrm>
            <a:off x="625004" y="2335337"/>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Procesamiento</a:t>
            </a:r>
            <a:endParaRPr lang="en-US" sz="950" dirty="0"/>
          </a:p>
        </p:txBody>
      </p:sp>
      <p:sp>
        <p:nvSpPr>
          <p:cNvPr id="12" name="Text 10"/>
          <p:cNvSpPr/>
          <p:nvPr/>
        </p:nvSpPr>
        <p:spPr>
          <a:xfrm>
            <a:off x="2418606" y="2335337"/>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FunctionGraph + DLI (Spark Serverless)</a:t>
            </a:r>
            <a:endParaRPr lang="en-US" sz="950" dirty="0"/>
          </a:p>
        </p:txBody>
      </p:sp>
      <p:sp>
        <p:nvSpPr>
          <p:cNvPr id="13" name="Text 11"/>
          <p:cNvSpPr/>
          <p:nvPr/>
        </p:nvSpPr>
        <p:spPr>
          <a:xfrm>
            <a:off x="5675486" y="2335337"/>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Transformación y enriquecimiento</a:t>
            </a:r>
            <a:endParaRPr lang="en-US" sz="950" dirty="0"/>
          </a:p>
        </p:txBody>
      </p:sp>
      <p:sp>
        <p:nvSpPr>
          <p:cNvPr id="14" name="Text 12"/>
          <p:cNvSpPr/>
          <p:nvPr/>
        </p:nvSpPr>
        <p:spPr>
          <a:xfrm>
            <a:off x="625004" y="2696914"/>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IA Generativa</a:t>
            </a:r>
            <a:endParaRPr lang="en-US" sz="950" dirty="0"/>
          </a:p>
        </p:txBody>
      </p:sp>
      <p:sp>
        <p:nvSpPr>
          <p:cNvPr id="15" name="Text 13"/>
          <p:cNvSpPr/>
          <p:nvPr/>
        </p:nvSpPr>
        <p:spPr>
          <a:xfrm>
            <a:off x="2418606" y="2696914"/>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MaaS DeepSeek v4 Flash + Dify RAG</a:t>
            </a:r>
            <a:endParaRPr lang="en-US" sz="950" dirty="0"/>
          </a:p>
        </p:txBody>
      </p:sp>
      <p:sp>
        <p:nvSpPr>
          <p:cNvPr id="16" name="Text 14"/>
          <p:cNvSpPr/>
          <p:nvPr/>
        </p:nvSpPr>
        <p:spPr>
          <a:xfrm>
            <a:off x="5675486" y="2696914"/>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Scoring y consulta inteligente</a:t>
            </a:r>
            <a:endParaRPr lang="en-US" sz="950" dirty="0"/>
          </a:p>
        </p:txBody>
      </p:sp>
      <p:sp>
        <p:nvSpPr>
          <p:cNvPr id="17" name="Text 15"/>
          <p:cNvSpPr/>
          <p:nvPr/>
        </p:nvSpPr>
        <p:spPr>
          <a:xfrm>
            <a:off x="625004" y="3058492"/>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Data Warehouse</a:t>
            </a:r>
            <a:endParaRPr lang="en-US" sz="950" dirty="0"/>
          </a:p>
        </p:txBody>
      </p:sp>
      <p:sp>
        <p:nvSpPr>
          <p:cNvPr id="18" name="Text 16"/>
          <p:cNvSpPr/>
          <p:nvPr/>
        </p:nvSpPr>
        <p:spPr>
          <a:xfrm>
            <a:off x="2418606" y="3058492"/>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DWS GaussDB — 2 nodos, columnar</a:t>
            </a:r>
            <a:endParaRPr lang="en-US" sz="950" dirty="0"/>
          </a:p>
        </p:txBody>
      </p:sp>
      <p:sp>
        <p:nvSpPr>
          <p:cNvPr id="19" name="Text 17"/>
          <p:cNvSpPr/>
          <p:nvPr/>
        </p:nvSpPr>
        <p:spPr>
          <a:xfrm>
            <a:off x="5675486" y="3058492"/>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Almacenamiento analítico</a:t>
            </a:r>
            <a:endParaRPr lang="en-US" sz="950" dirty="0"/>
          </a:p>
        </p:txBody>
      </p:sp>
      <p:sp>
        <p:nvSpPr>
          <p:cNvPr id="20" name="Text 18"/>
          <p:cNvSpPr/>
          <p:nvPr/>
        </p:nvSpPr>
        <p:spPr>
          <a:xfrm>
            <a:off x="625004" y="3420070"/>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Gobierno de Datos</a:t>
            </a:r>
            <a:endParaRPr lang="en-US" sz="950" dirty="0"/>
          </a:p>
        </p:txBody>
      </p:sp>
      <p:sp>
        <p:nvSpPr>
          <p:cNvPr id="21" name="Text 19"/>
          <p:cNvSpPr/>
          <p:nvPr/>
        </p:nvSpPr>
        <p:spPr>
          <a:xfrm>
            <a:off x="2418606" y="3420070"/>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DataArts Studio (6 módulos)</a:t>
            </a:r>
            <a:endParaRPr lang="en-US" sz="950" dirty="0"/>
          </a:p>
        </p:txBody>
      </p:sp>
      <p:sp>
        <p:nvSpPr>
          <p:cNvPr id="22" name="Text 20"/>
          <p:cNvSpPr/>
          <p:nvPr/>
        </p:nvSpPr>
        <p:spPr>
          <a:xfrm>
            <a:off x="5675486" y="3420070"/>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Linaje, catálogo, seguridad</a:t>
            </a:r>
            <a:endParaRPr lang="en-US" sz="950" dirty="0"/>
          </a:p>
        </p:txBody>
      </p:sp>
      <p:sp>
        <p:nvSpPr>
          <p:cNvPr id="23" name="Text 21"/>
          <p:cNvSpPr/>
          <p:nvPr/>
        </p:nvSpPr>
        <p:spPr>
          <a:xfrm>
            <a:off x="625004" y="3781648"/>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Observabilidad</a:t>
            </a:r>
            <a:endParaRPr lang="en-US" sz="950" dirty="0"/>
          </a:p>
        </p:txBody>
      </p:sp>
      <p:sp>
        <p:nvSpPr>
          <p:cNvPr id="24" name="Text 22"/>
          <p:cNvSpPr/>
          <p:nvPr/>
        </p:nvSpPr>
        <p:spPr>
          <a:xfrm>
            <a:off x="2418606" y="3781648"/>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Langfuse Cloud</a:t>
            </a:r>
            <a:endParaRPr lang="en-US" sz="950" dirty="0"/>
          </a:p>
        </p:txBody>
      </p:sp>
      <p:sp>
        <p:nvSpPr>
          <p:cNvPr id="25" name="Text 23"/>
          <p:cNvSpPr/>
          <p:nvPr/>
        </p:nvSpPr>
        <p:spPr>
          <a:xfrm>
            <a:off x="5675486" y="3781648"/>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Trazas LLM en tiempo real</a:t>
            </a:r>
            <a:endParaRPr lang="en-US" sz="950" dirty="0"/>
          </a:p>
        </p:txBody>
      </p:sp>
      <p:sp>
        <p:nvSpPr>
          <p:cNvPr id="26" name="Text 24"/>
          <p:cNvSpPr/>
          <p:nvPr/>
        </p:nvSpPr>
        <p:spPr>
          <a:xfrm>
            <a:off x="625004" y="4143226"/>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Seguridad</a:t>
            </a:r>
            <a:endParaRPr lang="en-US" sz="950" dirty="0"/>
          </a:p>
        </p:txBody>
      </p:sp>
      <p:sp>
        <p:nvSpPr>
          <p:cNvPr id="27" name="Text 25"/>
          <p:cNvSpPr/>
          <p:nvPr/>
        </p:nvSpPr>
        <p:spPr>
          <a:xfrm>
            <a:off x="2418606" y="4143226"/>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IAM + KMS + Security Groups + CFW</a:t>
            </a:r>
            <a:endParaRPr lang="en-US" sz="950" dirty="0"/>
          </a:p>
        </p:txBody>
      </p:sp>
      <p:sp>
        <p:nvSpPr>
          <p:cNvPr id="28" name="Text 26"/>
          <p:cNvSpPr/>
          <p:nvPr/>
        </p:nvSpPr>
        <p:spPr>
          <a:xfrm>
            <a:off x="5675486" y="4143226"/>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Control de acceso y cifrado</a:t>
            </a:r>
            <a:endParaRPr lang="en-US" sz="950" dirty="0"/>
          </a:p>
        </p:txBody>
      </p:sp>
      <p:sp>
        <p:nvSpPr>
          <p:cNvPr id="29" name="Text 27"/>
          <p:cNvSpPr/>
          <p:nvPr/>
        </p:nvSpPr>
        <p:spPr>
          <a:xfrm>
            <a:off x="625004" y="4504804"/>
            <a:ext cx="1540892"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Visualización</a:t>
            </a:r>
            <a:endParaRPr lang="en-US" sz="950" dirty="0"/>
          </a:p>
        </p:txBody>
      </p:sp>
      <p:sp>
        <p:nvSpPr>
          <p:cNvPr id="30" name="Text 28"/>
          <p:cNvSpPr/>
          <p:nvPr/>
        </p:nvSpPr>
        <p:spPr>
          <a:xfrm>
            <a:off x="2418606" y="4504804"/>
            <a:ext cx="3004170"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Streamlit Dashboard (open source)</a:t>
            </a:r>
            <a:endParaRPr lang="en-US" sz="950" dirty="0"/>
          </a:p>
        </p:txBody>
      </p:sp>
      <p:sp>
        <p:nvSpPr>
          <p:cNvPr id="31" name="Text 29"/>
          <p:cNvSpPr/>
          <p:nvPr/>
        </p:nvSpPr>
        <p:spPr>
          <a:xfrm>
            <a:off x="5675486" y="4504804"/>
            <a:ext cx="2843659" cy="198462"/>
          </a:xfrm>
          <a:prstGeom prst="rect">
            <a:avLst/>
          </a:prstGeom>
          <a:noFill/>
          <a:ln/>
        </p:spPr>
        <p:txBody>
          <a:bodyPr wrap="non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Dashboards sin licencias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060028"/>
            <a:ext cx="3101132"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Stack de IA</a:t>
            </a:r>
            <a:endParaRPr lang="en-US" sz="2400" dirty="0"/>
          </a:p>
        </p:txBody>
      </p:sp>
      <p:sp>
        <p:nvSpPr>
          <p:cNvPr id="3" name="Text 1"/>
          <p:cNvSpPr/>
          <p:nvPr/>
        </p:nvSpPr>
        <p:spPr>
          <a:xfrm>
            <a:off x="496119" y="169559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La inteligencia de la solución está construida sobre un stack modular y observable. Cada llamada al modelo queda trazada, auditada y disponible para análisis de rendimiento — garantizando gobierno completo sobre el comportamiento de la IA.</a:t>
            </a:r>
            <a:endParaRPr lang="en-US" sz="950" dirty="0"/>
          </a:p>
        </p:txBody>
      </p:sp>
      <p:pic>
        <p:nvPicPr>
          <p:cNvPr id="4" name="Image 0" descr="preencoded.png">    </p:cNvPr>
          <p:cNvPicPr>
            <a:picLocks noChangeAspect="1"/>
          </p:cNvPicPr>
          <p:nvPr/>
        </p:nvPicPr>
        <p:blipFill>
          <a:blip r:embed="rId1"/>
          <a:stretch>
            <a:fillRect/>
          </a:stretch>
        </p:blipFill>
        <p:spPr>
          <a:xfrm>
            <a:off x="496119" y="2232050"/>
            <a:ext cx="422746" cy="422746"/>
          </a:xfrm>
          <a:prstGeom prst="rect">
            <a:avLst/>
          </a:prstGeom>
        </p:spPr>
      </p:pic>
      <p:sp>
        <p:nvSpPr>
          <p:cNvPr id="5" name="Text 2"/>
          <p:cNvSpPr/>
          <p:nvPr/>
        </p:nvSpPr>
        <p:spPr>
          <a:xfrm>
            <a:off x="1073869" y="2232050"/>
            <a:ext cx="1343918"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Modelo Principal</a:t>
            </a:r>
            <a:endParaRPr lang="en-US" sz="1200" dirty="0"/>
          </a:p>
        </p:txBody>
      </p:sp>
      <p:sp>
        <p:nvSpPr>
          <p:cNvPr id="6" name="Text 3"/>
          <p:cNvSpPr/>
          <p:nvPr/>
        </p:nvSpPr>
        <p:spPr>
          <a:xfrm>
            <a:off x="1073869" y="2500313"/>
            <a:ext cx="1343918" cy="1190774"/>
          </a:xfrm>
          <a:prstGeom prst="rect">
            <a:avLst/>
          </a:prstGeom>
          <a:noFill/>
          <a:ln/>
        </p:spPr>
        <p:txBody>
          <a:bodyPr wrap="squar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DeepSeek v4 Flash</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vía MaaS (Huawei Cloud) — inferencia rápida, bajo costo, soberanía de datos en México.</a:t>
            </a:r>
            <a:endParaRPr lang="en-US" sz="950" dirty="0"/>
          </a:p>
        </p:txBody>
      </p:sp>
      <p:pic>
        <p:nvPicPr>
          <p:cNvPr id="7" name="Image 1" descr="preencoded.png">    </p:cNvPr>
          <p:cNvPicPr>
            <a:picLocks noChangeAspect="1"/>
          </p:cNvPicPr>
          <p:nvPr/>
        </p:nvPicPr>
        <p:blipFill>
          <a:blip r:embed="rId2"/>
          <a:stretch>
            <a:fillRect/>
          </a:stretch>
        </p:blipFill>
        <p:spPr>
          <a:xfrm>
            <a:off x="2572792" y="2232050"/>
            <a:ext cx="422746" cy="422746"/>
          </a:xfrm>
          <a:prstGeom prst="rect">
            <a:avLst/>
          </a:prstGeom>
        </p:spPr>
      </p:pic>
      <p:sp>
        <p:nvSpPr>
          <p:cNvPr id="8" name="Text 4"/>
          <p:cNvSpPr/>
          <p:nvPr/>
        </p:nvSpPr>
        <p:spPr>
          <a:xfrm>
            <a:off x="3150543" y="2232050"/>
            <a:ext cx="1343918" cy="387697"/>
          </a:xfrm>
          <a:prstGeom prst="rect">
            <a:avLst/>
          </a:prstGeom>
          <a:noFill/>
          <a:ln/>
        </p:spPr>
        <p:txBody>
          <a:bodyPr wrap="squar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OCR + Embeddings</a:t>
            </a:r>
            <a:endParaRPr lang="en-US" sz="1200" dirty="0"/>
          </a:p>
        </p:txBody>
      </p:sp>
      <p:sp>
        <p:nvSpPr>
          <p:cNvPr id="9" name="Text 5"/>
          <p:cNvSpPr/>
          <p:nvPr/>
        </p:nvSpPr>
        <p:spPr>
          <a:xfrm>
            <a:off x="3150543" y="2694161"/>
            <a:ext cx="1343918" cy="1389236"/>
          </a:xfrm>
          <a:prstGeom prst="rect">
            <a:avLst/>
          </a:prstGeom>
          <a:noFill/>
          <a:ln/>
        </p:spPr>
        <p:txBody>
          <a:bodyPr wrap="squar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Huawei Cloud General Text OCR</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para extracción de texto. Modelo de embeddings vía MaaS para indexación semántica.</a:t>
            </a:r>
            <a:endParaRPr lang="en-US" sz="950" dirty="0"/>
          </a:p>
        </p:txBody>
      </p:sp>
      <p:pic>
        <p:nvPicPr>
          <p:cNvPr id="10" name="Image 2" descr="preencoded.png">    </p:cNvPr>
          <p:cNvPicPr>
            <a:picLocks noChangeAspect="1"/>
          </p:cNvPicPr>
          <p:nvPr/>
        </p:nvPicPr>
        <p:blipFill>
          <a:blip r:embed="rId3"/>
          <a:stretch>
            <a:fillRect/>
          </a:stretch>
        </p:blipFill>
        <p:spPr>
          <a:xfrm>
            <a:off x="4649465" y="2232050"/>
            <a:ext cx="422746" cy="422746"/>
          </a:xfrm>
          <a:prstGeom prst="rect">
            <a:avLst/>
          </a:prstGeom>
        </p:spPr>
      </p:pic>
      <p:sp>
        <p:nvSpPr>
          <p:cNvPr id="11" name="Text 6"/>
          <p:cNvSpPr/>
          <p:nvPr/>
        </p:nvSpPr>
        <p:spPr>
          <a:xfrm>
            <a:off x="5227216" y="2232050"/>
            <a:ext cx="1343918"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RAG con Dify</a:t>
            </a:r>
            <a:endParaRPr lang="en-US" sz="1200" dirty="0"/>
          </a:p>
        </p:txBody>
      </p:sp>
      <p:sp>
        <p:nvSpPr>
          <p:cNvPr id="12" name="Text 7"/>
          <p:cNvSpPr/>
          <p:nvPr/>
        </p:nvSpPr>
        <p:spPr>
          <a:xfrm>
            <a:off x="5227216" y="2500313"/>
            <a:ext cx="1343918" cy="1389236"/>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Motor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Retrieval-Augmented Generation</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open source con knowledge base indexada sobre 100% del portafolio contractual.</a:t>
            </a:r>
            <a:endParaRPr lang="en-US" sz="950" dirty="0"/>
          </a:p>
        </p:txBody>
      </p:sp>
      <p:pic>
        <p:nvPicPr>
          <p:cNvPr id="13" name="Image 3" descr="preencoded.png">    </p:cNvPr>
          <p:cNvPicPr>
            <a:picLocks noChangeAspect="1"/>
          </p:cNvPicPr>
          <p:nvPr/>
        </p:nvPicPr>
        <p:blipFill>
          <a:blip r:embed="rId4"/>
          <a:stretch>
            <a:fillRect/>
          </a:stretch>
        </p:blipFill>
        <p:spPr>
          <a:xfrm>
            <a:off x="6726138" y="2232050"/>
            <a:ext cx="422746" cy="422746"/>
          </a:xfrm>
          <a:prstGeom prst="rect">
            <a:avLst/>
          </a:prstGeom>
        </p:spPr>
      </p:pic>
      <p:sp>
        <p:nvSpPr>
          <p:cNvPr id="14" name="Text 8"/>
          <p:cNvSpPr/>
          <p:nvPr/>
        </p:nvSpPr>
        <p:spPr>
          <a:xfrm>
            <a:off x="7303889" y="2232050"/>
            <a:ext cx="1343992" cy="193849"/>
          </a:xfrm>
          <a:prstGeom prst="rect">
            <a:avLst/>
          </a:prstGeom>
          <a:noFill/>
          <a:ln/>
        </p:spPr>
        <p:txBody>
          <a:bodyPr wrap="none" lIns="0" tIns="0" rIns="0" bIns="0" rtlCol="0" anchor="t"/>
          <a:lstStyle/>
          <a:p>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Observabilidad</a:t>
            </a:r>
            <a:endParaRPr lang="en-US" sz="1200" dirty="0"/>
          </a:p>
        </p:txBody>
      </p:sp>
      <p:sp>
        <p:nvSpPr>
          <p:cNvPr id="15" name="Text 9"/>
          <p:cNvSpPr/>
          <p:nvPr/>
        </p:nvSpPr>
        <p:spPr>
          <a:xfrm>
            <a:off x="7303889" y="2500313"/>
            <a:ext cx="1343992" cy="1190774"/>
          </a:xfrm>
          <a:prstGeom prst="rect">
            <a:avLst/>
          </a:prstGeom>
          <a:noFill/>
          <a:ln/>
        </p:spPr>
        <p:txBody>
          <a:bodyPr wrap="square" lIns="0" tIns="0" rIns="0" bIns="0" rtlCol="0" anchor="t"/>
          <a:lstStyle/>
          <a:p>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Langfuse Cloud</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 cada llamada LLM trazada con latencia, tokens, costo y resultado. Auditoría completa de IA.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570161"/>
            <a:ext cx="3101132"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KPIs de Impacto</a:t>
            </a:r>
            <a:endParaRPr lang="en-US" sz="2400" dirty="0"/>
          </a:p>
        </p:txBody>
      </p:sp>
      <p:sp>
        <p:nvSpPr>
          <p:cNvPr id="3" name="Text 1"/>
          <p:cNvSpPr/>
          <p:nvPr/>
        </p:nvSpPr>
        <p:spPr>
          <a:xfrm>
            <a:off x="496119" y="120573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Los resultados de la implementación son concretos y medibles. La solución fue validada con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24 contratos activos sintéticos y 5,000 transacciones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representativas del portafolio real de AYCO.</a:t>
            </a:r>
            <a:endParaRPr lang="en-US" sz="950" dirty="0"/>
          </a:p>
        </p:txBody>
      </p:sp>
      <p:sp>
        <p:nvSpPr>
          <p:cNvPr id="4" name="Text 2"/>
          <p:cNvSpPr/>
          <p:nvPr/>
        </p:nvSpPr>
        <p:spPr>
          <a:xfrm>
            <a:off x="496119" y="1804169"/>
            <a:ext cx="3998342" cy="409352"/>
          </a:xfrm>
          <a:prstGeom prst="rect">
            <a:avLst/>
          </a:prstGeom>
          <a:noFill/>
          <a:ln/>
        </p:spPr>
        <p:txBody>
          <a:bodyPr wrap="none" lIns="0" tIns="0" rIns="0" bIns="0" rtlCol="0" anchor="t"/>
          <a:lstStyle/>
          <a:p>
            <a:pPr algn="ctr" indent="0" marL="0">
              <a:lnSpc>
                <a:spcPts val="3200"/>
              </a:lnSpc>
              <a:buNone/>
            </a:pPr>
            <a:r>
              <a:rPr lang="en-US" sz="3200" b="1" dirty="0">
                <a:solidFill>
                  <a:srgbClr val="3B3535"/>
                </a:solidFill>
                <a:latin typeface="Inter Bold" pitchFamily="34" charset="0"/>
                <a:ea typeface="Inter Bold" pitchFamily="34" charset="-122"/>
                <a:cs typeface="Inter Bold" pitchFamily="34" charset="-120"/>
              </a:rPr>
              <a:t>8min</a:t>
            </a:r>
            <a:endParaRPr lang="en-US" sz="3200" dirty="0"/>
          </a:p>
        </p:txBody>
      </p:sp>
      <p:sp>
        <p:nvSpPr>
          <p:cNvPr id="5" name="Text 3"/>
          <p:cNvSpPr/>
          <p:nvPr/>
        </p:nvSpPr>
        <p:spPr>
          <a:xfrm>
            <a:off x="1720007" y="2368525"/>
            <a:ext cx="1550566" cy="193849"/>
          </a:xfrm>
          <a:prstGeom prst="rect">
            <a:avLst/>
          </a:prstGeom>
          <a:noFill/>
          <a:ln/>
        </p:spPr>
        <p:txBody>
          <a:bodyPr wrap="none" lIns="0" tIns="0" rIns="0" bIns="0" rtlCol="0" anchor="t"/>
          <a:lstStyle/>
          <a:p>
            <a:pPr algn="ctr"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Tiempo de Revisión</a:t>
            </a:r>
            <a:endParaRPr lang="en-US" sz="1200" dirty="0"/>
          </a:p>
        </p:txBody>
      </p:sp>
      <p:sp>
        <p:nvSpPr>
          <p:cNvPr id="6" name="Text 4"/>
          <p:cNvSpPr/>
          <p:nvPr/>
        </p:nvSpPr>
        <p:spPr>
          <a:xfrm>
            <a:off x="496119" y="2636788"/>
            <a:ext cx="3998342" cy="396925"/>
          </a:xfrm>
          <a:prstGeom prst="rect">
            <a:avLst/>
          </a:prstGeom>
          <a:noFill/>
          <a:ln/>
        </p:spPr>
        <p:txBody>
          <a:bodyPr wrap="square" lIns="0" tIns="0" rIns="0" bIns="0" rtlCol="0" anchor="t"/>
          <a:lstStyle/>
          <a:p>
            <a:pPr algn="ctr" indent="0" marL="0">
              <a:lnSpc>
                <a:spcPts val="1550"/>
              </a:lnSpc>
              <a:buNone/>
            </a:pPr>
            <a:r>
              <a:rPr lang="en-US" sz="950" dirty="0">
                <a:solidFill>
                  <a:srgbClr val="3B3535"/>
                </a:solidFill>
                <a:latin typeface="Inter" pitchFamily="34" charset="0"/>
                <a:ea typeface="Inter" pitchFamily="34" charset="-122"/>
                <a:cs typeface="Inter" pitchFamily="34" charset="-120"/>
              </a:rPr>
              <a:t>Vs. 2 semanas del proceso manual — una reducción del </a:t>
            </a:r>
            <a:pPr algn="ctr" indent="0" marL="0">
              <a:lnSpc>
                <a:spcPts val="1550"/>
              </a:lnSpc>
              <a:buNone/>
            </a:pPr>
            <a:r>
              <a:rPr lang="en-US" sz="950" b="1" dirty="0">
                <a:solidFill>
                  <a:srgbClr val="3B3535"/>
                </a:solidFill>
                <a:latin typeface="Inter" pitchFamily="34" charset="0"/>
                <a:ea typeface="Inter" pitchFamily="34" charset="-122"/>
                <a:cs typeface="Inter" pitchFamily="34" charset="-120"/>
              </a:rPr>
              <a:t>99.6%</a:t>
            </a:r>
            <a:pPr algn="ctr" indent="0" marL="0">
              <a:lnSpc>
                <a:spcPts val="1550"/>
              </a:lnSpc>
              <a:buNone/>
            </a:pPr>
            <a:r>
              <a:rPr lang="en-US" sz="950" dirty="0">
                <a:solidFill>
                  <a:srgbClr val="3B3535"/>
                </a:solidFill>
                <a:latin typeface="Inter" pitchFamily="34" charset="0"/>
                <a:ea typeface="Inter" pitchFamily="34" charset="-122"/>
                <a:cs typeface="Inter" pitchFamily="34" charset="-120"/>
              </a:rPr>
              <a:t> en tiempo de análisis contractual.</a:t>
            </a:r>
            <a:endParaRPr lang="en-US" sz="950" dirty="0"/>
          </a:p>
        </p:txBody>
      </p:sp>
      <p:sp>
        <p:nvSpPr>
          <p:cNvPr id="7" name="Text 5"/>
          <p:cNvSpPr/>
          <p:nvPr/>
        </p:nvSpPr>
        <p:spPr>
          <a:xfrm>
            <a:off x="4649465" y="1804169"/>
            <a:ext cx="3998416" cy="409352"/>
          </a:xfrm>
          <a:prstGeom prst="rect">
            <a:avLst/>
          </a:prstGeom>
          <a:noFill/>
          <a:ln/>
        </p:spPr>
        <p:txBody>
          <a:bodyPr wrap="none" lIns="0" tIns="0" rIns="0" bIns="0" rtlCol="0" anchor="t"/>
          <a:lstStyle/>
          <a:p>
            <a:pPr algn="ctr" indent="0" marL="0">
              <a:lnSpc>
                <a:spcPts val="3200"/>
              </a:lnSpc>
              <a:buNone/>
            </a:pPr>
            <a:r>
              <a:rPr lang="en-US" sz="3200" b="1" dirty="0">
                <a:solidFill>
                  <a:srgbClr val="3B3535"/>
                </a:solidFill>
                <a:latin typeface="Inter Bold" pitchFamily="34" charset="0"/>
                <a:ea typeface="Inter Bold" pitchFamily="34" charset="-122"/>
                <a:cs typeface="Inter Bold" pitchFamily="34" charset="-120"/>
              </a:rPr>
              <a:t>3</a:t>
            </a:r>
            <a:endParaRPr lang="en-US" sz="3200" dirty="0"/>
          </a:p>
        </p:txBody>
      </p:sp>
      <p:sp>
        <p:nvSpPr>
          <p:cNvPr id="8" name="Text 6"/>
          <p:cNvSpPr/>
          <p:nvPr/>
        </p:nvSpPr>
        <p:spPr>
          <a:xfrm>
            <a:off x="5873353" y="2368525"/>
            <a:ext cx="1550566" cy="193849"/>
          </a:xfrm>
          <a:prstGeom prst="rect">
            <a:avLst/>
          </a:prstGeom>
          <a:noFill/>
          <a:ln/>
        </p:spPr>
        <p:txBody>
          <a:bodyPr wrap="none" lIns="0" tIns="0" rIns="0" bIns="0" rtlCol="0" anchor="t"/>
          <a:lstStyle/>
          <a:p>
            <a:pPr algn="ctr"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Contratos Críticos</a:t>
            </a:r>
            <a:endParaRPr lang="en-US" sz="1200" dirty="0"/>
          </a:p>
        </p:txBody>
      </p:sp>
      <p:sp>
        <p:nvSpPr>
          <p:cNvPr id="9" name="Text 7"/>
          <p:cNvSpPr/>
          <p:nvPr/>
        </p:nvSpPr>
        <p:spPr>
          <a:xfrm>
            <a:off x="4649465" y="2636788"/>
            <a:ext cx="3998416" cy="396925"/>
          </a:xfrm>
          <a:prstGeom prst="rect">
            <a:avLst/>
          </a:prstGeom>
          <a:noFill/>
          <a:ln/>
        </p:spPr>
        <p:txBody>
          <a:bodyPr wrap="square" lIns="0" tIns="0" rIns="0" bIns="0" rtlCol="0" anchor="t"/>
          <a:lstStyle/>
          <a:p>
            <a:pPr algn="ctr" indent="0" marL="0">
              <a:lnSpc>
                <a:spcPts val="1550"/>
              </a:lnSpc>
              <a:buNone/>
            </a:pPr>
            <a:r>
              <a:rPr lang="en-US" sz="950" dirty="0">
                <a:solidFill>
                  <a:srgbClr val="3B3535"/>
                </a:solidFill>
                <a:latin typeface="Inter" pitchFamily="34" charset="0"/>
                <a:ea typeface="Inter" pitchFamily="34" charset="-122"/>
                <a:cs typeface="Inter" pitchFamily="34" charset="-120"/>
              </a:rPr>
              <a:t>Detectados automáticamente con riesgo alto que </a:t>
            </a:r>
            <a:pPr algn="ctr" indent="0" marL="0">
              <a:lnSpc>
                <a:spcPts val="1550"/>
              </a:lnSpc>
              <a:buNone/>
            </a:pPr>
            <a:r>
              <a:rPr lang="en-US" sz="950" b="1" dirty="0">
                <a:solidFill>
                  <a:srgbClr val="3B3535"/>
                </a:solidFill>
                <a:latin typeface="Inter" pitchFamily="34" charset="0"/>
                <a:ea typeface="Inter" pitchFamily="34" charset="-122"/>
                <a:cs typeface="Inter" pitchFamily="34" charset="-120"/>
              </a:rPr>
              <a:t>auditoría manual había pasado por alto</a:t>
            </a:r>
            <a:pPr algn="ctr" indent="0" marL="0">
              <a:lnSpc>
                <a:spcPts val="1550"/>
              </a:lnSpc>
              <a:buNone/>
            </a:pPr>
            <a:r>
              <a:rPr lang="en-US" sz="950" dirty="0">
                <a:solidFill>
                  <a:srgbClr val="3B3535"/>
                </a:solidFill>
                <a:latin typeface="Inter" pitchFamily="34" charset="0"/>
                <a:ea typeface="Inter" pitchFamily="34" charset="-122"/>
                <a:cs typeface="Inter" pitchFamily="34" charset="-120"/>
              </a:rPr>
              <a:t> en revisiones previas.</a:t>
            </a:r>
            <a:endParaRPr lang="en-US" sz="950" dirty="0"/>
          </a:p>
        </p:txBody>
      </p:sp>
      <p:sp>
        <p:nvSpPr>
          <p:cNvPr id="10" name="Text 8"/>
          <p:cNvSpPr/>
          <p:nvPr/>
        </p:nvSpPr>
        <p:spPr>
          <a:xfrm>
            <a:off x="496119" y="3343721"/>
            <a:ext cx="3998342" cy="409352"/>
          </a:xfrm>
          <a:prstGeom prst="rect">
            <a:avLst/>
          </a:prstGeom>
          <a:noFill/>
          <a:ln/>
        </p:spPr>
        <p:txBody>
          <a:bodyPr wrap="none" lIns="0" tIns="0" rIns="0" bIns="0" rtlCol="0" anchor="t"/>
          <a:lstStyle/>
          <a:p>
            <a:pPr algn="ctr" indent="0" marL="0">
              <a:lnSpc>
                <a:spcPts val="3200"/>
              </a:lnSpc>
              <a:buNone/>
            </a:pPr>
            <a:r>
              <a:rPr lang="en-US" sz="3200" b="1" dirty="0">
                <a:solidFill>
                  <a:srgbClr val="3B3535"/>
                </a:solidFill>
                <a:latin typeface="Inter Bold" pitchFamily="34" charset="0"/>
                <a:ea typeface="Inter Bold" pitchFamily="34" charset="-122"/>
                <a:cs typeface="Inter Bold" pitchFamily="34" charset="-120"/>
              </a:rPr>
              <a:t>6</a:t>
            </a:r>
            <a:endParaRPr lang="en-US" sz="3200" dirty="0"/>
          </a:p>
        </p:txBody>
      </p:sp>
      <p:sp>
        <p:nvSpPr>
          <p:cNvPr id="11" name="Text 9"/>
          <p:cNvSpPr/>
          <p:nvPr/>
        </p:nvSpPr>
        <p:spPr>
          <a:xfrm>
            <a:off x="1720007" y="3908078"/>
            <a:ext cx="1550566" cy="193849"/>
          </a:xfrm>
          <a:prstGeom prst="rect">
            <a:avLst/>
          </a:prstGeom>
          <a:noFill/>
          <a:ln/>
        </p:spPr>
        <p:txBody>
          <a:bodyPr wrap="none" lIns="0" tIns="0" rIns="0" bIns="0" rtlCol="0" anchor="t"/>
          <a:lstStyle/>
          <a:p>
            <a:pPr algn="ctr"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Módulos DataArts</a:t>
            </a:r>
            <a:endParaRPr lang="en-US" sz="1200" dirty="0"/>
          </a:p>
        </p:txBody>
      </p:sp>
      <p:sp>
        <p:nvSpPr>
          <p:cNvPr id="12" name="Text 10"/>
          <p:cNvSpPr/>
          <p:nvPr/>
        </p:nvSpPr>
        <p:spPr>
          <a:xfrm>
            <a:off x="496119" y="4176340"/>
            <a:ext cx="3998342" cy="396925"/>
          </a:xfrm>
          <a:prstGeom prst="rect">
            <a:avLst/>
          </a:prstGeom>
          <a:noFill/>
          <a:ln/>
        </p:spPr>
        <p:txBody>
          <a:bodyPr wrap="square" lIns="0" tIns="0" rIns="0" bIns="0" rtlCol="0" anchor="t"/>
          <a:lstStyle/>
          <a:p>
            <a:pPr algn="ctr" indent="0" marL="0">
              <a:lnSpc>
                <a:spcPts val="1550"/>
              </a:lnSpc>
              <a:buNone/>
            </a:pPr>
            <a:r>
              <a:rPr lang="en-US" sz="950" dirty="0">
                <a:solidFill>
                  <a:srgbClr val="3B3535"/>
                </a:solidFill>
                <a:latin typeface="Inter" pitchFamily="34" charset="0"/>
                <a:ea typeface="Inter" pitchFamily="34" charset="-122"/>
                <a:cs typeface="Inter" pitchFamily="34" charset="-120"/>
              </a:rPr>
              <a:t>Linaje, catálogo, seguridad, calidad, arquitectura y APIs — </a:t>
            </a:r>
            <a:pPr algn="ctr" indent="0" marL="0">
              <a:lnSpc>
                <a:spcPts val="1550"/>
              </a:lnSpc>
              <a:buNone/>
            </a:pPr>
            <a:r>
              <a:rPr lang="en-US" sz="950" b="1" dirty="0">
                <a:solidFill>
                  <a:srgbClr val="3B3535"/>
                </a:solidFill>
                <a:latin typeface="Inter" pitchFamily="34" charset="0"/>
                <a:ea typeface="Inter" pitchFamily="34" charset="-122"/>
                <a:cs typeface="Inter" pitchFamily="34" charset="-120"/>
              </a:rPr>
              <a:t>gobierno completo</a:t>
            </a:r>
            <a:pPr algn="ctr" indent="0" marL="0">
              <a:lnSpc>
                <a:spcPts val="1550"/>
              </a:lnSpc>
              <a:buNone/>
            </a:pPr>
            <a:r>
              <a:rPr lang="en-US" sz="950" dirty="0">
                <a:solidFill>
                  <a:srgbClr val="3B3535"/>
                </a:solidFill>
                <a:latin typeface="Inter" pitchFamily="34" charset="0"/>
                <a:ea typeface="Inter" pitchFamily="34" charset="-122"/>
                <a:cs typeface="Inter" pitchFamily="34" charset="-120"/>
              </a:rPr>
              <a:t> desde cero.</a:t>
            </a:r>
            <a:endParaRPr lang="en-US" sz="950" dirty="0"/>
          </a:p>
        </p:txBody>
      </p:sp>
      <p:sp>
        <p:nvSpPr>
          <p:cNvPr id="13" name="Text 11"/>
          <p:cNvSpPr/>
          <p:nvPr/>
        </p:nvSpPr>
        <p:spPr>
          <a:xfrm>
            <a:off x="4649465" y="3343721"/>
            <a:ext cx="3998416" cy="409352"/>
          </a:xfrm>
          <a:prstGeom prst="rect">
            <a:avLst/>
          </a:prstGeom>
          <a:noFill/>
          <a:ln/>
        </p:spPr>
        <p:txBody>
          <a:bodyPr wrap="none" lIns="0" tIns="0" rIns="0" bIns="0" rtlCol="0" anchor="t"/>
          <a:lstStyle/>
          <a:p>
            <a:pPr algn="ctr" indent="0" marL="0">
              <a:lnSpc>
                <a:spcPts val="3200"/>
              </a:lnSpc>
              <a:buNone/>
            </a:pPr>
            <a:r>
              <a:rPr lang="en-US" sz="3200" b="1" dirty="0">
                <a:solidFill>
                  <a:srgbClr val="3B3535"/>
                </a:solidFill>
                <a:latin typeface="Inter Bold" pitchFamily="34" charset="0"/>
                <a:ea typeface="Inter Bold" pitchFamily="34" charset="-122"/>
                <a:cs typeface="Inter Bold" pitchFamily="34" charset="-120"/>
              </a:rPr>
              <a:t>$35</a:t>
            </a:r>
            <a:endParaRPr lang="en-US" sz="3200" dirty="0"/>
          </a:p>
        </p:txBody>
      </p:sp>
      <p:sp>
        <p:nvSpPr>
          <p:cNvPr id="14" name="Text 12"/>
          <p:cNvSpPr/>
          <p:nvPr/>
        </p:nvSpPr>
        <p:spPr>
          <a:xfrm>
            <a:off x="5873353" y="3908078"/>
            <a:ext cx="1550566" cy="193849"/>
          </a:xfrm>
          <a:prstGeom prst="rect">
            <a:avLst/>
          </a:prstGeom>
          <a:noFill/>
          <a:ln/>
        </p:spPr>
        <p:txBody>
          <a:bodyPr wrap="none" lIns="0" tIns="0" rIns="0" bIns="0" rtlCol="0" anchor="t"/>
          <a:lstStyle/>
          <a:p>
            <a:pPr algn="ctr"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USD / Día Infra</a:t>
            </a:r>
            <a:endParaRPr lang="en-US" sz="1200" dirty="0"/>
          </a:p>
        </p:txBody>
      </p:sp>
      <p:sp>
        <p:nvSpPr>
          <p:cNvPr id="15" name="Text 13"/>
          <p:cNvSpPr/>
          <p:nvPr/>
        </p:nvSpPr>
        <p:spPr>
          <a:xfrm>
            <a:off x="4649465" y="4176340"/>
            <a:ext cx="3998416" cy="396925"/>
          </a:xfrm>
          <a:prstGeom prst="rect">
            <a:avLst/>
          </a:prstGeom>
          <a:noFill/>
          <a:ln/>
        </p:spPr>
        <p:txBody>
          <a:bodyPr wrap="square" lIns="0" tIns="0" rIns="0" bIns="0" rtlCol="0" anchor="t"/>
          <a:lstStyle/>
          <a:p>
            <a:pPr algn="ctr" indent="0" marL="0">
              <a:lnSpc>
                <a:spcPts val="1550"/>
              </a:lnSpc>
              <a:buNone/>
            </a:pPr>
            <a:r>
              <a:rPr lang="en-US" sz="950" dirty="0">
                <a:solidFill>
                  <a:srgbClr val="3B3535"/>
                </a:solidFill>
                <a:latin typeface="Inter" pitchFamily="34" charset="0"/>
                <a:ea typeface="Inter" pitchFamily="34" charset="-122"/>
                <a:cs typeface="Inter" pitchFamily="34" charset="-120"/>
              </a:rPr>
              <a:t>Costo operativo en </a:t>
            </a:r>
            <a:pPr algn="ctr" indent="0" marL="0">
              <a:lnSpc>
                <a:spcPts val="1550"/>
              </a:lnSpc>
              <a:buNone/>
            </a:pPr>
            <a:r>
              <a:rPr lang="en-US" sz="950" b="1" dirty="0">
                <a:solidFill>
                  <a:srgbClr val="3B3535"/>
                </a:solidFill>
                <a:latin typeface="Inter" pitchFamily="34" charset="0"/>
                <a:ea typeface="Inter" pitchFamily="34" charset="-122"/>
                <a:cs typeface="Inter" pitchFamily="34" charset="-120"/>
              </a:rPr>
              <a:t>pay-per-use</a:t>
            </a:r>
            <a:pPr algn="ctr" indent="0" marL="0">
              <a:lnSpc>
                <a:spcPts val="1550"/>
              </a:lnSpc>
              <a:buNone/>
            </a:pPr>
            <a:r>
              <a:rPr lang="en-US" sz="950" dirty="0">
                <a:solidFill>
                  <a:srgbClr val="3B3535"/>
                </a:solidFill>
                <a:latin typeface="Inter" pitchFamily="34" charset="0"/>
                <a:ea typeface="Inter" pitchFamily="34" charset="-122"/>
                <a:cs typeface="Inter" pitchFamily="34" charset="-120"/>
              </a:rPr>
              <a:t>. Escala a cero con DLI serverless en períodos sin actividad.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78818"/>
            <a:ext cx="3725763" cy="387548"/>
          </a:xfrm>
          <a:prstGeom prst="rect">
            <a:avLst/>
          </a:prstGeom>
          <a:noFill/>
          <a:ln/>
        </p:spPr>
        <p:txBody>
          <a:bodyPr wrap="none" lIns="0" tIns="0" rIns="0" bIns="0" rtlCol="0" anchor="t"/>
          <a:lstStyle/>
          <a:p>
            <a:pPr algn="l" indent="0" marL="0">
              <a:lnSpc>
                <a:spcPts val="3050"/>
              </a:lnSpc>
              <a:buNone/>
            </a:pPr>
            <a:r>
              <a:rPr lang="en-US" sz="2400" b="1" dirty="0">
                <a:solidFill>
                  <a:srgbClr val="1F1E1E"/>
                </a:solidFill>
                <a:latin typeface="Inter Bold" pitchFamily="34" charset="0"/>
                <a:ea typeface="Inter Bold" pitchFamily="34" charset="-122"/>
                <a:cs typeface="Inter Bold" pitchFamily="34" charset="-120"/>
              </a:rPr>
              <a:t>¿Por Qué Huawei Cloud?</a:t>
            </a:r>
            <a:endParaRPr lang="en-US" sz="2400" dirty="0"/>
          </a:p>
        </p:txBody>
      </p:sp>
      <p:sp>
        <p:nvSpPr>
          <p:cNvPr id="3" name="Text 1"/>
          <p:cNvSpPr/>
          <p:nvPr/>
        </p:nvSpPr>
        <p:spPr>
          <a:xfrm>
            <a:off x="496119" y="1414388"/>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La elección de plataforma no fue arbitraria. Huawei Cloud ofrece ventajas estructurales que ningún otro proveedor puede replicar en conjunto para el contexto regulatorio y operativo de la industria automotriz mexicana.</a:t>
            </a:r>
            <a:endParaRPr lang="en-US" sz="950" dirty="0"/>
          </a:p>
        </p:txBody>
      </p:sp>
      <p:sp>
        <p:nvSpPr>
          <p:cNvPr id="4" name="Shape 2"/>
          <p:cNvSpPr/>
          <p:nvPr/>
        </p:nvSpPr>
        <p:spPr>
          <a:xfrm>
            <a:off x="496119" y="1950839"/>
            <a:ext cx="2634555" cy="1343397"/>
          </a:xfrm>
          <a:prstGeom prst="roundRect">
            <a:avLst>
              <a:gd name="adj" fmla="val 425"/>
            </a:avLst>
          </a:prstGeom>
          <a:solidFill>
            <a:srgbClr val="F2EEEE"/>
          </a:solidFill>
          <a:ln w="14288">
            <a:solidFill>
              <a:srgbClr val="D8D4D4"/>
            </a:solidFill>
            <a:prstDash val="solid"/>
          </a:ln>
        </p:spPr>
        <p:txBody>
          <a:bodyPr/>
          <a:p/>
        </p:txBody>
      </p:sp>
      <p:sp>
        <p:nvSpPr>
          <p:cNvPr id="5" name="Text 3"/>
          <p:cNvSpPr/>
          <p:nvPr/>
        </p:nvSpPr>
        <p:spPr>
          <a:xfrm>
            <a:off x="634380" y="2089100"/>
            <a:ext cx="1698352" cy="198611"/>
          </a:xfrm>
          <a:prstGeom prst="rect">
            <a:avLst/>
          </a:prstGeom>
          <a:noFill/>
          <a:ln/>
        </p:spPr>
        <p:txBody>
          <a:bodyPr wrap="none" lIns="0" tIns="0" rIns="0" bIns="0" rtlCol="0" anchor="t"/>
          <a:lstStyle/>
          <a:p>
            <a:pPr algn="l" indent="0" marL="0">
              <a:lnSpc>
                <a:spcPts val="1500"/>
              </a:lnSpc>
              <a:buNone/>
            </a:pPr>
            <a:r>
              <a:rPr lang="en-US" sz="1200" b="1" dirty="0">
                <a:solidFill>
                  <a:srgbClr val="000000"/>
                </a:solidFill>
                <a:latin typeface="Inter Bold" pitchFamily="34" charset="0"/>
                <a:ea typeface="Inter Bold" pitchFamily="34" charset="-122"/>
                <a:cs typeface="Inter Bold" pitchFamily="34" charset="-120"/>
              </a:rPr>
              <a:t>🇲🇽</a:t>
            </a:r>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 Soberanía de Datos</a:t>
            </a:r>
            <a:endParaRPr lang="en-US" sz="1200" dirty="0"/>
          </a:p>
        </p:txBody>
      </p:sp>
      <p:sp>
        <p:nvSpPr>
          <p:cNvPr id="6" name="Text 4"/>
          <p:cNvSpPr/>
          <p:nvPr/>
        </p:nvSpPr>
        <p:spPr>
          <a:xfrm>
            <a:off x="634380" y="2362126"/>
            <a:ext cx="2358033" cy="793849"/>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Región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la-north-2 (Mexico City 2)</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garantiza residencia de datos en México y cumplimiento de regulaciones locales como CNBV.</a:t>
            </a:r>
            <a:endParaRPr lang="en-US" sz="950" dirty="0"/>
          </a:p>
        </p:txBody>
      </p:sp>
      <p:sp>
        <p:nvSpPr>
          <p:cNvPr id="7" name="Shape 5"/>
          <p:cNvSpPr/>
          <p:nvPr/>
        </p:nvSpPr>
        <p:spPr>
          <a:xfrm>
            <a:off x="3254648" y="1950839"/>
            <a:ext cx="2634630" cy="1343397"/>
          </a:xfrm>
          <a:prstGeom prst="roundRect">
            <a:avLst>
              <a:gd name="adj" fmla="val 425"/>
            </a:avLst>
          </a:prstGeom>
          <a:solidFill>
            <a:srgbClr val="F2EEEE"/>
          </a:solidFill>
          <a:ln w="14288">
            <a:solidFill>
              <a:srgbClr val="D8D4D4"/>
            </a:solidFill>
            <a:prstDash val="solid"/>
          </a:ln>
        </p:spPr>
        <p:txBody>
          <a:bodyPr/>
          <a:p/>
        </p:txBody>
      </p:sp>
      <p:sp>
        <p:nvSpPr>
          <p:cNvPr id="8" name="Text 6"/>
          <p:cNvSpPr/>
          <p:nvPr/>
        </p:nvSpPr>
        <p:spPr>
          <a:xfrm>
            <a:off x="3392909" y="2089100"/>
            <a:ext cx="1550566" cy="198611"/>
          </a:xfrm>
          <a:prstGeom prst="rect">
            <a:avLst/>
          </a:prstGeom>
          <a:noFill/>
          <a:ln/>
        </p:spPr>
        <p:txBody>
          <a:bodyPr wrap="none" lIns="0" tIns="0" rIns="0" bIns="0" rtlCol="0" anchor="t"/>
          <a:lstStyle/>
          <a:p>
            <a:pPr algn="l" indent="0" marL="0">
              <a:lnSpc>
                <a:spcPts val="1500"/>
              </a:lnSpc>
              <a:buNone/>
            </a:pPr>
            <a:r>
              <a:rPr lang="en-US" sz="1200" b="1" dirty="0">
                <a:solidFill>
                  <a:srgbClr val="000000"/>
                </a:solidFill>
                <a:latin typeface="Inter Bold" pitchFamily="34" charset="0"/>
                <a:ea typeface="Inter Bold" pitchFamily="34" charset="-122"/>
                <a:cs typeface="Inter Bold" pitchFamily="34" charset="-120"/>
              </a:rPr>
              <a:t>🔗</a:t>
            </a:r>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 Stack Integrado</a:t>
            </a:r>
            <a:endParaRPr lang="en-US" sz="1200" dirty="0"/>
          </a:p>
        </p:txBody>
      </p:sp>
      <p:sp>
        <p:nvSpPr>
          <p:cNvPr id="9" name="Text 7"/>
          <p:cNvSpPr/>
          <p:nvPr/>
        </p:nvSpPr>
        <p:spPr>
          <a:xfrm>
            <a:off x="3392909" y="2362126"/>
            <a:ext cx="2358107" cy="793849"/>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OBS → FunctionGraph → MaaS → DWS → DataArts operan nativamente.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Sin integraciones de terceros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sin puntos de falla adicionales.</a:t>
            </a:r>
            <a:endParaRPr lang="en-US" sz="950" dirty="0"/>
          </a:p>
        </p:txBody>
      </p:sp>
      <p:sp>
        <p:nvSpPr>
          <p:cNvPr id="10" name="Shape 8"/>
          <p:cNvSpPr/>
          <p:nvPr/>
        </p:nvSpPr>
        <p:spPr>
          <a:xfrm>
            <a:off x="6013252" y="1950839"/>
            <a:ext cx="2634555" cy="1343397"/>
          </a:xfrm>
          <a:prstGeom prst="roundRect">
            <a:avLst>
              <a:gd name="adj" fmla="val 425"/>
            </a:avLst>
          </a:prstGeom>
          <a:solidFill>
            <a:srgbClr val="F2EEEE"/>
          </a:solidFill>
          <a:ln w="14288">
            <a:solidFill>
              <a:srgbClr val="D8D4D4"/>
            </a:solidFill>
            <a:prstDash val="solid"/>
          </a:ln>
        </p:spPr>
        <p:txBody>
          <a:bodyPr/>
          <a:p/>
        </p:txBody>
      </p:sp>
      <p:sp>
        <p:nvSpPr>
          <p:cNvPr id="11" name="Text 9"/>
          <p:cNvSpPr/>
          <p:nvPr/>
        </p:nvSpPr>
        <p:spPr>
          <a:xfrm>
            <a:off x="6151513" y="2089100"/>
            <a:ext cx="1887810" cy="198611"/>
          </a:xfrm>
          <a:prstGeom prst="rect">
            <a:avLst/>
          </a:prstGeom>
          <a:noFill/>
          <a:ln/>
        </p:spPr>
        <p:txBody>
          <a:bodyPr wrap="none" lIns="0" tIns="0" rIns="0" bIns="0" rtlCol="0" anchor="t"/>
          <a:lstStyle/>
          <a:p>
            <a:pPr algn="l" indent="0" marL="0">
              <a:lnSpc>
                <a:spcPts val="1500"/>
              </a:lnSpc>
              <a:buNone/>
            </a:pPr>
            <a:r>
              <a:rPr lang="en-US" sz="1200" b="1" dirty="0">
                <a:solidFill>
                  <a:srgbClr val="000000"/>
                </a:solidFill>
                <a:latin typeface="Inter Bold" pitchFamily="34" charset="0"/>
                <a:ea typeface="Inter Bold" pitchFamily="34" charset="-122"/>
                <a:cs typeface="Inter Bold" pitchFamily="34" charset="-120"/>
              </a:rPr>
              <a:t>⚡</a:t>
            </a:r>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 Serverless Inteligente</a:t>
            </a:r>
            <a:endParaRPr lang="en-US" sz="1200" dirty="0"/>
          </a:p>
        </p:txBody>
      </p:sp>
      <p:sp>
        <p:nvSpPr>
          <p:cNvPr id="12" name="Text 10"/>
          <p:cNvSpPr/>
          <p:nvPr/>
        </p:nvSpPr>
        <p:spPr>
          <a:xfrm>
            <a:off x="6151513" y="2362126"/>
            <a:ext cx="2358033" cy="793849"/>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DLI y FunctionGraph escalan a cero automáticamente.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Pagas solo lo que consumes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 modelo ideal para cargas variables.</a:t>
            </a:r>
            <a:endParaRPr lang="en-US" sz="950" dirty="0"/>
          </a:p>
        </p:txBody>
      </p:sp>
      <p:sp>
        <p:nvSpPr>
          <p:cNvPr id="13" name="Shape 11"/>
          <p:cNvSpPr/>
          <p:nvPr/>
        </p:nvSpPr>
        <p:spPr>
          <a:xfrm>
            <a:off x="496119" y="3418210"/>
            <a:ext cx="4013820" cy="946472"/>
          </a:xfrm>
          <a:prstGeom prst="roundRect">
            <a:avLst>
              <a:gd name="adj" fmla="val 604"/>
            </a:avLst>
          </a:prstGeom>
          <a:solidFill>
            <a:srgbClr val="F2EEEE"/>
          </a:solidFill>
          <a:ln w="14288">
            <a:solidFill>
              <a:srgbClr val="D8D4D4"/>
            </a:solidFill>
            <a:prstDash val="solid"/>
          </a:ln>
        </p:spPr>
        <p:txBody>
          <a:bodyPr/>
          <a:p/>
        </p:txBody>
      </p:sp>
      <p:sp>
        <p:nvSpPr>
          <p:cNvPr id="14" name="Text 12"/>
          <p:cNvSpPr/>
          <p:nvPr/>
        </p:nvSpPr>
        <p:spPr>
          <a:xfrm>
            <a:off x="634380" y="3556471"/>
            <a:ext cx="1550566" cy="198611"/>
          </a:xfrm>
          <a:prstGeom prst="rect">
            <a:avLst/>
          </a:prstGeom>
          <a:noFill/>
          <a:ln/>
        </p:spPr>
        <p:txBody>
          <a:bodyPr wrap="none" lIns="0" tIns="0" rIns="0" bIns="0" rtlCol="0" anchor="t"/>
          <a:lstStyle/>
          <a:p>
            <a:pPr algn="l" indent="0" marL="0">
              <a:lnSpc>
                <a:spcPts val="1500"/>
              </a:lnSpc>
              <a:buNone/>
            </a:pPr>
            <a:r>
              <a:rPr lang="en-US" sz="1200" b="1" dirty="0">
                <a:solidFill>
                  <a:srgbClr val="000000"/>
                </a:solidFill>
                <a:latin typeface="Inter Bold" pitchFamily="34" charset="0"/>
                <a:ea typeface="Inter Bold" pitchFamily="34" charset="-122"/>
                <a:cs typeface="Inter Bold" pitchFamily="34" charset="-120"/>
              </a:rPr>
              <a:t>🤖</a:t>
            </a:r>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 DeepSeek Nativo</a:t>
            </a:r>
            <a:endParaRPr lang="en-US" sz="1200" dirty="0"/>
          </a:p>
        </p:txBody>
      </p:sp>
      <p:sp>
        <p:nvSpPr>
          <p:cNvPr id="15" name="Text 13"/>
          <p:cNvSpPr/>
          <p:nvPr/>
        </p:nvSpPr>
        <p:spPr>
          <a:xfrm>
            <a:off x="634380" y="3829496"/>
            <a:ext cx="3737297"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Acceso a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DeepSeek v4 Flash vía MaaS</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sin depender de APIs externas. Latencia menor, costo menor, control total.</a:t>
            </a:r>
            <a:endParaRPr lang="en-US" sz="950" dirty="0"/>
          </a:p>
        </p:txBody>
      </p:sp>
      <p:sp>
        <p:nvSpPr>
          <p:cNvPr id="16" name="Shape 14"/>
          <p:cNvSpPr/>
          <p:nvPr/>
        </p:nvSpPr>
        <p:spPr>
          <a:xfrm>
            <a:off x="4633913" y="3418210"/>
            <a:ext cx="4013895" cy="946472"/>
          </a:xfrm>
          <a:prstGeom prst="roundRect">
            <a:avLst>
              <a:gd name="adj" fmla="val 604"/>
            </a:avLst>
          </a:prstGeom>
          <a:solidFill>
            <a:srgbClr val="F2EEEE"/>
          </a:solidFill>
          <a:ln w="14288">
            <a:solidFill>
              <a:srgbClr val="D8D4D4"/>
            </a:solidFill>
            <a:prstDash val="solid"/>
          </a:ln>
        </p:spPr>
        <p:txBody>
          <a:bodyPr/>
          <a:p/>
        </p:txBody>
      </p:sp>
      <p:sp>
        <p:nvSpPr>
          <p:cNvPr id="17" name="Text 15"/>
          <p:cNvSpPr/>
          <p:nvPr/>
        </p:nvSpPr>
        <p:spPr>
          <a:xfrm>
            <a:off x="4772174" y="3556471"/>
            <a:ext cx="1705794" cy="198611"/>
          </a:xfrm>
          <a:prstGeom prst="rect">
            <a:avLst/>
          </a:prstGeom>
          <a:noFill/>
          <a:ln/>
        </p:spPr>
        <p:txBody>
          <a:bodyPr wrap="none" lIns="0" tIns="0" rIns="0" bIns="0" rtlCol="0" anchor="t"/>
          <a:lstStyle/>
          <a:p>
            <a:pPr algn="l" indent="0" marL="0">
              <a:lnSpc>
                <a:spcPts val="1500"/>
              </a:lnSpc>
              <a:buNone/>
            </a:pPr>
            <a:r>
              <a:rPr lang="en-US" sz="1200" b="1" dirty="0">
                <a:solidFill>
                  <a:srgbClr val="000000"/>
                </a:solidFill>
                <a:latin typeface="Inter Bold" pitchFamily="34" charset="0"/>
                <a:ea typeface="Inter Bold" pitchFamily="34" charset="-122"/>
                <a:cs typeface="Inter Bold" pitchFamily="34" charset="-120"/>
              </a:rPr>
              <a:t>🔓</a:t>
            </a:r>
            <a:pPr algn="l" indent="0" marL="0">
              <a:lnSpc>
                <a:spcPts val="1500"/>
              </a:lnSpc>
              <a:buNone/>
            </a:pPr>
            <a:r>
              <a:rPr lang="en-US" sz="1200" b="1" dirty="0">
                <a:solidFill>
                  <a:srgbClr val="3B3535"/>
                </a:solidFill>
                <a:latin typeface="Inter Bold" pitchFamily="34" charset="0"/>
                <a:ea typeface="Inter Bold" pitchFamily="34" charset="-122"/>
                <a:cs typeface="Inter Bold" pitchFamily="34" charset="-120"/>
              </a:rPr>
              <a:t> Ecosistema Abierto</a:t>
            </a:r>
            <a:endParaRPr lang="en-US" sz="1200" dirty="0"/>
          </a:p>
        </p:txBody>
      </p:sp>
      <p:sp>
        <p:nvSpPr>
          <p:cNvPr id="18" name="Text 16"/>
          <p:cNvSpPr/>
          <p:nvPr/>
        </p:nvSpPr>
        <p:spPr>
          <a:xfrm>
            <a:off x="4772174" y="3829496"/>
            <a:ext cx="3737372" cy="396925"/>
          </a:xfrm>
          <a:prstGeom prst="rect">
            <a:avLst/>
          </a:prstGeom>
          <a:noFill/>
          <a:ln/>
        </p:spPr>
        <p:txBody>
          <a:bodyPr wrap="square" lIns="0" tIns="0" rIns="0" bIns="0" rtlCol="0" anchor="t"/>
          <a:lstStyle/>
          <a:p>
            <a:pPr algn="l" indent="0" marL="0">
              <a:lnSpc>
                <a:spcPts val="1550"/>
              </a:lnSpc>
              <a:buNone/>
            </a:pPr>
            <a:r>
              <a:rPr lang="en-US" sz="950" dirty="0">
                <a:solidFill>
                  <a:srgbClr val="3B3535"/>
                </a:solidFill>
                <a:latin typeface="Inter" pitchFamily="34" charset="0"/>
                <a:ea typeface="Inter" pitchFamily="34" charset="-122"/>
                <a:cs typeface="Inter" pitchFamily="34" charset="-120"/>
              </a:rPr>
              <a:t>Dify, Streamlit y Langfuse son open source. </a:t>
            </a:r>
            <a:pPr algn="l" indent="0" marL="0">
              <a:lnSpc>
                <a:spcPts val="1550"/>
              </a:lnSpc>
              <a:buNone/>
            </a:pPr>
            <a:r>
              <a:rPr lang="en-US" sz="950" b="1" dirty="0">
                <a:solidFill>
                  <a:srgbClr val="3B3535"/>
                </a:solidFill>
                <a:latin typeface="Inter" pitchFamily="34" charset="0"/>
                <a:ea typeface="Inter" pitchFamily="34" charset="-122"/>
                <a:cs typeface="Inter" pitchFamily="34" charset="-120"/>
              </a:rPr>
              <a:t>Sin vendor lock-in</a:t>
            </a:r>
            <a:pPr algn="l" indent="0" marL="0">
              <a:lnSpc>
                <a:spcPts val="1550"/>
              </a:lnSpc>
              <a:buNone/>
            </a:pPr>
            <a:r>
              <a:rPr lang="en-US" sz="950" dirty="0">
                <a:solidFill>
                  <a:srgbClr val="3B3535"/>
                </a:solidFill>
                <a:latin typeface="Inter" pitchFamily="34" charset="0"/>
                <a:ea typeface="Inter" pitchFamily="34" charset="-122"/>
                <a:cs typeface="Inter" pitchFamily="34" charset="-120"/>
              </a:rPr>
              <a:t> en la capa de aplicación — libertad de evolucionar.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88379" y="365447"/>
            <a:ext cx="4561954" cy="324296"/>
          </a:xfrm>
          <a:prstGeom prst="rect">
            <a:avLst/>
          </a:prstGeom>
          <a:noFill/>
          <a:ln/>
        </p:spPr>
        <p:txBody>
          <a:bodyPr wrap="none" lIns="0" tIns="0" rIns="0" bIns="0" rtlCol="0" anchor="t"/>
          <a:lstStyle/>
          <a:p>
            <a:pPr algn="l" indent="0" marL="0">
              <a:lnSpc>
                <a:spcPts val="2550"/>
              </a:lnSpc>
              <a:buNone/>
            </a:pPr>
            <a:r>
              <a:rPr lang="en-US" sz="2000" b="1" dirty="0">
                <a:solidFill>
                  <a:srgbClr val="1F1E1E"/>
                </a:solidFill>
                <a:latin typeface="Inter Bold" pitchFamily="34" charset="0"/>
                <a:ea typeface="Inter Bold" pitchFamily="34" charset="-122"/>
                <a:cs typeface="Inter Bold" pitchFamily="34" charset="-120"/>
              </a:rPr>
              <a:t>Workshop Mayo 2026 — Next Steps</a:t>
            </a:r>
            <a:endParaRPr lang="en-US" sz="2000" dirty="0"/>
          </a:p>
        </p:txBody>
      </p:sp>
      <p:sp>
        <p:nvSpPr>
          <p:cNvPr id="3" name="Text 1"/>
          <p:cNvSpPr/>
          <p:nvPr/>
        </p:nvSpPr>
        <p:spPr>
          <a:xfrm>
            <a:off x="488379" y="863426"/>
            <a:ext cx="8167241" cy="304949"/>
          </a:xfrm>
          <a:prstGeom prst="rect">
            <a:avLst/>
          </a:prstGeom>
          <a:noFill/>
          <a:ln/>
        </p:spPr>
        <p:txBody>
          <a:bodyPr wrap="square" lIns="0" tIns="0" rIns="0" bIns="0" rtlCol="0" anchor="t"/>
          <a:lstStyle/>
          <a:p>
            <a:pPr algn="l" indent="0" marL="0">
              <a:lnSpc>
                <a:spcPts val="1200"/>
              </a:lnSpc>
              <a:buNone/>
            </a:pPr>
            <a:r>
              <a:rPr lang="en-US" sz="800" dirty="0">
                <a:solidFill>
                  <a:srgbClr val="3B3535"/>
                </a:solidFill>
                <a:latin typeface="Inter" pitchFamily="34" charset="0"/>
                <a:ea typeface="Inter" pitchFamily="34" charset="-122"/>
                <a:cs typeface="Inter" pitchFamily="34" charset="-120"/>
              </a:rPr>
              <a:t>La solución está lista para ser presentada en vivo. El siguiente paso es convertir la demo técnica en un plan de producción con datos reales de AYCO, respaldado por un equipo comprometido y una infraestructura ya desplegada.</a:t>
            </a:r>
            <a:endParaRPr lang="en-US" sz="800" dirty="0"/>
          </a:p>
        </p:txBody>
      </p:sp>
      <p:sp>
        <p:nvSpPr>
          <p:cNvPr id="4" name="Shape 2"/>
          <p:cNvSpPr/>
          <p:nvPr/>
        </p:nvSpPr>
        <p:spPr>
          <a:xfrm>
            <a:off x="4564856" y="1266006"/>
            <a:ext cx="14288" cy="3014365"/>
          </a:xfrm>
          <a:prstGeom prst="roundRect">
            <a:avLst>
              <a:gd name="adj" fmla="val 39999"/>
            </a:avLst>
          </a:prstGeom>
          <a:solidFill>
            <a:srgbClr val="D8D4D4"/>
          </a:solidFill>
          <a:ln/>
        </p:spPr>
        <p:txBody>
          <a:bodyPr/>
          <a:p/>
        </p:txBody>
      </p:sp>
      <p:sp>
        <p:nvSpPr>
          <p:cNvPr id="5" name="Shape 3"/>
          <p:cNvSpPr/>
          <p:nvPr/>
        </p:nvSpPr>
        <p:spPr>
          <a:xfrm>
            <a:off x="4158183" y="1375618"/>
            <a:ext cx="311348" cy="14288"/>
          </a:xfrm>
          <a:prstGeom prst="roundRect">
            <a:avLst>
              <a:gd name="adj" fmla="val 39999"/>
            </a:avLst>
          </a:prstGeom>
          <a:solidFill>
            <a:srgbClr val="D8D4D4"/>
          </a:solidFill>
          <a:ln/>
        </p:spPr>
        <p:txBody>
          <a:bodyPr/>
          <a:p/>
        </p:txBody>
      </p:sp>
      <p:sp>
        <p:nvSpPr>
          <p:cNvPr id="6" name="Shape 4"/>
          <p:cNvSpPr/>
          <p:nvPr/>
        </p:nvSpPr>
        <p:spPr>
          <a:xfrm>
            <a:off x="4455244" y="1266006"/>
            <a:ext cx="233511" cy="233511"/>
          </a:xfrm>
          <a:prstGeom prst="roundRect">
            <a:avLst>
              <a:gd name="adj" fmla="val 2447"/>
            </a:avLst>
          </a:prstGeom>
          <a:solidFill>
            <a:srgbClr val="F2EEEE"/>
          </a:solidFill>
          <a:ln w="9525">
            <a:solidFill>
              <a:srgbClr val="D8D4D4"/>
            </a:solidFill>
            <a:prstDash val="solid"/>
          </a:ln>
        </p:spPr>
        <p:txBody>
          <a:bodyPr/>
          <a:p/>
        </p:txBody>
      </p:sp>
      <p:sp>
        <p:nvSpPr>
          <p:cNvPr id="7" name="Text 5"/>
          <p:cNvSpPr/>
          <p:nvPr/>
        </p:nvSpPr>
        <p:spPr>
          <a:xfrm>
            <a:off x="4494163" y="1285466"/>
            <a:ext cx="155674" cy="194593"/>
          </a:xfrm>
          <a:prstGeom prst="rect">
            <a:avLst/>
          </a:prstGeom>
          <a:noFill/>
          <a:ln/>
        </p:spPr>
        <p:txBody>
          <a:bodyPr wrap="none" lIns="0" tIns="0" rIns="0" bIns="0" rtlCol="0" anchor="ctr"/>
          <a:lstStyle/>
          <a:p>
            <a:pPr algn="ctr" indent="0" marL="0">
              <a:lnSpc>
                <a:spcPts val="1200"/>
              </a:lnSpc>
              <a:buNone/>
            </a:pPr>
            <a:r>
              <a:rPr lang="en-US" sz="1200" b="1" dirty="0">
                <a:solidFill>
                  <a:srgbClr val="3B3535"/>
                </a:solidFill>
                <a:latin typeface="Inter Bold" pitchFamily="34" charset="0"/>
                <a:ea typeface="Inter Bold" pitchFamily="34" charset="-122"/>
                <a:cs typeface="Inter Bold" pitchFamily="34" charset="-120"/>
              </a:rPr>
              <a:t>1</a:t>
            </a:r>
            <a:endParaRPr lang="en-US" sz="1200" dirty="0"/>
          </a:p>
        </p:txBody>
      </p:sp>
      <p:sp>
        <p:nvSpPr>
          <p:cNvPr id="8" name="Text 6"/>
          <p:cNvSpPr/>
          <p:nvPr/>
        </p:nvSpPr>
        <p:spPr>
          <a:xfrm>
            <a:off x="2313310" y="1301651"/>
            <a:ext cx="1739801" cy="162074"/>
          </a:xfrm>
          <a:prstGeom prst="rect">
            <a:avLst/>
          </a:prstGeom>
          <a:noFill/>
          <a:ln/>
        </p:spPr>
        <p:txBody>
          <a:bodyPr wrap="none" lIns="0" tIns="0" rIns="0" bIns="0" rtlCol="0" anchor="t"/>
          <a:lstStyle/>
          <a:p>
            <a:pPr algn="r" indent="0" marL="0">
              <a:lnSpc>
                <a:spcPts val="1250"/>
              </a:lnSpc>
              <a:buNone/>
            </a:pPr>
            <a:r>
              <a:rPr lang="en-US" sz="1000" b="1" dirty="0">
                <a:solidFill>
                  <a:srgbClr val="3B3535"/>
                </a:solidFill>
                <a:latin typeface="Inter Bold" pitchFamily="34" charset="0"/>
                <a:ea typeface="Inter Bold" pitchFamily="34" charset="-122"/>
                <a:cs typeface="Inter Bold" pitchFamily="34" charset="-120"/>
              </a:rPr>
              <a:t>Infraestructura Desplegada</a:t>
            </a:r>
            <a:endParaRPr lang="en-US" sz="1000" dirty="0"/>
          </a:p>
        </p:txBody>
      </p:sp>
      <p:sp>
        <p:nvSpPr>
          <p:cNvPr id="9" name="Text 7"/>
          <p:cNvSpPr/>
          <p:nvPr/>
        </p:nvSpPr>
        <p:spPr>
          <a:xfrm>
            <a:off x="488379" y="1515814"/>
            <a:ext cx="3564731" cy="304949"/>
          </a:xfrm>
          <a:prstGeom prst="rect">
            <a:avLst/>
          </a:prstGeom>
          <a:noFill/>
          <a:ln/>
        </p:spPr>
        <p:txBody>
          <a:bodyPr wrap="square" lIns="0" tIns="0" rIns="0" bIns="0" rtlCol="0" anchor="t"/>
          <a:lstStyle/>
          <a:p>
            <a:pPr algn="r" indent="0" marL="0">
              <a:lnSpc>
                <a:spcPts val="1200"/>
              </a:lnSpc>
              <a:buNone/>
            </a:pPr>
            <a:r>
              <a:rPr lang="en-US" sz="800" dirty="0">
                <a:solidFill>
                  <a:srgbClr val="3B3535"/>
                </a:solidFill>
                <a:latin typeface="Inter" pitchFamily="34" charset="0"/>
                <a:ea typeface="Inter" pitchFamily="34" charset="-122"/>
                <a:cs typeface="Inter" pitchFamily="34" charset="-120"/>
              </a:rPr>
              <a:t>la-north-2 provisionada con Terraform. 4 módulos core activos y listos para escalar.</a:t>
            </a:r>
            <a:endParaRPr lang="en-US" sz="800" dirty="0"/>
          </a:p>
        </p:txBody>
      </p:sp>
      <p:sp>
        <p:nvSpPr>
          <p:cNvPr id="10" name="Shape 8"/>
          <p:cNvSpPr/>
          <p:nvPr/>
        </p:nvSpPr>
        <p:spPr>
          <a:xfrm>
            <a:off x="4674468" y="1964457"/>
            <a:ext cx="311348" cy="14288"/>
          </a:xfrm>
          <a:prstGeom prst="roundRect">
            <a:avLst>
              <a:gd name="adj" fmla="val 39999"/>
            </a:avLst>
          </a:prstGeom>
          <a:solidFill>
            <a:srgbClr val="D8D4D4"/>
          </a:solidFill>
          <a:ln/>
        </p:spPr>
        <p:txBody>
          <a:bodyPr/>
          <a:p/>
        </p:txBody>
      </p:sp>
      <p:sp>
        <p:nvSpPr>
          <p:cNvPr id="11" name="Shape 9"/>
          <p:cNvSpPr/>
          <p:nvPr/>
        </p:nvSpPr>
        <p:spPr>
          <a:xfrm>
            <a:off x="4455244" y="1854845"/>
            <a:ext cx="233511" cy="233511"/>
          </a:xfrm>
          <a:prstGeom prst="roundRect">
            <a:avLst>
              <a:gd name="adj" fmla="val 2447"/>
            </a:avLst>
          </a:prstGeom>
          <a:solidFill>
            <a:srgbClr val="F2EEEE"/>
          </a:solidFill>
          <a:ln w="9525">
            <a:solidFill>
              <a:srgbClr val="D8D4D4"/>
            </a:solidFill>
            <a:prstDash val="solid"/>
          </a:ln>
        </p:spPr>
        <p:txBody>
          <a:bodyPr/>
          <a:p/>
        </p:txBody>
      </p:sp>
      <p:sp>
        <p:nvSpPr>
          <p:cNvPr id="12" name="Text 10"/>
          <p:cNvSpPr/>
          <p:nvPr/>
        </p:nvSpPr>
        <p:spPr>
          <a:xfrm>
            <a:off x="4494163" y="1874304"/>
            <a:ext cx="155674" cy="194593"/>
          </a:xfrm>
          <a:prstGeom prst="rect">
            <a:avLst/>
          </a:prstGeom>
          <a:noFill/>
          <a:ln/>
        </p:spPr>
        <p:txBody>
          <a:bodyPr wrap="none" lIns="0" tIns="0" rIns="0" bIns="0" rtlCol="0" anchor="ctr"/>
          <a:lstStyle/>
          <a:p>
            <a:pPr algn="ctr" indent="0" marL="0">
              <a:lnSpc>
                <a:spcPts val="1200"/>
              </a:lnSpc>
              <a:buNone/>
            </a:pPr>
            <a:r>
              <a:rPr lang="en-US" sz="1200" b="1" dirty="0">
                <a:solidFill>
                  <a:srgbClr val="3B3535"/>
                </a:solidFill>
                <a:latin typeface="Inter Bold" pitchFamily="34" charset="0"/>
                <a:ea typeface="Inter Bold" pitchFamily="34" charset="-122"/>
                <a:cs typeface="Inter Bold" pitchFamily="34" charset="-120"/>
              </a:rPr>
              <a:t>2</a:t>
            </a:r>
            <a:endParaRPr lang="en-US" sz="1200" dirty="0"/>
          </a:p>
        </p:txBody>
      </p:sp>
      <p:sp>
        <p:nvSpPr>
          <p:cNvPr id="13" name="Text 11"/>
          <p:cNvSpPr/>
          <p:nvPr/>
        </p:nvSpPr>
        <p:spPr>
          <a:xfrm>
            <a:off x="5090889" y="1890489"/>
            <a:ext cx="1690092" cy="162074"/>
          </a:xfrm>
          <a:prstGeom prst="rect">
            <a:avLst/>
          </a:prstGeom>
          <a:noFill/>
          <a:ln/>
        </p:spPr>
        <p:txBody>
          <a:bodyPr wrap="none" lIns="0" tIns="0" rIns="0" bIns="0" rtlCol="0" anchor="t"/>
          <a:lstStyle/>
          <a:p>
            <a:pPr algn="l" indent="0" marL="0">
              <a:lnSpc>
                <a:spcPts val="1250"/>
              </a:lnSpc>
              <a:buNone/>
            </a:pPr>
            <a:r>
              <a:rPr lang="en-US" sz="1000" b="1" dirty="0">
                <a:solidFill>
                  <a:srgbClr val="3B3535"/>
                </a:solidFill>
                <a:latin typeface="Inter Bold" pitchFamily="34" charset="0"/>
                <a:ea typeface="Inter Bold" pitchFamily="34" charset="-122"/>
                <a:cs typeface="Inter Bold" pitchFamily="34" charset="-120"/>
              </a:rPr>
              <a:t>Datos Sintéticos Validados</a:t>
            </a:r>
            <a:endParaRPr lang="en-US" sz="1000" dirty="0"/>
          </a:p>
        </p:txBody>
      </p:sp>
      <p:sp>
        <p:nvSpPr>
          <p:cNvPr id="14" name="Text 12"/>
          <p:cNvSpPr/>
          <p:nvPr/>
        </p:nvSpPr>
        <p:spPr>
          <a:xfrm>
            <a:off x="5090889" y="2104653"/>
            <a:ext cx="3564731" cy="304949"/>
          </a:xfrm>
          <a:prstGeom prst="rect">
            <a:avLst/>
          </a:prstGeom>
          <a:noFill/>
          <a:ln/>
        </p:spPr>
        <p:txBody>
          <a:bodyPr wrap="square" lIns="0" tIns="0" rIns="0" bIns="0" rtlCol="0" anchor="t"/>
          <a:lstStyle/>
          <a:p>
            <a:pPr algn="l" indent="0" marL="0">
              <a:lnSpc>
                <a:spcPts val="1200"/>
              </a:lnSpc>
              <a:buNone/>
            </a:pPr>
            <a:r>
              <a:rPr lang="en-US" sz="800" dirty="0">
                <a:solidFill>
                  <a:srgbClr val="3B3535"/>
                </a:solidFill>
                <a:latin typeface="Inter" pitchFamily="34" charset="0"/>
                <a:ea typeface="Inter" pitchFamily="34" charset="-122"/>
                <a:cs typeface="Inter" pitchFamily="34" charset="-120"/>
              </a:rPr>
              <a:t>24 contratos activos y 5,000 transacciones generadas para validar el pipeline completo.</a:t>
            </a:r>
            <a:endParaRPr lang="en-US" sz="800" dirty="0"/>
          </a:p>
        </p:txBody>
      </p:sp>
      <p:sp>
        <p:nvSpPr>
          <p:cNvPr id="15" name="Shape 13"/>
          <p:cNvSpPr/>
          <p:nvPr/>
        </p:nvSpPr>
        <p:spPr>
          <a:xfrm>
            <a:off x="4158183" y="2484239"/>
            <a:ext cx="311348" cy="14288"/>
          </a:xfrm>
          <a:prstGeom prst="roundRect">
            <a:avLst>
              <a:gd name="adj" fmla="val 39999"/>
            </a:avLst>
          </a:prstGeom>
          <a:solidFill>
            <a:srgbClr val="D8D4D4"/>
          </a:solidFill>
          <a:ln/>
        </p:spPr>
        <p:txBody>
          <a:bodyPr/>
          <a:p/>
        </p:txBody>
      </p:sp>
      <p:sp>
        <p:nvSpPr>
          <p:cNvPr id="16" name="Shape 14"/>
          <p:cNvSpPr/>
          <p:nvPr/>
        </p:nvSpPr>
        <p:spPr>
          <a:xfrm>
            <a:off x="4455244" y="2374627"/>
            <a:ext cx="233511" cy="233511"/>
          </a:xfrm>
          <a:prstGeom prst="roundRect">
            <a:avLst>
              <a:gd name="adj" fmla="val 2447"/>
            </a:avLst>
          </a:prstGeom>
          <a:solidFill>
            <a:srgbClr val="F2EEEE"/>
          </a:solidFill>
          <a:ln w="9525">
            <a:solidFill>
              <a:srgbClr val="D8D4D4"/>
            </a:solidFill>
            <a:prstDash val="solid"/>
          </a:ln>
        </p:spPr>
        <p:txBody>
          <a:bodyPr/>
          <a:p/>
        </p:txBody>
      </p:sp>
      <p:sp>
        <p:nvSpPr>
          <p:cNvPr id="17" name="Text 15"/>
          <p:cNvSpPr/>
          <p:nvPr/>
        </p:nvSpPr>
        <p:spPr>
          <a:xfrm>
            <a:off x="4494163" y="2394086"/>
            <a:ext cx="155674" cy="194593"/>
          </a:xfrm>
          <a:prstGeom prst="rect">
            <a:avLst/>
          </a:prstGeom>
          <a:noFill/>
          <a:ln/>
        </p:spPr>
        <p:txBody>
          <a:bodyPr wrap="none" lIns="0" tIns="0" rIns="0" bIns="0" rtlCol="0" anchor="ctr"/>
          <a:lstStyle/>
          <a:p>
            <a:pPr algn="ctr" indent="0" marL="0">
              <a:lnSpc>
                <a:spcPts val="1200"/>
              </a:lnSpc>
              <a:buNone/>
            </a:pPr>
            <a:r>
              <a:rPr lang="en-US" sz="1200" b="1" dirty="0">
                <a:solidFill>
                  <a:srgbClr val="3B3535"/>
                </a:solidFill>
                <a:latin typeface="Inter Bold" pitchFamily="34" charset="0"/>
                <a:ea typeface="Inter Bold" pitchFamily="34" charset="-122"/>
                <a:cs typeface="Inter Bold" pitchFamily="34" charset="-120"/>
              </a:rPr>
              <a:t>3</a:t>
            </a:r>
            <a:endParaRPr lang="en-US" sz="1200" dirty="0"/>
          </a:p>
        </p:txBody>
      </p:sp>
      <p:sp>
        <p:nvSpPr>
          <p:cNvPr id="18" name="Text 16"/>
          <p:cNvSpPr/>
          <p:nvPr/>
        </p:nvSpPr>
        <p:spPr>
          <a:xfrm>
            <a:off x="2701082" y="2410271"/>
            <a:ext cx="1352029" cy="162074"/>
          </a:xfrm>
          <a:prstGeom prst="rect">
            <a:avLst/>
          </a:prstGeom>
          <a:noFill/>
          <a:ln/>
        </p:spPr>
        <p:txBody>
          <a:bodyPr wrap="none" lIns="0" tIns="0" rIns="0" bIns="0" rtlCol="0" anchor="t"/>
          <a:lstStyle/>
          <a:p>
            <a:pPr algn="r" indent="0" marL="0">
              <a:lnSpc>
                <a:spcPts val="1250"/>
              </a:lnSpc>
              <a:buNone/>
            </a:pPr>
            <a:r>
              <a:rPr lang="en-US" sz="1000" b="1" dirty="0">
                <a:solidFill>
                  <a:srgbClr val="3B3535"/>
                </a:solidFill>
                <a:latin typeface="Inter Bold" pitchFamily="34" charset="0"/>
                <a:ea typeface="Inter Bold" pitchFamily="34" charset="-122"/>
                <a:cs typeface="Inter Bold" pitchFamily="34" charset="-120"/>
              </a:rPr>
              <a:t>3 Demos Funcionales</a:t>
            </a:r>
            <a:endParaRPr lang="en-US" sz="1000" dirty="0"/>
          </a:p>
        </p:txBody>
      </p:sp>
      <p:sp>
        <p:nvSpPr>
          <p:cNvPr id="19" name="Text 17"/>
          <p:cNvSpPr/>
          <p:nvPr/>
        </p:nvSpPr>
        <p:spPr>
          <a:xfrm>
            <a:off x="488379" y="2624435"/>
            <a:ext cx="3564731" cy="304949"/>
          </a:xfrm>
          <a:prstGeom prst="rect">
            <a:avLst/>
          </a:prstGeom>
          <a:noFill/>
          <a:ln/>
        </p:spPr>
        <p:txBody>
          <a:bodyPr wrap="square" lIns="0" tIns="0" rIns="0" bIns="0" rtlCol="0" anchor="t"/>
          <a:lstStyle/>
          <a:p>
            <a:pPr algn="r" indent="0" marL="0">
              <a:lnSpc>
                <a:spcPts val="1200"/>
              </a:lnSpc>
              <a:buNone/>
            </a:pPr>
            <a:r>
              <a:rPr lang="en-US" sz="800" dirty="0">
                <a:solidFill>
                  <a:srgbClr val="3B3535"/>
                </a:solidFill>
                <a:latin typeface="Inter" pitchFamily="34" charset="0"/>
                <a:ea typeface="Inter" pitchFamily="34" charset="-122"/>
                <a:cs typeface="Inter" pitchFamily="34" charset="-120"/>
              </a:rPr>
              <a:t>Script de 45 minutos preparado: Risk Scoring, Data Governance y Chatbot RAG en vivo.</a:t>
            </a:r>
            <a:endParaRPr lang="en-US" sz="800" dirty="0"/>
          </a:p>
        </p:txBody>
      </p:sp>
      <p:sp>
        <p:nvSpPr>
          <p:cNvPr id="20" name="Shape 18"/>
          <p:cNvSpPr/>
          <p:nvPr/>
        </p:nvSpPr>
        <p:spPr>
          <a:xfrm>
            <a:off x="4674468" y="3004096"/>
            <a:ext cx="311348" cy="14288"/>
          </a:xfrm>
          <a:prstGeom prst="roundRect">
            <a:avLst>
              <a:gd name="adj" fmla="val 39999"/>
            </a:avLst>
          </a:prstGeom>
          <a:solidFill>
            <a:srgbClr val="D8D4D4"/>
          </a:solidFill>
          <a:ln/>
        </p:spPr>
        <p:txBody>
          <a:bodyPr/>
          <a:p/>
        </p:txBody>
      </p:sp>
      <p:sp>
        <p:nvSpPr>
          <p:cNvPr id="21" name="Shape 19"/>
          <p:cNvSpPr/>
          <p:nvPr/>
        </p:nvSpPr>
        <p:spPr>
          <a:xfrm>
            <a:off x="4455244" y="2894484"/>
            <a:ext cx="233511" cy="233511"/>
          </a:xfrm>
          <a:prstGeom prst="roundRect">
            <a:avLst>
              <a:gd name="adj" fmla="val 2447"/>
            </a:avLst>
          </a:prstGeom>
          <a:solidFill>
            <a:srgbClr val="F2EEEE"/>
          </a:solidFill>
          <a:ln w="9525">
            <a:solidFill>
              <a:srgbClr val="D8D4D4"/>
            </a:solidFill>
            <a:prstDash val="solid"/>
          </a:ln>
        </p:spPr>
        <p:txBody>
          <a:bodyPr/>
          <a:p/>
        </p:txBody>
      </p:sp>
      <p:sp>
        <p:nvSpPr>
          <p:cNvPr id="22" name="Text 20"/>
          <p:cNvSpPr/>
          <p:nvPr/>
        </p:nvSpPr>
        <p:spPr>
          <a:xfrm>
            <a:off x="4494163" y="2913943"/>
            <a:ext cx="155674" cy="194593"/>
          </a:xfrm>
          <a:prstGeom prst="rect">
            <a:avLst/>
          </a:prstGeom>
          <a:noFill/>
          <a:ln/>
        </p:spPr>
        <p:txBody>
          <a:bodyPr wrap="none" lIns="0" tIns="0" rIns="0" bIns="0" rtlCol="0" anchor="ctr"/>
          <a:lstStyle/>
          <a:p>
            <a:pPr algn="ctr" indent="0" marL="0">
              <a:lnSpc>
                <a:spcPts val="1200"/>
              </a:lnSpc>
              <a:buNone/>
            </a:pPr>
            <a:r>
              <a:rPr lang="en-US" sz="1200" b="1" dirty="0">
                <a:solidFill>
                  <a:srgbClr val="3B3535"/>
                </a:solidFill>
                <a:latin typeface="Inter Bold" pitchFamily="34" charset="0"/>
                <a:ea typeface="Inter Bold" pitchFamily="34" charset="-122"/>
                <a:cs typeface="Inter Bold" pitchFamily="34" charset="-120"/>
              </a:rPr>
              <a:t>4</a:t>
            </a:r>
            <a:endParaRPr lang="en-US" sz="1200" dirty="0"/>
          </a:p>
        </p:txBody>
      </p:sp>
      <p:sp>
        <p:nvSpPr>
          <p:cNvPr id="23" name="Text 21"/>
          <p:cNvSpPr/>
          <p:nvPr/>
        </p:nvSpPr>
        <p:spPr>
          <a:xfrm>
            <a:off x="5090889" y="2930128"/>
            <a:ext cx="1346746" cy="162074"/>
          </a:xfrm>
          <a:prstGeom prst="rect">
            <a:avLst/>
          </a:prstGeom>
          <a:noFill/>
          <a:ln/>
        </p:spPr>
        <p:txBody>
          <a:bodyPr wrap="none" lIns="0" tIns="0" rIns="0" bIns="0" rtlCol="0" anchor="t"/>
          <a:lstStyle/>
          <a:p>
            <a:pPr algn="l" indent="0" marL="0">
              <a:lnSpc>
                <a:spcPts val="1250"/>
              </a:lnSpc>
              <a:buNone/>
            </a:pPr>
            <a:r>
              <a:rPr lang="en-US" sz="1000" b="1" dirty="0">
                <a:solidFill>
                  <a:srgbClr val="3B3535"/>
                </a:solidFill>
                <a:latin typeface="Inter Bold" pitchFamily="34" charset="0"/>
                <a:ea typeface="Inter Bold" pitchFamily="34" charset="-122"/>
                <a:cs typeface="Inter Bold" pitchFamily="34" charset="-120"/>
              </a:rPr>
              <a:t>Workshop Presencial</a:t>
            </a:r>
            <a:endParaRPr lang="en-US" sz="1000" dirty="0"/>
          </a:p>
        </p:txBody>
      </p:sp>
      <p:sp>
        <p:nvSpPr>
          <p:cNvPr id="24" name="Text 22"/>
          <p:cNvSpPr/>
          <p:nvPr/>
        </p:nvSpPr>
        <p:spPr>
          <a:xfrm>
            <a:off x="5090889" y="3144292"/>
            <a:ext cx="3564731" cy="304949"/>
          </a:xfrm>
          <a:prstGeom prst="rect">
            <a:avLst/>
          </a:prstGeom>
          <a:noFill/>
          <a:ln/>
        </p:spPr>
        <p:txBody>
          <a:bodyPr wrap="square" lIns="0" tIns="0" rIns="0" bIns="0" rtlCol="0" anchor="t"/>
          <a:lstStyle/>
          <a:p>
            <a:pPr algn="l" indent="0" marL="0">
              <a:lnSpc>
                <a:spcPts val="1200"/>
              </a:lnSpc>
              <a:buNone/>
            </a:pPr>
            <a:r>
              <a:rPr lang="en-US" sz="800" b="1" dirty="0">
                <a:solidFill>
                  <a:srgbClr val="3B3535"/>
                </a:solidFill>
                <a:latin typeface="Inter" pitchFamily="34" charset="0"/>
                <a:ea typeface="Inter" pitchFamily="34" charset="-122"/>
                <a:cs typeface="Inter" pitchFamily="34" charset="-120"/>
              </a:rPr>
              <a:t>8 de mayo — Mexico Century Plaza.</a:t>
            </a:r>
            <a:pPr algn="l" indent="0" marL="0">
              <a:lnSpc>
                <a:spcPts val="1200"/>
              </a:lnSpc>
              <a:buNone/>
            </a:pPr>
            <a:r>
              <a:rPr lang="en-US" sz="800" dirty="0">
                <a:solidFill>
                  <a:srgbClr val="3B3535"/>
                </a:solidFill>
                <a:latin typeface="Inter" pitchFamily="34" charset="0"/>
                <a:ea typeface="Inter" pitchFamily="34" charset="-122"/>
                <a:cs typeface="Inter" pitchFamily="34" charset="-120"/>
              </a:rPr>
              <a:t> Demo en vivo para directores de tecnología y cumplimiento.</a:t>
            </a:r>
            <a:endParaRPr lang="en-US" sz="800" dirty="0"/>
          </a:p>
        </p:txBody>
      </p:sp>
      <p:sp>
        <p:nvSpPr>
          <p:cNvPr id="25" name="Shape 23"/>
          <p:cNvSpPr/>
          <p:nvPr/>
        </p:nvSpPr>
        <p:spPr>
          <a:xfrm>
            <a:off x="4158183" y="3523952"/>
            <a:ext cx="311348" cy="14288"/>
          </a:xfrm>
          <a:prstGeom prst="roundRect">
            <a:avLst>
              <a:gd name="adj" fmla="val 39999"/>
            </a:avLst>
          </a:prstGeom>
          <a:solidFill>
            <a:srgbClr val="D8D4D4"/>
          </a:solidFill>
          <a:ln/>
        </p:spPr>
        <p:txBody>
          <a:bodyPr/>
          <a:p/>
        </p:txBody>
      </p:sp>
      <p:sp>
        <p:nvSpPr>
          <p:cNvPr id="26" name="Shape 24"/>
          <p:cNvSpPr/>
          <p:nvPr/>
        </p:nvSpPr>
        <p:spPr>
          <a:xfrm>
            <a:off x="4455244" y="3414340"/>
            <a:ext cx="233511" cy="233511"/>
          </a:xfrm>
          <a:prstGeom prst="roundRect">
            <a:avLst>
              <a:gd name="adj" fmla="val 2447"/>
            </a:avLst>
          </a:prstGeom>
          <a:solidFill>
            <a:srgbClr val="F2EEEE"/>
          </a:solidFill>
          <a:ln w="9525">
            <a:solidFill>
              <a:srgbClr val="D8D4D4"/>
            </a:solidFill>
            <a:prstDash val="solid"/>
          </a:ln>
        </p:spPr>
        <p:txBody>
          <a:bodyPr/>
          <a:p/>
        </p:txBody>
      </p:sp>
      <p:sp>
        <p:nvSpPr>
          <p:cNvPr id="27" name="Text 25"/>
          <p:cNvSpPr/>
          <p:nvPr/>
        </p:nvSpPr>
        <p:spPr>
          <a:xfrm>
            <a:off x="4494163" y="3433800"/>
            <a:ext cx="155674" cy="194593"/>
          </a:xfrm>
          <a:prstGeom prst="rect">
            <a:avLst/>
          </a:prstGeom>
          <a:noFill/>
          <a:ln/>
        </p:spPr>
        <p:txBody>
          <a:bodyPr wrap="none" lIns="0" tIns="0" rIns="0" bIns="0" rtlCol="0" anchor="ctr"/>
          <a:lstStyle/>
          <a:p>
            <a:pPr algn="ctr" indent="0" marL="0">
              <a:lnSpc>
                <a:spcPts val="1200"/>
              </a:lnSpc>
              <a:buNone/>
            </a:pPr>
            <a:r>
              <a:rPr lang="en-US" sz="1200" b="1" dirty="0">
                <a:solidFill>
                  <a:srgbClr val="3B3535"/>
                </a:solidFill>
                <a:latin typeface="Inter Bold" pitchFamily="34" charset="0"/>
                <a:ea typeface="Inter Bold" pitchFamily="34" charset="-122"/>
                <a:cs typeface="Inter Bold" pitchFamily="34" charset="-120"/>
              </a:rPr>
              <a:t>5</a:t>
            </a:r>
            <a:endParaRPr lang="en-US" sz="1200" dirty="0"/>
          </a:p>
        </p:txBody>
      </p:sp>
      <p:sp>
        <p:nvSpPr>
          <p:cNvPr id="28" name="Text 26"/>
          <p:cNvSpPr/>
          <p:nvPr/>
        </p:nvSpPr>
        <p:spPr>
          <a:xfrm>
            <a:off x="2755776" y="3449985"/>
            <a:ext cx="1297335" cy="162074"/>
          </a:xfrm>
          <a:prstGeom prst="rect">
            <a:avLst/>
          </a:prstGeom>
          <a:noFill/>
          <a:ln/>
        </p:spPr>
        <p:txBody>
          <a:bodyPr wrap="none" lIns="0" tIns="0" rIns="0" bIns="0" rtlCol="0" anchor="t"/>
          <a:lstStyle/>
          <a:p>
            <a:pPr algn="r" indent="0" marL="0">
              <a:lnSpc>
                <a:spcPts val="1250"/>
              </a:lnSpc>
              <a:buNone/>
            </a:pPr>
            <a:r>
              <a:rPr lang="en-US" sz="1000" b="1" dirty="0">
                <a:solidFill>
                  <a:srgbClr val="3B3535"/>
                </a:solidFill>
                <a:latin typeface="Inter Bold" pitchFamily="34" charset="0"/>
                <a:ea typeface="Inter Bold" pitchFamily="34" charset="-122"/>
                <a:cs typeface="Inter Bold" pitchFamily="34" charset="-120"/>
              </a:rPr>
              <a:t>Plan de Producción</a:t>
            </a:r>
            <a:endParaRPr lang="en-US" sz="1000" dirty="0"/>
          </a:p>
        </p:txBody>
      </p:sp>
      <p:sp>
        <p:nvSpPr>
          <p:cNvPr id="29" name="Text 27"/>
          <p:cNvSpPr/>
          <p:nvPr/>
        </p:nvSpPr>
        <p:spPr>
          <a:xfrm>
            <a:off x="488379" y="3664148"/>
            <a:ext cx="3564731" cy="304949"/>
          </a:xfrm>
          <a:prstGeom prst="rect">
            <a:avLst/>
          </a:prstGeom>
          <a:noFill/>
          <a:ln/>
        </p:spPr>
        <p:txBody>
          <a:bodyPr wrap="square" lIns="0" tIns="0" rIns="0" bIns="0" rtlCol="0" anchor="t"/>
          <a:lstStyle/>
          <a:p>
            <a:pPr algn="r" indent="0" marL="0">
              <a:lnSpc>
                <a:spcPts val="1200"/>
              </a:lnSpc>
              <a:buNone/>
            </a:pPr>
            <a:r>
              <a:rPr lang="en-US" sz="800" dirty="0">
                <a:solidFill>
                  <a:srgbClr val="3B3535"/>
                </a:solidFill>
                <a:latin typeface="Inter" pitchFamily="34" charset="0"/>
                <a:ea typeface="Inter" pitchFamily="34" charset="-122"/>
                <a:cs typeface="Inter" pitchFamily="34" charset="-120"/>
              </a:rPr>
              <a:t>Escalar a datos reales de AYCO. Definir alcance, integraciones y roadmap de despliegue productivo.</a:t>
            </a:r>
            <a:endParaRPr lang="en-US" sz="800" dirty="0"/>
          </a:p>
        </p:txBody>
      </p:sp>
      <p:sp>
        <p:nvSpPr>
          <p:cNvPr id="30" name="Shape 28"/>
          <p:cNvSpPr/>
          <p:nvPr/>
        </p:nvSpPr>
        <p:spPr>
          <a:xfrm>
            <a:off x="488379" y="4378003"/>
            <a:ext cx="8167241" cy="399976"/>
          </a:xfrm>
          <a:prstGeom prst="roundRect">
            <a:avLst>
              <a:gd name="adj" fmla="val 1429"/>
            </a:avLst>
          </a:prstGeom>
          <a:solidFill>
            <a:srgbClr val="B6D6FC"/>
          </a:solidFill>
          <a:ln/>
        </p:spPr>
        <p:txBody>
          <a:bodyPr/>
          <a:p/>
        </p:txBody>
      </p:sp>
      <p:pic>
        <p:nvPicPr>
          <p:cNvPr id="31" name="Image 0" descr="preencoded.png">    </p:cNvPr>
          <p:cNvPicPr>
            <a:picLocks noChangeAspect="1"/>
          </p:cNvPicPr>
          <p:nvPr/>
        </p:nvPicPr>
        <p:blipFill>
          <a:blip r:embed="rId1"/>
          <a:stretch>
            <a:fillRect/>
          </a:stretch>
        </p:blipFill>
        <p:spPr>
          <a:xfrm>
            <a:off x="592113" y="4531147"/>
            <a:ext cx="129704" cy="103733"/>
          </a:xfrm>
          <a:prstGeom prst="rect">
            <a:avLst/>
          </a:prstGeom>
        </p:spPr>
      </p:pic>
      <p:sp>
        <p:nvSpPr>
          <p:cNvPr id="32" name="Text 29"/>
          <p:cNvSpPr/>
          <p:nvPr/>
        </p:nvSpPr>
        <p:spPr>
          <a:xfrm>
            <a:off x="825550" y="4490740"/>
            <a:ext cx="7726338" cy="157237"/>
          </a:xfrm>
          <a:prstGeom prst="rect">
            <a:avLst/>
          </a:prstGeom>
          <a:noFill/>
          <a:ln/>
        </p:spPr>
        <p:txBody>
          <a:bodyPr wrap="none" lIns="0" tIns="0" rIns="0" bIns="0" rtlCol="0" anchor="t"/>
          <a:lstStyle/>
          <a:p>
            <a:pPr algn="l" indent="0" marL="0">
              <a:lnSpc>
                <a:spcPts val="1200"/>
              </a:lnSpc>
              <a:buNone/>
            </a:pPr>
            <a:r>
              <a:rPr lang="en-US" sz="800" dirty="0">
                <a:solidFill>
                  <a:srgbClr val="000000"/>
                </a:solidFill>
                <a:latin typeface="Inter" pitchFamily="34" charset="0"/>
                <a:ea typeface="Inter" pitchFamily="34" charset="-122"/>
                <a:cs typeface="Inter" pitchFamily="34" charset="-120"/>
              </a:rPr>
              <a:t>📅</a:t>
            </a:r>
            <a:pPr algn="l" indent="0" marL="0">
              <a:lnSpc>
                <a:spcPts val="1200"/>
              </a:lnSpc>
              <a:buNone/>
            </a:pPr>
            <a:r>
              <a:rPr lang="en-US" sz="800" dirty="0">
                <a:solidFill>
                  <a:srgbClr val="000000"/>
                </a:solidFill>
                <a:latin typeface="Inter" pitchFamily="34" charset="0"/>
                <a:ea typeface="Inter" pitchFamily="34" charset="-122"/>
                <a:cs typeface="Inter" pitchFamily="34" charset="-120"/>
              </a:rPr>
              <a:t> </a:t>
            </a:r>
            <a:pPr algn="l" indent="0" marL="0">
              <a:lnSpc>
                <a:spcPts val="1200"/>
              </a:lnSpc>
              <a:buNone/>
            </a:pPr>
            <a:r>
              <a:rPr lang="en-US" sz="800" b="1" dirty="0">
                <a:solidFill>
                  <a:srgbClr val="000000"/>
                </a:solidFill>
                <a:latin typeface="Inter" pitchFamily="34" charset="0"/>
                <a:ea typeface="Inter" pitchFamily="34" charset="-122"/>
                <a:cs typeface="Inter" pitchFamily="34" charset="-120"/>
              </a:rPr>
              <a:t>13 de mayo, 2026 — Mexico Century Plaza.</a:t>
            </a:r>
            <a:pPr algn="l" indent="0" marL="0">
              <a:lnSpc>
                <a:spcPts val="1200"/>
              </a:lnSpc>
              <a:buNone/>
            </a:pPr>
            <a:r>
              <a:rPr lang="en-US" sz="800" dirty="0">
                <a:solidFill>
                  <a:srgbClr val="000000"/>
                </a:solidFill>
                <a:latin typeface="Inter" pitchFamily="34" charset="0"/>
                <a:ea typeface="Inter" pitchFamily="34" charset="-122"/>
                <a:cs typeface="Inter" pitchFamily="34" charset="-120"/>
              </a:rPr>
              <a:t> Workshop presencial con demo en vivo de las 3 soluciones.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738039"/>
            <a:ext cx="4722763" cy="1016496"/>
          </a:xfrm>
          <a:prstGeom prst="rect">
            <a:avLst/>
          </a:prstGeom>
          <a:noFill/>
          <a:ln/>
        </p:spPr>
        <p:txBody>
          <a:bodyPr wrap="square" lIns="0" tIns="0" rIns="0" bIns="0" rtlCol="0" anchor="t"/>
          <a:lstStyle/>
          <a:p>
            <a:pPr algn="ctr" indent="0" marL="0">
              <a:lnSpc>
                <a:spcPts val="4000"/>
              </a:lnSpc>
              <a:buNone/>
            </a:pPr>
            <a:r>
              <a:rPr lang="en-US" sz="3200" b="1" dirty="0">
                <a:solidFill>
                  <a:srgbClr val="1F1E1E"/>
                </a:solidFill>
                <a:latin typeface="Inter Bold" pitchFamily="34" charset="0"/>
                <a:ea typeface="Inter Bold" pitchFamily="34" charset="-122"/>
                <a:cs typeface="Inter Bold" pitchFamily="34" charset="-120"/>
              </a:rPr>
              <a:t>"Esto no es tecnología. Es velocidad."</a:t>
            </a:r>
            <a:endParaRPr lang="en-US" sz="3200" dirty="0"/>
          </a:p>
        </p:txBody>
      </p:sp>
      <p:sp>
        <p:nvSpPr>
          <p:cNvPr id="4" name="Text 1"/>
          <p:cNvSpPr/>
          <p:nvPr/>
        </p:nvSpPr>
        <p:spPr>
          <a:xfrm>
            <a:off x="3925119" y="1922413"/>
            <a:ext cx="4722763" cy="551631"/>
          </a:xfrm>
          <a:prstGeom prst="rect">
            <a:avLst/>
          </a:prstGeom>
          <a:noFill/>
          <a:ln/>
        </p:spPr>
        <p:txBody>
          <a:bodyPr wrap="square" lIns="0" tIns="0" rIns="0" bIns="0" rtlCol="0" anchor="t"/>
          <a:lstStyle/>
          <a:p>
            <a:pPr algn="ctr" indent="0" marL="0">
              <a:lnSpc>
                <a:spcPts val="1400"/>
              </a:lnSpc>
              <a:buNone/>
            </a:pPr>
            <a:r>
              <a:rPr lang="en-US" sz="900" dirty="0">
                <a:solidFill>
                  <a:srgbClr val="3B3535"/>
                </a:solidFill>
                <a:latin typeface="Inter" pitchFamily="34" charset="0"/>
                <a:ea typeface="Inter" pitchFamily="34" charset="-122"/>
                <a:cs typeface="Inter" pitchFamily="34" charset="-120"/>
              </a:rPr>
              <a:t>La ventaja competitiva en la industria automotriz no se gana con más personas revisando contratos — se gana con inteligencia que trabaja en segundos, no en semanas.</a:t>
            </a:r>
            <a:endParaRPr lang="en-US" sz="900" dirty="0"/>
          </a:p>
        </p:txBody>
      </p:sp>
      <p:sp>
        <p:nvSpPr>
          <p:cNvPr id="5" name="Shape 2"/>
          <p:cNvSpPr/>
          <p:nvPr/>
        </p:nvSpPr>
        <p:spPr>
          <a:xfrm>
            <a:off x="3925119" y="2629346"/>
            <a:ext cx="4722763" cy="8781"/>
          </a:xfrm>
          <a:prstGeom prst="rect">
            <a:avLst/>
          </a:prstGeom>
          <a:solidFill>
            <a:srgbClr val="3B3535">
              <a:alpha val="50000"/>
            </a:srgbClr>
          </a:solidFill>
          <a:ln/>
        </p:spPr>
        <p:txBody>
          <a:bodyPr/>
          <a:p/>
        </p:txBody>
      </p:sp>
      <p:sp>
        <p:nvSpPr>
          <p:cNvPr id="6" name="Shape 3"/>
          <p:cNvSpPr/>
          <p:nvPr/>
        </p:nvSpPr>
        <p:spPr>
          <a:xfrm>
            <a:off x="3840212" y="2793429"/>
            <a:ext cx="2387426" cy="1612032"/>
          </a:xfrm>
          <a:prstGeom prst="roundRect">
            <a:avLst>
              <a:gd name="adj" fmla="val 355"/>
            </a:avLst>
          </a:prstGeom>
          <a:solidFill>
            <a:srgbClr val="DA1B2E"/>
          </a:solidFill>
          <a:ln/>
        </p:spPr>
        <p:txBody>
          <a:bodyPr/>
          <a:p/>
        </p:txBody>
      </p:sp>
      <p:sp>
        <p:nvSpPr>
          <p:cNvPr id="7" name="Text 4"/>
          <p:cNvSpPr/>
          <p:nvPr/>
        </p:nvSpPr>
        <p:spPr>
          <a:xfrm>
            <a:off x="3958010" y="2905348"/>
            <a:ext cx="2048917" cy="184175"/>
          </a:xfrm>
          <a:prstGeom prst="rect">
            <a:avLst/>
          </a:prstGeom>
          <a:noFill/>
          <a:ln/>
        </p:spPr>
        <p:txBody>
          <a:bodyPr wrap="none" lIns="0" tIns="0" rIns="0" bIns="0" rtlCol="0" anchor="t"/>
          <a:lstStyle/>
          <a:p>
            <a:pPr algn="l" indent="0" marL="0">
              <a:lnSpc>
                <a:spcPts val="1400"/>
              </a:lnSpc>
              <a:buNone/>
            </a:pPr>
            <a:r>
              <a:rPr lang="en-US" sz="1150" b="1" dirty="0">
                <a:solidFill>
                  <a:srgbClr val="FFFFFF"/>
                </a:solidFill>
                <a:latin typeface="Inter Bold" pitchFamily="34" charset="0"/>
                <a:ea typeface="Inter Bold" pitchFamily="34" charset="-122"/>
                <a:cs typeface="Inter Bold" pitchFamily="34" charset="-120"/>
              </a:rPr>
              <a:t>Eduardo Hernández Cansino</a:t>
            </a:r>
            <a:endParaRPr lang="en-US" sz="1150" dirty="0"/>
          </a:p>
        </p:txBody>
      </p:sp>
      <p:sp>
        <p:nvSpPr>
          <p:cNvPr id="8" name="Text 5"/>
          <p:cNvSpPr/>
          <p:nvPr/>
        </p:nvSpPr>
        <p:spPr>
          <a:xfrm>
            <a:off x="3958010" y="3201442"/>
            <a:ext cx="2151831" cy="367754"/>
          </a:xfrm>
          <a:prstGeom prst="rect">
            <a:avLst/>
          </a:prstGeom>
          <a:noFill/>
          <a:ln/>
        </p:spPr>
        <p:txBody>
          <a:bodyPr wrap="square" lIns="0" tIns="0" rIns="0" bIns="0" rtlCol="0" anchor="t"/>
          <a:lstStyle/>
          <a:p>
            <a:pPr algn="l" indent="0" marL="0">
              <a:lnSpc>
                <a:spcPts val="1400"/>
              </a:lnSpc>
              <a:buNone/>
            </a:pPr>
            <a:r>
              <a:rPr lang="en-US" sz="900" b="1" dirty="0">
                <a:solidFill>
                  <a:srgbClr val="FFFFFF"/>
                </a:solidFill>
                <a:latin typeface="Inter" pitchFamily="34" charset="0"/>
                <a:ea typeface="Inter" pitchFamily="34" charset="-122"/>
                <a:cs typeface="Inter" pitchFamily="34" charset="-120"/>
              </a:rPr>
              <a:t>CTO Operator — Huawei Cloud LATAM</a:t>
            </a:r>
            <a:endParaRPr lang="en-US" sz="900" dirty="0"/>
          </a:p>
        </p:txBody>
      </p:sp>
      <p:sp>
        <p:nvSpPr>
          <p:cNvPr id="9" name="Text 6"/>
          <p:cNvSpPr/>
          <p:nvPr/>
        </p:nvSpPr>
        <p:spPr>
          <a:xfrm>
            <a:off x="3958010" y="3669953"/>
            <a:ext cx="2151831" cy="183877"/>
          </a:xfrm>
          <a:prstGeom prst="rect">
            <a:avLst/>
          </a:prstGeom>
          <a:noFill/>
          <a:ln/>
        </p:spPr>
        <p:txBody>
          <a:bodyPr wrap="none" lIns="0" tIns="0" rIns="0" bIns="0" rtlCol="0" anchor="t"/>
          <a:lstStyle/>
          <a:p>
            <a:pPr algn="l" indent="0" marL="0">
              <a:lnSpc>
                <a:spcPts val="1400"/>
              </a:lnSpc>
              <a:buNone/>
            </a:pPr>
            <a:r>
              <a:rPr lang="en-US" sz="900" u="sng" dirty="0">
                <a:solidFill>
                  <a:srgbClr val="FFFFFF"/>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eduardo@bor.re</a:t>
            </a:r>
            <a:endParaRPr lang="en-US" sz="900" dirty="0"/>
          </a:p>
        </p:txBody>
      </p:sp>
      <p:sp>
        <p:nvSpPr>
          <p:cNvPr id="10" name="Text 7"/>
          <p:cNvSpPr/>
          <p:nvPr/>
        </p:nvSpPr>
        <p:spPr>
          <a:xfrm>
            <a:off x="6435030" y="2905348"/>
            <a:ext cx="2122884" cy="184175"/>
          </a:xfrm>
          <a:prstGeom prst="rect">
            <a:avLst/>
          </a:prstGeom>
          <a:noFill/>
          <a:ln/>
        </p:spPr>
        <p:txBody>
          <a:bodyPr wrap="none" lIns="0" tIns="0" rIns="0" bIns="0" rtlCol="0" anchor="t"/>
          <a:lstStyle/>
          <a:p>
            <a:pPr algn="l" indent="0" marL="0">
              <a:lnSpc>
                <a:spcPts val="1400"/>
              </a:lnSpc>
              <a:buNone/>
            </a:pPr>
            <a:r>
              <a:rPr lang="en-US" sz="1150" b="1" dirty="0">
                <a:solidFill>
                  <a:srgbClr val="1F1E1E"/>
                </a:solidFill>
                <a:latin typeface="Inter Bold" pitchFamily="34" charset="0"/>
                <a:ea typeface="Inter Bold" pitchFamily="34" charset="-122"/>
                <a:cs typeface="Inter Bold" pitchFamily="34" charset="-120"/>
              </a:rPr>
              <a:t>¿Listo para el siguiente paso?</a:t>
            </a:r>
            <a:endParaRPr lang="en-US" sz="1150" dirty="0"/>
          </a:p>
        </p:txBody>
      </p:sp>
      <p:sp>
        <p:nvSpPr>
          <p:cNvPr id="11" name="Text 8"/>
          <p:cNvSpPr/>
          <p:nvPr/>
        </p:nvSpPr>
        <p:spPr>
          <a:xfrm>
            <a:off x="6435030" y="3201442"/>
            <a:ext cx="2217613" cy="1103263"/>
          </a:xfrm>
          <a:prstGeom prst="rect">
            <a:avLst/>
          </a:prstGeom>
          <a:noFill/>
          <a:ln/>
        </p:spPr>
        <p:txBody>
          <a:bodyPr wrap="square" lIns="0" tIns="0" rIns="0" bIns="0" rtlCol="0" anchor="t"/>
          <a:lstStyle/>
          <a:p>
            <a:pPr algn="l" indent="0" marL="0">
              <a:lnSpc>
                <a:spcPts val="1400"/>
              </a:lnSpc>
              <a:buNone/>
            </a:pPr>
            <a:r>
              <a:rPr lang="en-US" sz="900" dirty="0">
                <a:solidFill>
                  <a:srgbClr val="3B3535"/>
                </a:solidFill>
                <a:latin typeface="Inter" pitchFamily="34" charset="0"/>
                <a:ea typeface="Inter" pitchFamily="34" charset="-122"/>
                <a:cs typeface="Inter" pitchFamily="34" charset="-120"/>
              </a:rPr>
              <a:t>Agendemos el workshop del </a:t>
            </a:r>
            <a:pPr algn="l" indent="0" marL="0">
              <a:lnSpc>
                <a:spcPts val="1400"/>
              </a:lnSpc>
              <a:buNone/>
            </a:pPr>
            <a:r>
              <a:rPr lang="en-US" sz="900" b="1" dirty="0">
                <a:solidFill>
                  <a:srgbClr val="3B3535"/>
                </a:solidFill>
                <a:latin typeface="Inter" pitchFamily="34" charset="0"/>
                <a:ea typeface="Inter" pitchFamily="34" charset="-122"/>
                <a:cs typeface="Inter" pitchFamily="34" charset="-120"/>
              </a:rPr>
              <a:t>8 de mayo en Mexico Century Plaza</a:t>
            </a:r>
            <a:pPr algn="l" indent="0" marL="0">
              <a:lnSpc>
                <a:spcPts val="1400"/>
              </a:lnSpc>
              <a:buNone/>
            </a:pPr>
            <a:r>
              <a:rPr lang="en-US" sz="900" dirty="0">
                <a:solidFill>
                  <a:srgbClr val="3B3535"/>
                </a:solidFill>
                <a:latin typeface="Inter" pitchFamily="34" charset="0"/>
                <a:ea typeface="Inter" pitchFamily="34" charset="-122"/>
                <a:cs typeface="Inter" pitchFamily="34" charset="-120"/>
              </a:rPr>
              <a:t> y demostremos en vivo cómo AYCO puede transformar su gestión contractual con IA y gobierno de datos sobre Huawei Cloud.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2026-05-05T18:09:37Z</dcterms:created>
  <dcterms:modified xsi:type="dcterms:W3CDTF">2026-05-05T18:09:37Z</dcterms:modified>
</cp:coreProperties>
</file>