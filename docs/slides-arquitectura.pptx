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wide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Block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lock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B6C9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Kicker"/>
          <p:cNvSpPr txBox="1"/>
          <p:nvPr/>
        </p:nvSpPr>
        <p:spPr>
          <a:xfrm>
            <a:off x="502920" y="25603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 lIns="73152" rIns="73152" tIns="73152" bIns="73152"/>
          <a:lstStyle/>
          <a:p>
            <a:pPr algn="l">
              <a:spcAft>
                <a:spcPts val="0"/>
              </a:spcAft>
            </a:pPr>
            <a:r>
              <a:rPr lang="es-MX" sz="850" b="1">
                <a:solidFill>
                  <a:srgbClr val="1FB6C9"/>
                </a:solidFill>
                <a:latin typeface="Aptos"/>
              </a:rPr>
              <a:t>AYCO CONTRACT RISK INTELLIGENCE PLATFORM</a:t>
            </a:r>
            <a:endParaRPr lang="es-MX" sz="850"/>
          </a:p>
        </p:txBody>
      </p:sp>
      <p:sp>
        <p:nvSpPr>
          <p:cNvPr id="5" name="Title"/>
          <p:cNvSpPr txBox="1"/>
          <p:nvPr/>
        </p:nvSpPr>
        <p:spPr>
          <a:xfrm>
            <a:off x="502920" y="502920"/>
            <a:ext cx="7955280" cy="566928"/>
          </a:xfrm>
          <a:prstGeom prst="rect">
            <a:avLst/>
          </a:prstGeom>
          <a:noFill/>
          <a:ln>
            <a:noFill/>
          </a:ln>
        </p:spPr>
        <p:txBody>
          <a:bodyPr wrap="square" anchor="mid" lIns="73152" rIns="73152" tIns="73152" bIns="73152"/>
          <a:lstStyle/>
          <a:p>
            <a:pPr algn="l">
              <a:spcAft>
                <a:spcPts val="0"/>
              </a:spcAft>
            </a:pPr>
            <a:r>
              <a:rPr lang="es-MX" sz="2500" b="1">
                <a:solidFill>
                  <a:srgbClr val="0B1728"/>
                </a:solidFill>
                <a:latin typeface="Aptos"/>
              </a:rPr>
              <a:t>De PDFs a inteligencia de riesgo gobernada</a:t>
            </a:r>
            <a:endParaRPr lang="es-MX" sz="2500"/>
          </a:p>
        </p:txBody>
      </p:sp>
      <p:sp>
        <p:nvSpPr>
          <p:cNvPr id="6" name="Text"/>
          <p:cNvSpPr txBox="1"/>
          <p:nvPr/>
        </p:nvSpPr>
        <p:spPr>
          <a:xfrm>
            <a:off x="530352" y="1261872"/>
            <a:ext cx="713232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op" lIns="73152" rIns="73152" tIns="73152" bIns="73152"/>
          <a:lstStyle/>
          <a:p>
            <a:pPr algn="l">
              <a:spcAft>
                <a:spcPts val="0"/>
              </a:spcAft>
            </a:pPr>
            <a:r>
              <a:rPr lang="es-MX" sz="1350">
                <a:solidFill>
                  <a:srgbClr val="12345A"/>
                </a:solidFill>
                <a:latin typeface="Aptos"/>
              </a:rPr>
              <a:t>Un demo ejecutivo: 24 contratos entran por OBS, la IA extrae obligaciones y el tablero prioriza riesgo financiero y cumplimiento en minutos.</a:t>
            </a:r>
            <a:endParaRPr lang="es-MX" sz="1350"/>
          </a:p>
        </p:txBody>
      </p:sp>
      <p:sp>
        <p:nvSpPr>
          <p:cNvPr id="7" name="Metric contratos procesados"/>
          <p:cNvSpPr txBox="1"/>
          <p:nvPr/>
        </p:nvSpPr>
        <p:spPr>
          <a:xfrm>
            <a:off x="658368" y="2057400"/>
            <a:ext cx="2057400" cy="868680"/>
          </a:xfrm>
          <a:prstGeom prst="roundRect">
            <a:avLst/>
          </a:prstGeom>
          <a:solidFill>
            <a:srgbClr val="E8F2FF"/>
          </a:solidFill>
          <a:ln w="9525">
            <a:solidFill>
              <a:srgbClr val="D7E3F0"/>
            </a:solidFill>
          </a:ln>
        </p:spPr>
        <p:txBody>
          <a:bodyPr wrap="square" anchor="mid" lIns="73152" rIns="73152" tIns="73152" bIns="73152"/>
          <a:lstStyle/>
          <a:p>
            <a:pPr algn="ctr">
              <a:spcAft>
                <a:spcPts val="0"/>
              </a:spcAft>
            </a:pPr>
            <a:r>
              <a:t>24</a:t>
            </a:r>
            <a:br/>
            <a:r>
              <a:t>contratos procesados</a:t>
            </a:r>
            <a:endParaRPr lang="es-MX" sz="2300"/>
          </a:p>
        </p:txBody>
      </p:sp>
      <p:sp>
        <p:nvSpPr>
          <p:cNvPr id="8" name="Metric exposición MXN"/>
          <p:cNvSpPr txBox="1"/>
          <p:nvPr/>
        </p:nvSpPr>
        <p:spPr>
          <a:xfrm>
            <a:off x="2971800" y="2057400"/>
            <a:ext cx="2240280" cy="868680"/>
          </a:xfrm>
          <a:prstGeom prst="roundRect">
            <a:avLst/>
          </a:prstGeom>
          <a:solidFill>
            <a:srgbClr val="FFF3D6"/>
          </a:solidFill>
          <a:ln w="9525">
            <a:solidFill>
              <a:srgbClr val="D7E3F0"/>
            </a:solidFill>
          </a:ln>
        </p:spPr>
        <p:txBody>
          <a:bodyPr wrap="square" anchor="mid" lIns="73152" rIns="73152" tIns="73152" bIns="73152"/>
          <a:lstStyle/>
          <a:p>
            <a:pPr algn="ctr">
              <a:spcAft>
                <a:spcPts val="0"/>
              </a:spcAft>
            </a:pPr>
            <a:r>
              <a:rPr lang="es-MX" sz="2300" b="1">
                <a:solidFill>
                  <a:srgbClr val="F5A623"/>
                </a:solidFill>
                <a:latin typeface="Aptos"/>
              </a:rPr>
              <a:t>$175M</a:t>
            </a:r>
            <a:endParaRPr lang="es-MX" sz="2300"/>
          </a:p>
          <a:p>
            <a:pPr algn="ctr">
              <a:spcAft>
                <a:spcPts val="0"/>
              </a:spcAft>
            </a:pPr>
            <a:r>
              <a:rPr lang="es-MX" sz="860">
                <a:solidFill>
                  <a:srgbClr val="0B1728"/>
                </a:solidFill>
                <a:latin typeface="Aptos"/>
              </a:rPr>
              <a:t>exposición MXN</a:t>
            </a:r>
            <a:endParaRPr lang="es-MX" sz="860"/>
          </a:p>
        </p:txBody>
      </p:sp>
      <p:sp>
        <p:nvSpPr>
          <p:cNvPr id="9" name="Metric proveedores escalables"/>
          <p:cNvSpPr txBox="1"/>
          <p:nvPr/>
        </p:nvSpPr>
        <p:spPr>
          <a:xfrm>
            <a:off x="5468112" y="2057400"/>
            <a:ext cx="2148840" cy="868680"/>
          </a:xfrm>
          <a:prstGeom prst="roundRect">
            <a:avLst/>
          </a:prstGeom>
          <a:solidFill>
            <a:srgbClr val="E9F8F0"/>
          </a:solidFill>
          <a:ln w="9525">
            <a:solidFill>
              <a:srgbClr val="D7E3F0"/>
            </a:solidFill>
          </a:ln>
        </p:spPr>
        <p:txBody>
          <a:bodyPr wrap="square" anchor="mid" lIns="73152" rIns="73152" tIns="73152" bIns="73152"/>
          <a:lstStyle/>
          <a:p>
            <a:pPr algn="ctr">
              <a:spcAft>
                <a:spcPts val="0"/>
              </a:spcAft>
            </a:pPr>
            <a:r>
              <a:rPr lang="es-MX" sz="2300" b="1">
                <a:solidFill>
                  <a:srgbClr val="22A06B"/>
                </a:solidFill>
                <a:latin typeface="Aptos"/>
              </a:rPr>
              <a:t>24</a:t>
            </a:r>
            <a:endParaRPr lang="es-MX" sz="2300"/>
          </a:p>
          <a:p>
            <a:pPr algn="ctr">
              <a:spcAft>
                <a:spcPts val="0"/>
              </a:spcAft>
            </a:pPr>
            <a:r>
              <a:rPr lang="es-MX" sz="860">
                <a:solidFill>
                  <a:srgbClr val="0B1728"/>
                </a:solidFill>
                <a:latin typeface="Aptos"/>
              </a:rPr>
              <a:t>proveedores escalables</a:t>
            </a:r>
            <a:endParaRPr lang="es-MX" sz="860"/>
          </a:p>
        </p:txBody>
      </p:sp>
      <p:sp>
        <p:nvSpPr>
          <p:cNvPr id="10" name="Metric niveles de riesgo"/>
          <p:cNvSpPr txBox="1"/>
          <p:nvPr/>
        </p:nvSpPr>
        <p:spPr>
          <a:xfrm>
            <a:off x="7882128" y="2057400"/>
            <a:ext cx="2103120" cy="868680"/>
          </a:xfrm>
          <a:prstGeom prst="roundRect">
            <a:avLst/>
          </a:prstGeom>
          <a:solidFill>
            <a:srgbClr val="FDECEC"/>
          </a:solidFill>
          <a:ln w="9525">
            <a:solidFill>
              <a:srgbClr val="D7E3F0"/>
            </a:solidFill>
          </a:ln>
        </p:spPr>
        <p:txBody>
          <a:bodyPr wrap="square" anchor="mid" lIns="73152" rIns="73152" tIns="73152" bIns="73152"/>
          <a:lstStyle/>
          <a:p>
            <a:pPr algn="ctr">
              <a:spcAft>
                <a:spcPts val="0"/>
              </a:spcAft>
            </a:pPr>
            <a:r>
              <a:rPr lang="es-MX" sz="2300" b="1">
                <a:solidFill>
                  <a:srgbClr val="D64545"/>
                </a:solidFill>
                <a:latin typeface="Aptos"/>
              </a:rPr>
              <a:t>4</a:t>
            </a:r>
            <a:endParaRPr lang="es-MX" sz="2300"/>
          </a:p>
          <a:p>
            <a:pPr algn="ctr">
              <a:spcAft>
                <a:spcPts val="0"/>
              </a:spcAft>
            </a:pPr>
            <a:r>
              <a:rPr lang="es-MX" sz="860">
                <a:solidFill>
                  <a:srgbClr val="0B1728"/>
                </a:solidFill>
                <a:latin typeface="Aptos"/>
              </a:rPr>
              <a:t>niveles de riesgo</a:t>
            </a:r>
            <a:endParaRPr lang="es-MX" sz="860"/>
          </a:p>
        </p:txBody>
      </p:sp>
      <p:sp>
        <p:nvSpPr>
          <p:cNvPr id="11" name="Text"/>
          <p:cNvSpPr txBox="1"/>
          <p:nvPr/>
        </p:nvSpPr>
        <p:spPr>
          <a:xfrm>
            <a:off x="658368" y="3401568"/>
            <a:ext cx="196596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3F0"/>
            </a:solidFill>
          </a:ln>
        </p:spPr>
        <p:txBody>
          <a:bodyPr wrap="square" anchor="mid" lIns="73152" rIns="73152" tIns="73152" bIns="73152"/>
          <a:lstStyle/>
          <a:p>
            <a:pPr algn="ctr">
              <a:spcAft>
                <a:spcPts val="0"/>
              </a:spcAft>
            </a:pPr>
            <a:r>
              <a:rPr lang="es-MX" sz="1100" b="1">
                <a:solidFill>
                  <a:srgbClr val="2B6CB0"/>
                </a:solidFill>
                <a:latin typeface="Aptos"/>
              </a:rPr>
              <a:t>1. Ingesta</a:t>
            </a:r>
            <a:endParaRPr lang="es-MX" sz="1100"/>
          </a:p>
          <a:p>
            <a:pPr algn="ctr">
              <a:spcAft>
                <a:spcPts val="0"/>
              </a:spcAft>
            </a:pPr>
            <a:r>
              <a:rPr lang="es-MX" sz="780">
                <a:solidFill>
                  <a:srgbClr val="64748B"/>
                </a:solidFill>
                <a:latin typeface="Aptos"/>
              </a:rPr>
              <a:t>Contratos PDF + metadata</a:t>
            </a:r>
            <a:endParaRPr lang="es-MX" sz="780"/>
          </a:p>
        </p:txBody>
      </p:sp>
      <p:sp>
        <p:nvSpPr>
          <p:cNvPr id="12" name="Arrow"/>
          <p:cNvSpPr/>
          <p:nvPr/>
        </p:nvSpPr>
        <p:spPr>
          <a:xfrm>
            <a:off x="2724912" y="3657600"/>
            <a:ext cx="320040" cy="164592"/>
          </a:xfrm>
          <a:prstGeom prst="rightArrow">
            <a:avLst/>
          </a:prstGeom>
          <a:solidFill>
            <a:srgbClr val="1FB6C9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"/>
          <p:cNvSpPr txBox="1"/>
          <p:nvPr/>
        </p:nvSpPr>
        <p:spPr>
          <a:xfrm>
            <a:off x="3154680" y="3401568"/>
            <a:ext cx="196596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3F0"/>
            </a:solidFill>
          </a:ln>
        </p:spPr>
        <p:txBody>
          <a:bodyPr wrap="square" anchor="mid" lIns="73152" rIns="73152" tIns="73152" bIns="73152"/>
          <a:lstStyle/>
          <a:p>
            <a:pPr algn="ctr">
              <a:spcAft>
                <a:spcPts val="0"/>
              </a:spcAft>
            </a:pPr>
            <a:r>
              <a:rPr lang="es-MX" sz="1100" b="1">
                <a:solidFill>
                  <a:srgbClr val="2B6CB0"/>
                </a:solidFill>
                <a:latin typeface="Aptos"/>
              </a:rPr>
              <a:t>2. Extracción</a:t>
            </a:r>
            <a:endParaRPr lang="es-MX" sz="1100"/>
          </a:p>
          <a:p>
            <a:pPr algn="ctr">
              <a:spcAft>
                <a:spcPts val="0"/>
              </a:spcAft>
            </a:pPr>
            <a:r>
              <a:rPr lang="es-MX" sz="780">
                <a:solidFill>
                  <a:srgbClr val="64748B"/>
                </a:solidFill>
                <a:latin typeface="Aptos"/>
              </a:rPr>
              <a:t>OCR, parsing y cláusulas</a:t>
            </a:r>
            <a:endParaRPr lang="es-MX" sz="780"/>
          </a:p>
        </p:txBody>
      </p:sp>
      <p:sp>
        <p:nvSpPr>
          <p:cNvPr id="14" name="Arrow"/>
          <p:cNvSpPr/>
          <p:nvPr/>
        </p:nvSpPr>
        <p:spPr>
          <a:xfrm>
            <a:off x="5230368" y="3657600"/>
            <a:ext cx="320040" cy="164592"/>
          </a:xfrm>
          <a:prstGeom prst="rightArrow">
            <a:avLst/>
          </a:prstGeom>
          <a:solidFill>
            <a:srgbClr val="1FB6C9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"/>
          <p:cNvSpPr txBox="1"/>
          <p:nvPr/>
        </p:nvSpPr>
        <p:spPr>
          <a:xfrm>
            <a:off x="5650992" y="3401568"/>
            <a:ext cx="196596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3F0"/>
            </a:solidFill>
          </a:ln>
        </p:spPr>
        <p:txBody>
          <a:bodyPr wrap="square" anchor="mid" lIns="73152" rIns="73152" tIns="73152" bIns="73152"/>
          <a:lstStyle/>
          <a:p>
            <a:pPr algn="ctr">
              <a:spcAft>
                <a:spcPts val="0"/>
              </a:spcAft>
            </a:pPr>
            <a:r>
              <a:rPr lang="es-MX" sz="1100" b="1">
                <a:solidFill>
                  <a:srgbClr val="2B6CB0"/>
                </a:solidFill>
                <a:latin typeface="Aptos"/>
              </a:rPr>
              <a:t>3. Análisis IA</a:t>
            </a:r>
            <a:endParaRPr lang="es-MX" sz="1100"/>
          </a:p>
          <a:p>
            <a:pPr algn="ctr">
              <a:spcAft>
                <a:spcPts val="0"/>
              </a:spcAft>
            </a:pPr>
            <a:r>
              <a:rPr lang="es-MX" sz="780">
                <a:solidFill>
                  <a:srgbClr val="64748B"/>
                </a:solidFill>
                <a:latin typeface="Aptos"/>
              </a:rPr>
              <a:t>DeepSeek + scoring 0-10</a:t>
            </a:r>
            <a:endParaRPr lang="es-MX" sz="780"/>
          </a:p>
        </p:txBody>
      </p:sp>
      <p:sp>
        <p:nvSpPr>
          <p:cNvPr id="16" name="Arrow"/>
          <p:cNvSpPr/>
          <p:nvPr/>
        </p:nvSpPr>
        <p:spPr>
          <a:xfrm>
            <a:off x="7726680" y="3657600"/>
            <a:ext cx="320040" cy="164592"/>
          </a:xfrm>
          <a:prstGeom prst="rightArrow">
            <a:avLst/>
          </a:prstGeom>
          <a:solidFill>
            <a:srgbClr val="1FB6C9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"/>
          <p:cNvSpPr txBox="1"/>
          <p:nvPr/>
        </p:nvSpPr>
        <p:spPr>
          <a:xfrm>
            <a:off x="8138160" y="3401568"/>
            <a:ext cx="210312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3F0"/>
            </a:solidFill>
          </a:ln>
        </p:spPr>
        <p:txBody>
          <a:bodyPr wrap="square" anchor="mid" lIns="73152" rIns="73152" tIns="73152" bIns="73152"/>
          <a:lstStyle/>
          <a:p>
            <a:pPr algn="ctr">
              <a:spcAft>
                <a:spcPts val="0"/>
              </a:spcAft>
            </a:pPr>
            <a:r>
              <a:rPr lang="es-MX" sz="1100" b="1">
                <a:solidFill>
                  <a:srgbClr val="2B6CB0"/>
                </a:solidFill>
                <a:latin typeface="Aptos"/>
              </a:rPr>
              <a:t>4. Gobierno</a:t>
            </a:r>
            <a:endParaRPr lang="es-MX" sz="1100"/>
          </a:p>
          <a:p>
            <a:pPr algn="ctr">
              <a:spcAft>
                <a:spcPts val="0"/>
              </a:spcAft>
            </a:pPr>
            <a:r>
              <a:rPr lang="es-MX" sz="780">
                <a:solidFill>
                  <a:srgbClr val="64748B"/>
                </a:solidFill>
                <a:latin typeface="Aptos"/>
              </a:rPr>
              <a:t>DWS, DLI, DataArts</a:t>
            </a:r>
            <a:endParaRPr lang="es-MX" sz="780"/>
          </a:p>
        </p:txBody>
      </p:sp>
      <p:sp>
        <p:nvSpPr>
          <p:cNvPr id="18" name="Text"/>
          <p:cNvSpPr txBox="1"/>
          <p:nvPr/>
        </p:nvSpPr>
        <p:spPr>
          <a:xfrm>
            <a:off x="658368" y="4773168"/>
            <a:ext cx="9326880" cy="594360"/>
          </a:xfrm>
          <a:prstGeom prst="roundRect">
            <a:avLst/>
          </a:prstGeom>
          <a:solidFill>
            <a:srgbClr val="08233F"/>
          </a:solidFill>
          <a:ln>
            <a:noFill/>
          </a:ln>
        </p:spPr>
        <p:txBody>
          <a:bodyPr wrap="square" anchor="mid" lIns="73152" rIns="73152" tIns="73152" bIns="73152"/>
          <a:lstStyle/>
          <a:p>
            <a:pPr algn="ctr">
              <a:spcAft>
                <a:spcPts val="0"/>
              </a:spcAft>
            </a:pPr>
            <a:r>
              <a:rPr lang="es-MX" sz="1300">
                <a:solidFill>
                  <a:srgbClr val="FFFFFF"/>
                </a:solidFill>
                <a:latin typeface="Aptos"/>
              </a:rPr>
              <a:t>Narrativa para la sesión: mostrar valor de negocio primero, después explicar cómo Huawei Cloud sostiene el flujo gobernado.</a:t>
            </a:r>
            <a:endParaRPr lang="es-MX" sz="1300"/>
          </a:p>
        </p:txBody>
      </p:sp>
      <p:sp>
        <p:nvSpPr>
          <p:cNvPr id="19" name="Footer"/>
          <p:cNvSpPr txBox="1"/>
          <p:nvPr/>
        </p:nvSpPr>
        <p:spPr>
          <a:xfrm>
            <a:off x="502920" y="6446520"/>
            <a:ext cx="98755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mid" lIns="73152" rIns="73152" tIns="73152" bIns="73152"/>
          <a:lstStyle/>
          <a:p>
            <a:pPr algn="l">
              <a:spcAft>
                <a:spcPts val="0"/>
              </a:spcAft>
            </a:pPr>
            <a:r>
              <a:rPr lang="es-MX" sz="750">
                <a:solidFill>
                  <a:srgbClr val="64748B"/>
                </a:solidFill>
                <a:latin typeface="Aptos"/>
              </a:rPr>
              <a:t>Workshop Huawei Cloud x Salinas | Mayo 13, 2026 | México Century Plaza</a:t>
            </a:r>
            <a:endParaRPr lang="es-MX" sz="750"/>
          </a:p>
        </p:txBody>
      </p:sp>
      <p:sp>
        <p:nvSpPr>
          <p:cNvPr id="20" name="Page"/>
          <p:cNvSpPr txBox="1"/>
          <p:nvPr/>
        </p:nvSpPr>
        <p:spPr>
          <a:xfrm>
            <a:off x="11064240" y="644652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mid" lIns="73152" rIns="73152" tIns="73152" bIns="73152"/>
          <a:lstStyle/>
          <a:p>
            <a:pPr algn="r">
              <a:spcAft>
                <a:spcPts val="0"/>
              </a:spcAft>
            </a:pPr>
            <a:r>
              <a:rPr lang="es-MX" sz="750">
                <a:solidFill>
                  <a:srgbClr val="64748B"/>
                </a:solidFill>
                <a:latin typeface="Aptos"/>
              </a:rPr>
              <a:t>1 / 5</a:t>
            </a:r>
            <a:endParaRPr lang="es-MX" sz="7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Block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lock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Kicker"/>
          <p:cNvSpPr txBox="1"/>
          <p:nvPr/>
        </p:nvSpPr>
        <p:spPr>
          <a:xfrm>
            <a:off x="502920" y="25603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 lIns="73152" rIns="73152" tIns="73152" bIns="73152"/>
          <a:lstStyle/>
          <a:p>
            <a:pPr algn="l">
              <a:spcAft>
                <a:spcPts val="0"/>
              </a:spcAft>
            </a:pPr>
            <a:r>
              <a:rPr lang="es-MX" sz="850" b="1">
                <a:solidFill>
                  <a:srgbClr val="1FB6C9"/>
                </a:solidFill>
                <a:latin typeface="Aptos"/>
              </a:rPr>
              <a:t>ARQUITECTURA EJECUTABLE EN LA-NORTH-2</a:t>
            </a:r>
            <a:endParaRPr lang="es-MX" sz="850"/>
          </a:p>
        </p:txBody>
      </p:sp>
      <p:sp>
        <p:nvSpPr>
          <p:cNvPr id="5" name="Title"/>
          <p:cNvSpPr txBox="1"/>
          <p:nvPr/>
        </p:nvSpPr>
        <p:spPr>
          <a:xfrm>
            <a:off x="502920" y="502920"/>
            <a:ext cx="7955280" cy="566928"/>
          </a:xfrm>
          <a:prstGeom prst="rect">
            <a:avLst/>
          </a:prstGeom>
          <a:noFill/>
          <a:ln>
            <a:noFill/>
          </a:ln>
        </p:spPr>
        <p:txBody>
          <a:bodyPr wrap="square" anchor="mid" lIns="73152" rIns="73152" tIns="73152" bIns="73152"/>
          <a:lstStyle/>
          <a:p>
            <a:pPr algn="l">
              <a:spcAft>
                <a:spcPts val="0"/>
              </a:spcAft>
            </a:pPr>
            <a:r>
              <a:rPr sz="1800">
                <a:solidFill>
                  <a:srgbClr val="E4002B"/>
                </a:solidFill>
                <a:latin typeface="Aptos"/>
              </a:rPr>
              <a:t>Pipeline MPP · CTS audit trail · Terraform IaC · EXPLAIN ANALYZE en vivo</a:t>
            </a:r>
            <a:endParaRPr lang="es-MX" sz="2500"/>
          </a:p>
        </p:txBody>
      </p:sp>
      <p:sp>
        <p:nvSpPr>
          <p:cNvPr id="23" name="Footer"/>
          <p:cNvSpPr txBox="1"/>
          <p:nvPr/>
        </p:nvSpPr>
        <p:spPr>
          <a:xfrm>
            <a:off x="502920" y="6446520"/>
            <a:ext cx="98755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mid" lIns="73152" rIns="73152" tIns="73152" bIns="73152"/>
          <a:lstStyle/>
          <a:p>
            <a:pPr algn="l">
              <a:spcAft>
                <a:spcPts val="0"/>
              </a:spcAft>
            </a:pPr>
            <a:r>
              <a:rPr lang="es-MX" sz="750">
                <a:solidFill>
                  <a:srgbClr val="64748B"/>
                </a:solidFill>
                <a:latin typeface="Aptos"/>
              </a:rPr>
              <a:t>Workshop Huawei Cloud x Salinas | Mayo 13, 2026 | México Century Plaza</a:t>
            </a:r>
            <a:endParaRPr lang="es-MX" sz="750"/>
          </a:p>
        </p:txBody>
      </p:sp>
      <p:sp>
        <p:nvSpPr>
          <p:cNvPr id="24" name="Page"/>
          <p:cNvSpPr txBox="1"/>
          <p:nvPr/>
        </p:nvSpPr>
        <p:spPr>
          <a:xfrm>
            <a:off x="11064240" y="644652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mid" lIns="73152" rIns="73152" tIns="73152" bIns="73152"/>
          <a:lstStyle/>
          <a:p>
            <a:pPr algn="r">
              <a:spcAft>
                <a:spcPts val="0"/>
              </a:spcAft>
            </a:pPr>
            <a:r>
              <a:rPr lang="es-MX" sz="750">
                <a:solidFill>
                  <a:srgbClr val="64748B"/>
                </a:solidFill>
                <a:latin typeface="Aptos"/>
              </a:rPr>
              <a:t>2 / 5</a:t>
            </a:r>
            <a:endParaRPr lang="es-MX" sz="750"/>
          </a:p>
        </p:txBody>
      </p:sp>
      <p:pic>
        <p:nvPicPr>
          <p:cNvPr id="25" name="Picture 24" descr="ayco-arch-sl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80160"/>
            <a:ext cx="10515600" cy="4572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2B6CB0"/>
                </a:solidFill>
                <a:latin typeface="Aptos"/>
              </a:rPr>
              <a:t>MPP 2 nodos · CTS Cloud Trace Service · Terraform zero-diff · EXPLAIN ANALYZE en vivo · Langfuse · DWS 2-datanode parallelism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Block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lock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2A06B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Kicker"/>
          <p:cNvSpPr txBox="1"/>
          <p:nvPr/>
        </p:nvSpPr>
        <p:spPr>
          <a:xfrm>
            <a:off x="502920" y="25603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 lIns="73152" rIns="73152" tIns="73152" bIns="73152"/>
          <a:lstStyle/>
          <a:p>
            <a:pPr algn="l">
              <a:spcAft>
                <a:spcPts val="0"/>
              </a:spcAft>
            </a:pPr>
            <a:r>
              <a:rPr lang="es-MX" sz="850" b="1">
                <a:solidFill>
                  <a:srgbClr val="1FB6C9"/>
                </a:solidFill>
                <a:latin typeface="Aptos"/>
              </a:rPr>
              <a:t>RESULTADO QUE DEBE VERSE DURANTE LA DEMO</a:t>
            </a:r>
            <a:endParaRPr lang="es-MX" sz="850"/>
          </a:p>
        </p:txBody>
      </p:sp>
      <p:sp>
        <p:nvSpPr>
          <p:cNvPr id="5" name="Title"/>
          <p:cNvSpPr txBox="1"/>
          <p:nvPr/>
        </p:nvSpPr>
        <p:spPr>
          <a:xfrm>
            <a:off x="502920" y="502920"/>
            <a:ext cx="7955280" cy="566928"/>
          </a:xfrm>
          <a:prstGeom prst="rect">
            <a:avLst/>
          </a:prstGeom>
          <a:noFill/>
          <a:ln>
            <a:noFill/>
          </a:ln>
        </p:spPr>
        <p:txBody>
          <a:bodyPr wrap="square" anchor="mid" lIns="73152" rIns="73152" tIns="73152" bIns="73152"/>
          <a:lstStyle/>
          <a:p>
            <a:pPr algn="l">
              <a:spcAft>
                <a:spcPts val="0"/>
              </a:spcAft>
            </a:pPr>
            <a:r>
              <a:rPr lang="es-MX" sz="2500" b="1">
                <a:solidFill>
                  <a:srgbClr val="0B1728"/>
                </a:solidFill>
                <a:latin typeface="Aptos"/>
              </a:rPr>
              <a:t>Prueba con 24 contratos</a:t>
            </a:r>
            <a:endParaRPr lang="es-MX" sz="2500"/>
          </a:p>
        </p:txBody>
      </p:sp>
      <p:sp>
        <p:nvSpPr>
          <p:cNvPr id="6" name="Text"/>
          <p:cNvSpPr txBox="1"/>
          <p:nvPr/>
        </p:nvSpPr>
        <p:spPr>
          <a:xfrm>
            <a:off x="658368" y="1298448"/>
            <a:ext cx="297180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3F0"/>
            </a:solidFill>
          </a:ln>
        </p:spPr>
        <p:txBody>
          <a:bodyPr wrap="square" anchor="mid" lIns="73152" rIns="73152" tIns="73152" bIns="73152"/>
          <a:lstStyle/>
          <a:p>
            <a:pPr algn="ctr">
              <a:spcAft>
                <a:spcPts val="0"/>
              </a:spcAft>
            </a:pPr>
            <a:r>
              <a:rPr lang="es-MX" sz="3000" b="1">
                <a:solidFill>
                  <a:srgbClr val="F5A623"/>
                </a:solidFill>
                <a:latin typeface="Aptos"/>
              </a:rPr>
              <a:t>$175.0M</a:t>
            </a:r>
            <a:endParaRPr lang="es-MX" sz="3000"/>
          </a:p>
          <a:p>
            <a:pPr algn="ctr">
              <a:spcAft>
                <a:spcPts val="0"/>
              </a:spcAft>
            </a:pPr>
            <a:r>
              <a:rPr lang="es-MX" sz="950">
                <a:solidFill>
                  <a:srgbClr val="0B1728"/>
                </a:solidFill>
                <a:latin typeface="Aptos"/>
              </a:rPr>
              <a:t>MXN detectados en exposición contractual</a:t>
            </a:r>
            <a:endParaRPr lang="es-MX" sz="950"/>
          </a:p>
        </p:txBody>
      </p:sp>
      <p:sp>
        <p:nvSpPr>
          <p:cNvPr id="7" name="Text"/>
          <p:cNvSpPr txBox="1"/>
          <p:nvPr/>
        </p:nvSpPr>
        <p:spPr>
          <a:xfrm>
            <a:off x="3822192" y="1298448"/>
            <a:ext cx="297180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3F0"/>
            </a:solidFill>
          </a:ln>
        </p:spPr>
        <p:txBody>
          <a:bodyPr wrap="square" anchor="mid" lIns="73152" rIns="73152" tIns="73152" bIns="73152"/>
          <a:lstStyle/>
          <a:p>
            <a:pPr algn="ctr">
              <a:spcAft>
                <a:spcPts val="0"/>
              </a:spcAft>
            </a:pPr>
            <a:r>
              <a:rPr lang="es-MX" sz="3000" b="1">
                <a:solidFill>
                  <a:srgbClr val="D64545"/>
                </a:solidFill>
                <a:latin typeface="Aptos"/>
              </a:rPr>
              <a:t>1 crítico</a:t>
            </a:r>
            <a:endParaRPr lang="es-MX" sz="3000"/>
          </a:p>
          <a:p>
            <a:pPr algn="ctr">
              <a:spcAft>
                <a:spcPts val="0"/>
              </a:spcAft>
            </a:pPr>
            <a:r>
              <a:rPr lang="es-MX" sz="950">
                <a:solidFill>
                  <a:srgbClr val="0B1728"/>
                </a:solidFill>
                <a:latin typeface="Aptos"/>
              </a:rPr>
              <a:t>$12.5M MXN que dispara conversación ejecutiva</a:t>
            </a:r>
            <a:endParaRPr lang="es-MX" sz="950"/>
          </a:p>
        </p:txBody>
      </p:sp>
      <p:sp>
        <p:nvSpPr>
          <p:cNvPr id="8" name="Text"/>
          <p:cNvSpPr txBox="1"/>
          <p:nvPr/>
        </p:nvSpPr>
        <p:spPr>
          <a:xfrm>
            <a:off x="6995160" y="1298448"/>
            <a:ext cx="297180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3F0"/>
            </a:solidFill>
          </a:ln>
        </p:spPr>
        <p:txBody>
          <a:bodyPr wrap="square" anchor="mid" lIns="73152" rIns="73152" tIns="73152" bIns="73152"/>
          <a:lstStyle/>
          <a:p>
            <a:pPr algn="ctr">
              <a:spcAft>
                <a:spcPts val="0"/>
              </a:spcAft>
            </a:pPr>
            <a:r>
              <a:rPr lang="es-MX" sz="3000" b="1">
                <a:solidFill>
                  <a:srgbClr val="A8324A"/>
                </a:solidFill>
                <a:latin typeface="Aptos"/>
              </a:rPr>
              <a:t>10 altos</a:t>
            </a:r>
            <a:endParaRPr lang="es-MX" sz="3000"/>
          </a:p>
          <a:p>
            <a:pPr algn="ctr">
              <a:spcAft>
                <a:spcPts val="0"/>
              </a:spcAft>
            </a:pPr>
            <a:r>
              <a:rPr lang="es-MX" sz="950">
                <a:solidFill>
                  <a:srgbClr val="0B1728"/>
                </a:solidFill>
                <a:latin typeface="Aptos"/>
              </a:rPr>
              <a:t>$125.0M MXN para priorizar revisión</a:t>
            </a:r>
            <a:endParaRPr lang="es-MX" sz="950"/>
          </a:p>
        </p:txBody>
      </p:sp>
      <p:sp>
        <p:nvSpPr>
          <p:cNvPr id="9" name="Text"/>
          <p:cNvSpPr txBox="1"/>
          <p:nvPr/>
        </p:nvSpPr>
        <p:spPr>
          <a:xfrm>
            <a:off x="749808" y="297180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 lIns="73152" rIns="73152" tIns="73152" bIns="73152"/>
          <a:lstStyle/>
          <a:p>
            <a:pPr algn="l">
              <a:spcAft>
                <a:spcPts val="0"/>
              </a:spcAft>
            </a:pPr>
            <a:r>
              <a:rPr lang="es-MX" sz="900" b="1">
                <a:solidFill>
                  <a:srgbClr val="0B1728"/>
                </a:solidFill>
                <a:latin typeface="Aptos"/>
              </a:rPr>
              <a:t>Bajo</a:t>
            </a:r>
            <a:endParaRPr lang="es-MX" sz="900"/>
          </a:p>
        </p:txBody>
      </p:sp>
      <p:sp>
        <p:nvSpPr>
          <p:cNvPr id="10" name="Block"/>
          <p:cNvSpPr/>
          <p:nvPr/>
        </p:nvSpPr>
        <p:spPr>
          <a:xfrm>
            <a:off x="1874520" y="3035808"/>
            <a:ext cx="4572000" cy="109728"/>
          </a:xfrm>
          <a:prstGeom prst="rect">
            <a:avLst/>
          </a:prstGeom>
          <a:solidFill>
            <a:srgbClr val="DCE7F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Block"/>
          <p:cNvSpPr/>
          <p:nvPr/>
        </p:nvSpPr>
        <p:spPr>
          <a:xfrm>
            <a:off x="1874520" y="3035808"/>
            <a:ext cx="2743200" cy="109728"/>
          </a:xfrm>
          <a:prstGeom prst="rect">
            <a:avLst/>
          </a:prstGeom>
          <a:solidFill>
            <a:srgbClr val="22A06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"/>
          <p:cNvSpPr txBox="1"/>
          <p:nvPr/>
        </p:nvSpPr>
        <p:spPr>
          <a:xfrm>
            <a:off x="6629400" y="297180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 lIns="73152" rIns="73152" tIns="73152" bIns="73152"/>
          <a:lstStyle/>
          <a:p>
            <a:pPr algn="l">
              <a:spcAft>
                <a:spcPts val="0"/>
              </a:spcAft>
            </a:pPr>
            <a:r>
              <a:rPr lang="es-MX" sz="860">
                <a:solidFill>
                  <a:srgbClr val="64748B"/>
                </a:solidFill>
                <a:latin typeface="Aptos"/>
              </a:rPr>
              <a:t>5 contratos</a:t>
            </a:r>
            <a:endParaRPr lang="es-MX" sz="860"/>
          </a:p>
        </p:txBody>
      </p:sp>
      <p:sp>
        <p:nvSpPr>
          <p:cNvPr id="13" name="Text"/>
          <p:cNvSpPr txBox="1"/>
          <p:nvPr/>
        </p:nvSpPr>
        <p:spPr>
          <a:xfrm>
            <a:off x="7909560" y="2971800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 lIns="73152" rIns="73152" tIns="73152" bIns="73152"/>
          <a:lstStyle/>
          <a:p>
            <a:pPr algn="r">
              <a:spcAft>
                <a:spcPts val="0"/>
              </a:spcAft>
            </a:pPr>
            <a:r>
              <a:rPr lang="es-MX" sz="860" b="1">
                <a:solidFill>
                  <a:srgbClr val="22A06B"/>
                </a:solidFill>
                <a:latin typeface="Aptos"/>
              </a:rPr>
              <a:t>$12.5M</a:t>
            </a:r>
            <a:endParaRPr lang="es-MX" sz="860"/>
          </a:p>
        </p:txBody>
      </p:sp>
      <p:sp>
        <p:nvSpPr>
          <p:cNvPr id="14" name="Text"/>
          <p:cNvSpPr txBox="1"/>
          <p:nvPr/>
        </p:nvSpPr>
        <p:spPr>
          <a:xfrm>
            <a:off x="749808" y="347472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 lIns="73152" rIns="73152" tIns="73152" bIns="73152"/>
          <a:lstStyle/>
          <a:p>
            <a:pPr algn="l">
              <a:spcAft>
                <a:spcPts val="0"/>
              </a:spcAft>
            </a:pPr>
            <a:r>
              <a:rPr lang="es-MX" sz="900" b="1">
                <a:solidFill>
                  <a:srgbClr val="0B1728"/>
                </a:solidFill>
                <a:latin typeface="Aptos"/>
              </a:rPr>
              <a:t>Medio</a:t>
            </a:r>
            <a:endParaRPr lang="es-MX" sz="900"/>
          </a:p>
        </p:txBody>
      </p:sp>
      <p:sp>
        <p:nvSpPr>
          <p:cNvPr id="15" name="Block"/>
          <p:cNvSpPr/>
          <p:nvPr/>
        </p:nvSpPr>
        <p:spPr>
          <a:xfrm>
            <a:off x="1874520" y="3538728"/>
            <a:ext cx="4572000" cy="109728"/>
          </a:xfrm>
          <a:prstGeom prst="rect">
            <a:avLst/>
          </a:prstGeom>
          <a:solidFill>
            <a:srgbClr val="DCE7F3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Block"/>
          <p:cNvSpPr/>
          <p:nvPr/>
        </p:nvSpPr>
        <p:spPr>
          <a:xfrm>
            <a:off x="1874520" y="3538728"/>
            <a:ext cx="1371600" cy="1097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"/>
          <p:cNvSpPr txBox="1"/>
          <p:nvPr/>
        </p:nvSpPr>
        <p:spPr>
          <a:xfrm>
            <a:off x="6629400" y="347472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 lIns="73152" rIns="73152" tIns="73152" bIns="73152"/>
          <a:lstStyle/>
          <a:p>
            <a:pPr algn="l">
              <a:spcAft>
                <a:spcPts val="0"/>
              </a:spcAft>
            </a:pPr>
            <a:r>
              <a:rPr lang="es-MX" sz="860">
                <a:solidFill>
                  <a:srgbClr val="64748B"/>
                </a:solidFill>
                <a:latin typeface="Aptos"/>
              </a:rPr>
              <a:t>5 contratos</a:t>
            </a:r>
            <a:endParaRPr lang="es-MX" sz="860"/>
          </a:p>
        </p:txBody>
      </p:sp>
      <p:sp>
        <p:nvSpPr>
          <p:cNvPr id="18" name="Text"/>
          <p:cNvSpPr txBox="1"/>
          <p:nvPr/>
        </p:nvSpPr>
        <p:spPr>
          <a:xfrm>
            <a:off x="7909560" y="3474720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 lIns="73152" rIns="73152" tIns="73152" bIns="73152"/>
          <a:lstStyle/>
          <a:p>
            <a:pPr algn="r">
              <a:spcAft>
                <a:spcPts val="0"/>
              </a:spcAft>
            </a:pPr>
            <a:r>
              <a:rPr lang="es-MX" sz="860" b="1">
                <a:solidFill>
                  <a:srgbClr val="F5A623"/>
                </a:solidFill>
                <a:latin typeface="Aptos"/>
              </a:rPr>
              <a:t>$25.0M</a:t>
            </a:r>
            <a:endParaRPr lang="es-MX" sz="860"/>
          </a:p>
        </p:txBody>
      </p:sp>
      <p:sp>
        <p:nvSpPr>
          <p:cNvPr id="19" name="Text"/>
          <p:cNvSpPr txBox="1"/>
          <p:nvPr/>
        </p:nvSpPr>
        <p:spPr>
          <a:xfrm>
            <a:off x="749808" y="397764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 lIns="73152" rIns="73152" tIns="73152" bIns="73152"/>
          <a:lstStyle/>
          <a:p>
            <a:pPr algn="l">
              <a:spcAft>
                <a:spcPts val="0"/>
              </a:spcAft>
            </a:pPr>
            <a:r>
              <a:rPr lang="es-MX" sz="900" b="1">
                <a:solidFill>
                  <a:srgbClr val="0B1728"/>
                </a:solidFill>
                <a:latin typeface="Aptos"/>
              </a:rPr>
              <a:t>Alto</a:t>
            </a:r>
            <a:endParaRPr lang="es-MX" sz="900"/>
          </a:p>
        </p:txBody>
      </p:sp>
      <p:sp>
        <p:nvSpPr>
          <p:cNvPr id="20" name="Block"/>
          <p:cNvSpPr/>
          <p:nvPr/>
        </p:nvSpPr>
        <p:spPr>
          <a:xfrm>
            <a:off x="1874520" y="4041648"/>
            <a:ext cx="4572000" cy="109728"/>
          </a:xfrm>
          <a:prstGeom prst="rect">
            <a:avLst/>
          </a:prstGeom>
          <a:solidFill>
            <a:srgbClr val="DCE7F3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Block"/>
          <p:cNvSpPr/>
          <p:nvPr/>
        </p:nvSpPr>
        <p:spPr>
          <a:xfrm>
            <a:off x="1874520" y="4041648"/>
            <a:ext cx="4572000" cy="109728"/>
          </a:xfrm>
          <a:prstGeom prst="rect">
            <a:avLst/>
          </a:prstGeom>
          <a:solidFill>
            <a:srgbClr val="A8324A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ext"/>
          <p:cNvSpPr txBox="1"/>
          <p:nvPr/>
        </p:nvSpPr>
        <p:spPr>
          <a:xfrm>
            <a:off x="6629400" y="397764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 lIns="73152" rIns="73152" tIns="73152" bIns="73152"/>
          <a:lstStyle/>
          <a:p>
            <a:pPr algn="l">
              <a:spcAft>
                <a:spcPts val="0"/>
              </a:spcAft>
            </a:pPr>
            <a:r>
              <a:rPr lang="es-MX" sz="860">
                <a:solidFill>
                  <a:srgbClr val="64748B"/>
                </a:solidFill>
                <a:latin typeface="Aptos"/>
              </a:rPr>
              <a:t>15 contratoss</a:t>
            </a:r>
            <a:endParaRPr lang="es-MX" sz="860"/>
          </a:p>
        </p:txBody>
      </p:sp>
      <p:sp>
        <p:nvSpPr>
          <p:cNvPr id="23" name="Text"/>
          <p:cNvSpPr txBox="1"/>
          <p:nvPr/>
        </p:nvSpPr>
        <p:spPr>
          <a:xfrm>
            <a:off x="7909560" y="3977640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 lIns="73152" rIns="73152" tIns="73152" bIns="73152"/>
          <a:lstStyle/>
          <a:p>
            <a:pPr algn="r">
              <a:spcAft>
                <a:spcPts val="0"/>
              </a:spcAft>
            </a:pPr>
            <a:r>
              <a:rPr lang="es-MX" sz="860" b="1">
                <a:solidFill>
                  <a:srgbClr val="A8324A"/>
                </a:solidFill>
                <a:latin typeface="Aptos"/>
              </a:rPr>
              <a:t>$96.00M</a:t>
            </a:r>
            <a:endParaRPr lang="es-MX" sz="860"/>
          </a:p>
        </p:txBody>
      </p:sp>
      <p:sp>
        <p:nvSpPr>
          <p:cNvPr id="24" name="Text"/>
          <p:cNvSpPr txBox="1"/>
          <p:nvPr/>
        </p:nvSpPr>
        <p:spPr>
          <a:xfrm>
            <a:off x="749808" y="448056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 lIns="73152" rIns="73152" tIns="73152" bIns="73152"/>
          <a:lstStyle/>
          <a:p>
            <a:pPr algn="l">
              <a:spcAft>
                <a:spcPts val="0"/>
              </a:spcAft>
            </a:pPr>
            <a:r>
              <a:rPr lang="es-MX" sz="900" b="1">
                <a:solidFill>
                  <a:srgbClr val="0B1728"/>
                </a:solidFill>
                <a:latin typeface="Aptos"/>
              </a:rPr>
              <a:t>Crítico</a:t>
            </a:r>
            <a:endParaRPr lang="es-MX" sz="900"/>
          </a:p>
        </p:txBody>
      </p:sp>
      <p:sp>
        <p:nvSpPr>
          <p:cNvPr id="25" name="Block"/>
          <p:cNvSpPr/>
          <p:nvPr/>
        </p:nvSpPr>
        <p:spPr>
          <a:xfrm>
            <a:off x="1874520" y="4544568"/>
            <a:ext cx="4572000" cy="109728"/>
          </a:xfrm>
          <a:prstGeom prst="rect">
            <a:avLst/>
          </a:prstGeom>
          <a:solidFill>
            <a:srgbClr val="DCE7F3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Block"/>
          <p:cNvSpPr/>
          <p:nvPr/>
        </p:nvSpPr>
        <p:spPr>
          <a:xfrm>
            <a:off x="1874520" y="4544568"/>
            <a:ext cx="457200" cy="109728"/>
          </a:xfrm>
          <a:prstGeom prst="rect">
            <a:avLst/>
          </a:prstGeom>
          <a:solidFill>
            <a:srgbClr val="D64545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Text"/>
          <p:cNvSpPr txBox="1"/>
          <p:nvPr/>
        </p:nvSpPr>
        <p:spPr>
          <a:xfrm>
            <a:off x="6629400" y="448056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 lIns="73152" rIns="73152" tIns="73152" bIns="73152"/>
          <a:lstStyle/>
          <a:p>
            <a:pPr algn="l">
              <a:spcAft>
                <a:spcPts val="0"/>
              </a:spcAft>
            </a:pPr>
            <a:r>
              <a:rPr lang="es-MX" sz="860">
                <a:solidFill>
                  <a:srgbClr val="64748B"/>
                </a:solidFill>
                <a:latin typeface="Aptos"/>
              </a:rPr>
              <a:t>5 contratos</a:t>
            </a:r>
            <a:endParaRPr lang="es-MX" sz="860"/>
          </a:p>
        </p:txBody>
      </p:sp>
      <p:sp>
        <p:nvSpPr>
          <p:cNvPr id="28" name="Text"/>
          <p:cNvSpPr txBox="1"/>
          <p:nvPr/>
        </p:nvSpPr>
        <p:spPr>
          <a:xfrm>
            <a:off x="7909560" y="4480560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 lIns="73152" rIns="73152" tIns="73152" bIns="73152"/>
          <a:lstStyle/>
          <a:p>
            <a:pPr algn="r">
              <a:spcAft>
                <a:spcPts val="0"/>
              </a:spcAft>
            </a:pPr>
            <a:r>
              <a:rPr lang="es-MX" sz="860" b="1">
                <a:solidFill>
                  <a:srgbClr val="D64545"/>
                </a:solidFill>
                <a:latin typeface="Aptos"/>
              </a:rPr>
              <a:t>$12.5M</a:t>
            </a:r>
            <a:endParaRPr lang="es-MX" sz="860"/>
          </a:p>
        </p:txBody>
      </p:sp>
      <p:sp>
        <p:nvSpPr>
          <p:cNvPr id="29" name="Text"/>
          <p:cNvSpPr txBox="1"/>
          <p:nvPr/>
        </p:nvSpPr>
        <p:spPr>
          <a:xfrm>
            <a:off x="658368" y="4983480"/>
            <a:ext cx="9326880" cy="566928"/>
          </a:xfrm>
          <a:prstGeom prst="roundRect">
            <a:avLst/>
          </a:prstGeom>
          <a:solidFill>
            <a:srgbClr val="08233F"/>
          </a:solidFill>
          <a:ln>
            <a:noFill/>
          </a:ln>
        </p:spPr>
        <p:txBody>
          <a:bodyPr wrap="square" anchor="mid" lIns="73152" rIns="73152" tIns="73152" bIns="73152"/>
          <a:lstStyle/>
          <a:p>
            <a:pPr algn="ctr">
              <a:spcAft>
                <a:spcPts val="0"/>
              </a:spcAft>
            </a:pPr>
            <a:r>
              <a:rPr lang="es-MX" sz="1250">
                <a:solidFill>
                  <a:srgbClr val="FFFFFF"/>
                </a:solidFill>
                <a:latin typeface="Aptos"/>
              </a:rPr>
              <a:t>Slide de prueba: debe coincidir con los datos generados por el demo y abrir la puerta a preguntas reales de cartera, proveedor y obligación.</a:t>
            </a:r>
            <a:endParaRPr lang="es-MX" sz="1250"/>
          </a:p>
        </p:txBody>
      </p:sp>
      <p:sp>
        <p:nvSpPr>
          <p:cNvPr id="30" name="Footer"/>
          <p:cNvSpPr txBox="1"/>
          <p:nvPr/>
        </p:nvSpPr>
        <p:spPr>
          <a:xfrm>
            <a:off x="502920" y="6446520"/>
            <a:ext cx="98755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mid" lIns="73152" rIns="73152" tIns="73152" bIns="73152"/>
          <a:lstStyle/>
          <a:p>
            <a:pPr algn="l">
              <a:spcAft>
                <a:spcPts val="0"/>
              </a:spcAft>
            </a:pPr>
            <a:r>
              <a:rPr lang="es-MX" sz="750">
                <a:solidFill>
                  <a:srgbClr val="64748B"/>
                </a:solidFill>
                <a:latin typeface="Aptos"/>
              </a:rPr>
              <a:t>Workshop Huawei Cloud x Salinas | Mayo 13, 2026 | México Century Plaza</a:t>
            </a:r>
            <a:endParaRPr lang="es-MX" sz="750"/>
          </a:p>
        </p:txBody>
      </p:sp>
      <p:sp>
        <p:nvSpPr>
          <p:cNvPr id="31" name="Page"/>
          <p:cNvSpPr txBox="1"/>
          <p:nvPr/>
        </p:nvSpPr>
        <p:spPr>
          <a:xfrm>
            <a:off x="11064240" y="644652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mid" lIns="73152" rIns="73152" tIns="73152" bIns="73152"/>
          <a:lstStyle/>
          <a:p>
            <a:pPr algn="r">
              <a:spcAft>
                <a:spcPts val="0"/>
              </a:spcAft>
            </a:pPr>
            <a:r>
              <a:rPr lang="es-MX" sz="750">
                <a:solidFill>
                  <a:srgbClr val="64748B"/>
                </a:solidFill>
                <a:latin typeface="Aptos"/>
              </a:rPr>
              <a:t>3 / 5</a:t>
            </a:r>
            <a:endParaRPr lang="es-MX" sz="7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Block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lock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Kicker"/>
          <p:cNvSpPr txBox="1"/>
          <p:nvPr/>
        </p:nvSpPr>
        <p:spPr>
          <a:xfrm>
            <a:off x="502920" y="25603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 lIns="73152" rIns="73152" tIns="73152" bIns="73152"/>
          <a:lstStyle/>
          <a:p>
            <a:pPr algn="l">
              <a:spcAft>
                <a:spcPts val="0"/>
              </a:spcAft>
            </a:pPr>
            <a:r>
              <a:rPr lang="es-MX" sz="850" b="1">
                <a:solidFill>
                  <a:srgbClr val="1FB6C9"/>
                </a:solidFill>
                <a:latin typeface="Aptos"/>
              </a:rPr>
              <a:t>DATAARTS + DWS + DLI + CTS</a:t>
            </a:r>
            <a:endParaRPr lang="es-MX" sz="850"/>
          </a:p>
        </p:txBody>
      </p:sp>
      <p:sp>
        <p:nvSpPr>
          <p:cNvPr id="5" name="Title"/>
          <p:cNvSpPr txBox="1"/>
          <p:nvPr/>
        </p:nvSpPr>
        <p:spPr>
          <a:xfrm>
            <a:off x="502920" y="502920"/>
            <a:ext cx="7955280" cy="566928"/>
          </a:xfrm>
          <a:prstGeom prst="rect">
            <a:avLst/>
          </a:prstGeom>
          <a:noFill/>
          <a:ln>
            <a:noFill/>
          </a:ln>
        </p:spPr>
        <p:txBody>
          <a:bodyPr wrap="square" anchor="mid" lIns="73152" rIns="73152" tIns="73152" bIns="73152"/>
          <a:lstStyle/>
          <a:p>
            <a:pPr algn="l">
              <a:spcAft>
                <a:spcPts val="0"/>
              </a:spcAft>
            </a:pPr>
            <a:r>
              <a:rPr lang="es-MX" sz="2500" b="1">
                <a:solidFill>
                  <a:srgbClr val="0B1728"/>
                </a:solidFill>
                <a:latin typeface="Aptos"/>
              </a:rPr>
              <a:t>Gobierno de datos como plano de control</a:t>
            </a:r>
            <a:endParaRPr lang="es-MX" sz="2500"/>
          </a:p>
        </p:txBody>
      </p:sp>
      <p:sp>
        <p:nvSpPr>
          <p:cNvPr id="6" name="Text"/>
          <p:cNvSpPr txBox="1"/>
          <p:nvPr/>
        </p:nvSpPr>
        <p:spPr>
          <a:xfrm>
            <a:off x="658368" y="1298448"/>
            <a:ext cx="92354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mid" lIns="73152" rIns="73152" tIns="73152" bIns="73152"/>
          <a:lstStyle/>
          <a:p>
            <a:pPr algn="l">
              <a:spcAft>
                <a:spcPts val="0"/>
              </a:spcAft>
            </a:pPr>
            <a:r>
              <a:rPr lang="es-MX" sz="1220">
                <a:solidFill>
                  <a:srgbClr val="12345A"/>
                </a:solidFill>
                <a:latin typeface="Aptos"/>
              </a:rPr>
              <a:t>DataArts no es decoración: es la capa que permite explicar origen, transformación, consumo y controles sobre campos sensibles.</a:t>
            </a:r>
            <a:endParaRPr lang="es-MX" sz="1220"/>
          </a:p>
        </p:txBody>
      </p:sp>
      <p:sp>
        <p:nvSpPr>
          <p:cNvPr id="7" name="Text"/>
          <p:cNvSpPr txBox="1"/>
          <p:nvPr/>
        </p:nvSpPr>
        <p:spPr>
          <a:xfrm>
            <a:off x="658368" y="2084832"/>
            <a:ext cx="1627632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3F0"/>
            </a:solidFill>
          </a:ln>
        </p:spPr>
        <p:txBody>
          <a:bodyPr wrap="square" anchor="mid" lIns="73152" rIns="73152" tIns="73152" bIns="73152"/>
          <a:lstStyle/>
          <a:p>
            <a:pPr algn="ctr">
              <a:spcAft>
                <a:spcPts val="0"/>
              </a:spcAft>
            </a:pPr>
            <a:r>
              <a:rPr lang="es-MX" sz="1200" b="1">
                <a:solidFill>
                  <a:srgbClr val="2B6CB0"/>
                </a:solidFill>
                <a:latin typeface="Aptos"/>
              </a:rPr>
              <a:t>Catálogo</a:t>
            </a:r>
            <a:endParaRPr lang="es-MX" sz="1200"/>
          </a:p>
          <a:p>
            <a:pPr algn="ctr">
              <a:spcAft>
                <a:spcPts val="0"/>
              </a:spcAft>
            </a:pPr>
            <a:r>
              <a:rPr lang="es-MX" sz="819">
                <a:solidFill>
                  <a:srgbClr val="64748B"/>
                </a:solidFill>
                <a:latin typeface="Aptos"/>
              </a:rPr>
              <a:t>metadatos de contratos, vendors y resultados</a:t>
            </a:r>
            <a:endParaRPr lang="es-MX" sz="819"/>
          </a:p>
        </p:txBody>
      </p:sp>
      <p:sp>
        <p:nvSpPr>
          <p:cNvPr id="8" name="Text"/>
          <p:cNvSpPr txBox="1"/>
          <p:nvPr/>
        </p:nvSpPr>
        <p:spPr>
          <a:xfrm>
            <a:off x="2578608" y="2084832"/>
            <a:ext cx="1627632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3F0"/>
            </a:solidFill>
          </a:ln>
        </p:spPr>
        <p:txBody>
          <a:bodyPr wrap="square" anchor="mid" lIns="73152" rIns="73152" tIns="73152" bIns="73152"/>
          <a:lstStyle/>
          <a:p>
            <a:pPr algn="ctr">
              <a:spcAft>
                <a:spcPts val="0"/>
              </a:spcAft>
            </a:pPr>
            <a:r>
              <a:rPr lang="es-MX" sz="1200" b="1">
                <a:solidFill>
                  <a:srgbClr val="1FB6C9"/>
                </a:solidFill>
                <a:latin typeface="Aptos"/>
              </a:rPr>
              <a:t>Linaje</a:t>
            </a:r>
            <a:endParaRPr lang="es-MX" sz="1200"/>
          </a:p>
          <a:p>
            <a:pPr algn="ctr">
              <a:spcAft>
                <a:spcPts val="0"/>
              </a:spcAft>
            </a:pPr>
            <a:r>
              <a:rPr lang="es-MX" sz="819">
                <a:solidFill>
                  <a:srgbClr val="64748B"/>
                </a:solidFill>
                <a:latin typeface="Aptos"/>
              </a:rPr>
              <a:t>OBS -&gt; FunctionGraph -&gt; DLI -&gt; DWS -&gt; API</a:t>
            </a:r>
            <a:endParaRPr lang="es-MX" sz="819"/>
          </a:p>
        </p:txBody>
      </p:sp>
      <p:sp>
        <p:nvSpPr>
          <p:cNvPr id="9" name="Text"/>
          <p:cNvSpPr txBox="1"/>
          <p:nvPr/>
        </p:nvSpPr>
        <p:spPr>
          <a:xfrm>
            <a:off x="4498848" y="2084832"/>
            <a:ext cx="1627632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3F0"/>
            </a:solidFill>
          </a:ln>
        </p:spPr>
        <p:txBody>
          <a:bodyPr wrap="square" anchor="mid" lIns="73152" rIns="73152" tIns="73152" bIns="73152"/>
          <a:lstStyle/>
          <a:p>
            <a:pPr algn="ctr">
              <a:spcAft>
                <a:spcPts val="0"/>
              </a:spcAft>
            </a:pPr>
            <a:r>
              <a:rPr lang="es-MX" sz="1200" b="1">
                <a:solidFill>
                  <a:srgbClr val="D64545"/>
                </a:solidFill>
                <a:latin typeface="Aptos"/>
              </a:rPr>
              <a:t>Seguridad</a:t>
            </a:r>
            <a:endParaRPr lang="es-MX" sz="1200"/>
          </a:p>
          <a:p>
            <a:pPr algn="ctr">
              <a:spcAft>
                <a:spcPts val="0"/>
              </a:spcAft>
            </a:pPr>
            <a:r>
              <a:rPr lang="es-MX" sz="819">
                <a:solidFill>
                  <a:srgbClr val="64748B"/>
                </a:solidFill>
                <a:latin typeface="Aptos"/>
              </a:rPr>
              <a:t>clasificación, masking y acceso por rol</a:t>
            </a:r>
            <a:endParaRPr lang="es-MX" sz="819"/>
          </a:p>
        </p:txBody>
      </p:sp>
      <p:sp>
        <p:nvSpPr>
          <p:cNvPr id="10" name="Text"/>
          <p:cNvSpPr txBox="1"/>
          <p:nvPr/>
        </p:nvSpPr>
        <p:spPr>
          <a:xfrm>
            <a:off x="6419088" y="2084832"/>
            <a:ext cx="1627632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3F0"/>
            </a:solidFill>
          </a:ln>
        </p:spPr>
        <p:txBody>
          <a:bodyPr wrap="square" anchor="mid" lIns="73152" rIns="73152" tIns="73152" bIns="73152"/>
          <a:lstStyle/>
          <a:p>
            <a:pPr algn="ctr">
              <a:spcAft>
                <a:spcPts val="0"/>
              </a:spcAft>
            </a:pPr>
            <a:r>
              <a:rPr lang="es-MX" sz="1200" b="1">
                <a:solidFill>
                  <a:srgbClr val="F5A623"/>
                </a:solidFill>
                <a:latin typeface="Aptos"/>
              </a:rPr>
              <a:t>Factory</a:t>
            </a:r>
            <a:endParaRPr lang="es-MX" sz="1200"/>
          </a:p>
          <a:p>
            <a:pPr algn="ctr">
              <a:spcAft>
                <a:spcPts val="0"/>
              </a:spcAft>
            </a:pPr>
            <a:r>
              <a:rPr lang="es-MX" sz="819">
                <a:solidFill>
                  <a:srgbClr val="64748B"/>
                </a:solidFill>
                <a:latin typeface="Aptos"/>
              </a:rPr>
              <a:t>orquestación ETL y monitoreo</a:t>
            </a:r>
            <a:endParaRPr lang="es-MX" sz="819"/>
          </a:p>
        </p:txBody>
      </p:sp>
      <p:sp>
        <p:nvSpPr>
          <p:cNvPr id="11" name="Text"/>
          <p:cNvSpPr txBox="1"/>
          <p:nvPr/>
        </p:nvSpPr>
        <p:spPr>
          <a:xfrm>
            <a:off x="8339328" y="2084832"/>
            <a:ext cx="1627632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3F0"/>
            </a:solidFill>
          </a:ln>
        </p:spPr>
        <p:txBody>
          <a:bodyPr wrap="square" anchor="mid" lIns="73152" rIns="73152" tIns="73152" bIns="73152"/>
          <a:lstStyle/>
          <a:p>
            <a:pPr algn="ctr">
              <a:spcAft>
                <a:spcPts val="0"/>
              </a:spcAft>
            </a:pPr>
            <a:r>
              <a:rPr lang="es-MX" sz="1200" b="1">
                <a:solidFill>
                  <a:srgbClr val="22A06B"/>
                </a:solidFill>
                <a:latin typeface="Aptos"/>
              </a:rPr>
              <a:t>DataService</a:t>
            </a:r>
            <a:endParaRPr lang="es-MX" sz="1200"/>
          </a:p>
          <a:p>
            <a:pPr algn="ctr">
              <a:spcAft>
                <a:spcPts val="0"/>
              </a:spcAft>
            </a:pPr>
            <a:r>
              <a:rPr lang="es-MX" sz="819">
                <a:solidFill>
                  <a:srgbClr val="64748B"/>
                </a:solidFill>
                <a:latin typeface="Aptos"/>
              </a:rPr>
              <a:t>endpoints para dashboards y chatbot</a:t>
            </a:r>
            <a:endParaRPr lang="es-MX" sz="819"/>
          </a:p>
        </p:txBody>
      </p:sp>
      <p:sp>
        <p:nvSpPr>
          <p:cNvPr id="12" name="Block"/>
          <p:cNvSpPr/>
          <p:nvPr/>
        </p:nvSpPr>
        <p:spPr>
          <a:xfrm>
            <a:off x="1188720" y="3959352"/>
            <a:ext cx="8138160" cy="201168"/>
          </a:xfrm>
          <a:prstGeom prst="rect">
            <a:avLst/>
          </a:prstGeom>
          <a:solidFill>
            <a:srgbClr val="D7E3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"/>
          <p:cNvSpPr txBox="1"/>
          <p:nvPr/>
        </p:nvSpPr>
        <p:spPr>
          <a:xfrm>
            <a:off x="804672" y="4315968"/>
            <a:ext cx="201168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3F0"/>
            </a:solidFill>
          </a:ln>
        </p:spPr>
        <p:txBody>
          <a:bodyPr wrap="square" anchor="mid" lIns="73152" rIns="73152" tIns="73152" bIns="73152"/>
          <a:lstStyle/>
          <a:p>
            <a:pPr algn="ctr">
              <a:spcAft>
                <a:spcPts val="0"/>
              </a:spcAft>
            </a:pPr>
            <a:r>
              <a:rPr lang="es-MX" sz="1300" b="1">
                <a:solidFill>
                  <a:srgbClr val="2B6CB0"/>
                </a:solidFill>
                <a:latin typeface="Aptos"/>
              </a:rPr>
              <a:t>OBS</a:t>
            </a:r>
            <a:endParaRPr lang="es-MX" sz="1300"/>
          </a:p>
          <a:p>
            <a:pPr algn="ctr">
              <a:spcAft>
                <a:spcPts val="0"/>
              </a:spcAft>
            </a:pPr>
            <a:r>
              <a:rPr lang="es-MX" sz="800">
                <a:solidFill>
                  <a:srgbClr val="64748B"/>
                </a:solidFill>
                <a:latin typeface="Aptos"/>
              </a:rPr>
              <a:t>raw / processed / results</a:t>
            </a:r>
            <a:endParaRPr lang="es-MX" sz="800"/>
          </a:p>
        </p:txBody>
      </p:sp>
      <p:sp>
        <p:nvSpPr>
          <p:cNvPr id="14" name="Text"/>
          <p:cNvSpPr txBox="1"/>
          <p:nvPr/>
        </p:nvSpPr>
        <p:spPr>
          <a:xfrm>
            <a:off x="3273552" y="4315968"/>
            <a:ext cx="201168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3F0"/>
            </a:solidFill>
          </a:ln>
        </p:spPr>
        <p:txBody>
          <a:bodyPr wrap="square" anchor="mid" lIns="73152" rIns="73152" tIns="73152" bIns="73152"/>
          <a:lstStyle/>
          <a:p>
            <a:pPr algn="ctr">
              <a:spcAft>
                <a:spcPts val="0"/>
              </a:spcAft>
            </a:pPr>
            <a:r>
              <a:rPr lang="es-MX" sz="1300" b="1">
                <a:solidFill>
                  <a:srgbClr val="2B6CB0"/>
                </a:solidFill>
                <a:latin typeface="Aptos"/>
              </a:rPr>
              <a:t>DLI</a:t>
            </a:r>
            <a:endParaRPr lang="es-MX" sz="1300"/>
          </a:p>
          <a:p>
            <a:pPr algn="ctr">
              <a:spcAft>
                <a:spcPts val="0"/>
              </a:spcAft>
            </a:pPr>
            <a:r>
              <a:rPr lang="es-MX" sz="800">
                <a:solidFill>
                  <a:srgbClr val="64748B"/>
                </a:solidFill>
                <a:latin typeface="Aptos"/>
              </a:rPr>
              <a:t>serverless SQL + transforms</a:t>
            </a:r>
            <a:endParaRPr lang="es-MX" sz="800"/>
          </a:p>
        </p:txBody>
      </p:sp>
      <p:sp>
        <p:nvSpPr>
          <p:cNvPr id="15" name="Text"/>
          <p:cNvSpPr txBox="1"/>
          <p:nvPr/>
        </p:nvSpPr>
        <p:spPr>
          <a:xfrm>
            <a:off x="5742432" y="4315968"/>
            <a:ext cx="201168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3F0"/>
            </a:solidFill>
          </a:ln>
        </p:spPr>
        <p:txBody>
          <a:bodyPr wrap="square" anchor="mid" lIns="73152" rIns="73152" tIns="73152" bIns="73152"/>
          <a:lstStyle/>
          <a:p>
            <a:pPr algn="ctr">
              <a:spcAft>
                <a:spcPts val="0"/>
              </a:spcAft>
            </a:pPr>
            <a:r>
              <a:rPr lang="es-MX" sz="1300" b="1">
                <a:solidFill>
                  <a:srgbClr val="2B6CB0"/>
                </a:solidFill>
                <a:latin typeface="Aptos"/>
              </a:rPr>
              <a:t>DWS</a:t>
            </a:r>
            <a:endParaRPr lang="es-MX" sz="1300"/>
          </a:p>
          <a:p>
            <a:pPr algn="ctr">
              <a:spcAft>
                <a:spcPts val="0"/>
              </a:spcAft>
            </a:pPr>
            <a:r>
              <a:rPr lang="es-MX" sz="800">
                <a:solidFill>
                  <a:srgbClr val="64748B"/>
                </a:solidFill>
                <a:latin typeface="Aptos"/>
              </a:rPr>
              <a:t>risk marts + analytics</a:t>
            </a:r>
            <a:endParaRPr lang="es-MX" sz="800"/>
          </a:p>
        </p:txBody>
      </p:sp>
      <p:sp>
        <p:nvSpPr>
          <p:cNvPr id="16" name="Text"/>
          <p:cNvSpPr txBox="1"/>
          <p:nvPr/>
        </p:nvSpPr>
        <p:spPr>
          <a:xfrm>
            <a:off x="8211312" y="4315968"/>
            <a:ext cx="201168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3F0"/>
            </a:solidFill>
          </a:ln>
        </p:spPr>
        <p:txBody>
          <a:bodyPr wrap="square" anchor="mid" lIns="73152" rIns="73152" tIns="73152" bIns="73152"/>
          <a:lstStyle/>
          <a:p>
            <a:pPr algn="ctr">
              <a:spcAft>
                <a:spcPts val="0"/>
              </a:spcAft>
            </a:pPr>
            <a:r>
              <a:rPr lang="es-MX" sz="1300" b="1">
                <a:solidFill>
                  <a:srgbClr val="2B6CB0"/>
                </a:solidFill>
                <a:latin typeface="Aptos"/>
              </a:rPr>
              <a:t>Apps</a:t>
            </a:r>
            <a:endParaRPr lang="es-MX" sz="1300"/>
          </a:p>
          <a:p>
            <a:pPr algn="ctr">
              <a:spcAft>
                <a:spcPts val="0"/>
              </a:spcAft>
            </a:pPr>
            <a:r>
              <a:rPr lang="es-MX" sz="800">
                <a:solidFill>
                  <a:srgbClr val="64748B"/>
                </a:solidFill>
                <a:latin typeface="Aptos"/>
              </a:rPr>
              <a:t>Dify chatbot + dashboard</a:t>
            </a:r>
            <a:endParaRPr lang="es-MX" sz="800"/>
          </a:p>
        </p:txBody>
      </p:sp>
      <p:sp>
        <p:nvSpPr>
          <p:cNvPr id="17" name="Text"/>
          <p:cNvSpPr txBox="1"/>
          <p:nvPr/>
        </p:nvSpPr>
        <p:spPr>
          <a:xfrm>
            <a:off x="658368" y="5504688"/>
            <a:ext cx="9326880" cy="384048"/>
          </a:xfrm>
          <a:prstGeom prst="roundRect">
            <a:avLst/>
          </a:prstGeom>
          <a:solidFill>
            <a:srgbClr val="08233F"/>
          </a:solidFill>
          <a:ln>
            <a:noFill/>
          </a:ln>
        </p:spPr>
        <p:txBody>
          <a:bodyPr wrap="square" anchor="mid" lIns="73152" rIns="73152" tIns="73152" bIns="73152"/>
          <a:lstStyle/>
          <a:p>
            <a:pPr algn="ctr">
              <a:spcAft>
                <a:spcPts val="0"/>
              </a:spcAft>
            </a:pPr>
            <a:r>
              <a:rPr lang="es-MX" sz="1150">
                <a:solidFill>
                  <a:srgbClr val="FFFFFF"/>
                </a:solidFill>
                <a:latin typeface="Aptos"/>
              </a:rPr>
              <a:t>Mensaje para AYCO: el demo puede crecer hacia controles auditables sin cambiar la historia funcional.</a:t>
            </a:r>
            <a:endParaRPr lang="es-MX" sz="1150"/>
          </a:p>
        </p:txBody>
      </p:sp>
      <p:sp>
        <p:nvSpPr>
          <p:cNvPr id="18" name="Footer"/>
          <p:cNvSpPr txBox="1"/>
          <p:nvPr/>
        </p:nvSpPr>
        <p:spPr>
          <a:xfrm>
            <a:off x="502920" y="6446520"/>
            <a:ext cx="98755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mid" lIns="73152" rIns="73152" tIns="73152" bIns="73152"/>
          <a:lstStyle/>
          <a:p>
            <a:pPr algn="l">
              <a:spcAft>
                <a:spcPts val="0"/>
              </a:spcAft>
            </a:pPr>
            <a:r>
              <a:rPr lang="es-MX" sz="750">
                <a:solidFill>
                  <a:srgbClr val="64748B"/>
                </a:solidFill>
                <a:latin typeface="Aptos"/>
              </a:rPr>
              <a:t>Workshop Huawei Cloud x Salinas | Mayo 13, 2026 | México Century Plaza</a:t>
            </a:r>
            <a:endParaRPr lang="es-MX" sz="750"/>
          </a:p>
        </p:txBody>
      </p:sp>
      <p:sp>
        <p:nvSpPr>
          <p:cNvPr id="19" name="Page"/>
          <p:cNvSpPr txBox="1"/>
          <p:nvPr/>
        </p:nvSpPr>
        <p:spPr>
          <a:xfrm>
            <a:off x="11064240" y="644652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mid" lIns="73152" rIns="73152" tIns="73152" bIns="73152"/>
          <a:lstStyle/>
          <a:p>
            <a:pPr algn="r">
              <a:spcAft>
                <a:spcPts val="0"/>
              </a:spcAft>
            </a:pPr>
            <a:r>
              <a:rPr lang="es-MX" sz="750">
                <a:solidFill>
                  <a:srgbClr val="64748B"/>
                </a:solidFill>
                <a:latin typeface="Aptos"/>
              </a:rPr>
              <a:t>4 / 5</a:t>
            </a:r>
            <a:endParaRPr lang="es-MX" sz="7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Block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Block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64545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Kicker"/>
          <p:cNvSpPr txBox="1"/>
          <p:nvPr/>
        </p:nvSpPr>
        <p:spPr>
          <a:xfrm>
            <a:off x="502920" y="256032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 lIns="73152" rIns="73152" tIns="73152" bIns="73152"/>
          <a:lstStyle/>
          <a:p>
            <a:pPr algn="l">
              <a:spcAft>
                <a:spcPts val="0"/>
              </a:spcAft>
            </a:pPr>
            <a:r>
              <a:rPr lang="es-MX" sz="850" b="1">
                <a:solidFill>
                  <a:srgbClr val="1FB6C9"/>
                </a:solidFill>
                <a:latin typeface="Aptos"/>
              </a:rPr>
              <a:t>CIERRE EJECUTIVO</a:t>
            </a:r>
            <a:endParaRPr lang="es-MX" sz="850"/>
          </a:p>
        </p:txBody>
      </p:sp>
      <p:sp>
        <p:nvSpPr>
          <p:cNvPr id="5" name="Title"/>
          <p:cNvSpPr txBox="1"/>
          <p:nvPr/>
        </p:nvSpPr>
        <p:spPr>
          <a:xfrm>
            <a:off x="502920" y="502920"/>
            <a:ext cx="7955280" cy="566928"/>
          </a:xfrm>
          <a:prstGeom prst="rect">
            <a:avLst/>
          </a:prstGeom>
          <a:noFill/>
          <a:ln>
            <a:noFill/>
          </a:ln>
        </p:spPr>
        <p:txBody>
          <a:bodyPr wrap="square" anchor="mid" lIns="73152" rIns="73152" tIns="73152" bIns="73152"/>
          <a:lstStyle/>
          <a:p>
            <a:pPr algn="l">
              <a:spcAft>
                <a:spcPts val="0"/>
              </a:spcAft>
            </a:pPr>
            <a:r>
              <a:rPr lang="es-MX" sz="2500" b="1">
                <a:solidFill>
                  <a:srgbClr val="0B1728"/>
                </a:solidFill>
                <a:latin typeface="Aptos"/>
              </a:rPr>
              <a:t>Impacto para AYCO</a:t>
            </a:r>
            <a:endParaRPr lang="es-MX" sz="2500"/>
          </a:p>
        </p:txBody>
      </p:sp>
      <p:sp>
        <p:nvSpPr>
          <p:cNvPr id="6" name="Text"/>
          <p:cNvSpPr txBox="1"/>
          <p:nvPr/>
        </p:nvSpPr>
        <p:spPr>
          <a:xfrm>
            <a:off x="658368" y="1234440"/>
            <a:ext cx="3931920" cy="1920240"/>
          </a:xfrm>
          <a:prstGeom prst="roundRect">
            <a:avLst/>
          </a:prstGeom>
          <a:solidFill>
            <a:srgbClr val="08233F"/>
          </a:solidFill>
          <a:ln>
            <a:noFill/>
          </a:ln>
        </p:spPr>
        <p:txBody>
          <a:bodyPr wrap="square" anchor="mid" lIns="73152" rIns="73152" tIns="73152" bIns="73152"/>
          <a:lstStyle/>
          <a:p>
            <a:pPr algn="ctr">
              <a:spcAft>
                <a:spcPts val="0"/>
              </a:spcAft>
            </a:pPr>
            <a:r>
              <a:rPr lang="es-MX" sz="2800" b="1">
                <a:solidFill>
                  <a:srgbClr val="FFFFFF"/>
                </a:solidFill>
                <a:latin typeface="Aptos"/>
              </a:rPr>
              <a:t>2 semanas -&gt; 8 minutos</a:t>
            </a:r>
            <a:endParaRPr lang="es-MX" sz="2800"/>
          </a:p>
          <a:p>
            <a:pPr algn="ctr">
              <a:spcAft>
                <a:spcPts val="0"/>
              </a:spcAft>
            </a:pPr>
            <a:r>
              <a:rPr lang="es-MX" sz="1150">
                <a:solidFill>
                  <a:srgbClr val="FFFFFF"/>
                </a:solidFill>
                <a:latin typeface="Aptos"/>
              </a:rPr>
              <a:t>La tesis de valor: comprimir revisión contractual y enfocar analistas donde existe exposición real.</a:t>
            </a:r>
            <a:endParaRPr lang="es-MX" sz="1150"/>
          </a:p>
        </p:txBody>
      </p:sp>
      <p:sp>
        <p:nvSpPr>
          <p:cNvPr id="7" name="Text"/>
          <p:cNvSpPr txBox="1"/>
          <p:nvPr/>
        </p:nvSpPr>
        <p:spPr>
          <a:xfrm>
            <a:off x="4892040" y="1234440"/>
            <a:ext cx="192024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3F0"/>
            </a:solidFill>
          </a:ln>
        </p:spPr>
        <p:txBody>
          <a:bodyPr wrap="square" anchor="mid" lIns="73152" rIns="73152" tIns="73152" bIns="73152"/>
          <a:lstStyle/>
          <a:p>
            <a:pPr algn="ctr">
              <a:spcAft>
                <a:spcPts val="0"/>
              </a:spcAft>
            </a:pPr>
            <a:r>
              <a:rPr lang="es-MX" sz="2400" b="1">
                <a:solidFill>
                  <a:srgbClr val="F5A623"/>
                </a:solidFill>
                <a:latin typeface="Aptos"/>
              </a:rPr>
              <a:t>$175M</a:t>
            </a:r>
            <a:endParaRPr lang="es-MX" sz="2400"/>
          </a:p>
          <a:p>
            <a:pPr algn="ctr">
              <a:spcAft>
                <a:spcPts val="0"/>
              </a:spcAft>
            </a:pPr>
            <a:r>
              <a:rPr lang="es-MX" sz="819">
                <a:solidFill>
                  <a:srgbClr val="0B1728"/>
                </a:solidFill>
                <a:latin typeface="Aptos"/>
              </a:rPr>
              <a:t>exposición identificada</a:t>
            </a:r>
            <a:endParaRPr lang="es-MX" sz="819"/>
          </a:p>
        </p:txBody>
      </p:sp>
      <p:sp>
        <p:nvSpPr>
          <p:cNvPr id="8" name="Text"/>
          <p:cNvSpPr txBox="1"/>
          <p:nvPr/>
        </p:nvSpPr>
        <p:spPr>
          <a:xfrm>
            <a:off x="7114032" y="1234440"/>
            <a:ext cx="192024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3F0"/>
            </a:solidFill>
          </a:ln>
        </p:spPr>
        <p:txBody>
          <a:bodyPr wrap="square" anchor="mid" lIns="73152" rIns="73152" tIns="73152" bIns="73152"/>
          <a:lstStyle/>
          <a:p>
            <a:pPr algn="ctr">
              <a:spcAft>
                <a:spcPts val="0"/>
              </a:spcAft>
            </a:pPr>
            <a:r>
              <a:rPr lang="es-MX" sz="2400" b="1">
                <a:solidFill>
                  <a:srgbClr val="D64545"/>
                </a:solidFill>
                <a:latin typeface="Aptos"/>
              </a:rPr>
              <a:t>4 niveles</a:t>
            </a:r>
            <a:endParaRPr lang="es-MX" sz="2400"/>
          </a:p>
          <a:p>
            <a:pPr algn="ctr">
              <a:spcAft>
                <a:spcPts val="0"/>
              </a:spcAft>
            </a:pPr>
            <a:r>
              <a:rPr lang="es-MX" sz="819">
                <a:solidFill>
                  <a:srgbClr val="0B1728"/>
                </a:solidFill>
                <a:latin typeface="Aptos"/>
              </a:rPr>
              <a:t>bajo a critico</a:t>
            </a:r>
            <a:endParaRPr lang="es-MX" sz="819"/>
          </a:p>
        </p:txBody>
      </p:sp>
      <p:sp>
        <p:nvSpPr>
          <p:cNvPr id="9" name="Text"/>
          <p:cNvSpPr txBox="1"/>
          <p:nvPr/>
        </p:nvSpPr>
        <p:spPr>
          <a:xfrm>
            <a:off x="9326880" y="1234440"/>
            <a:ext cx="192024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3F0"/>
            </a:solidFill>
          </a:ln>
        </p:spPr>
        <p:txBody>
          <a:bodyPr wrap="square" anchor="mid" lIns="73152" rIns="73152" tIns="73152" bIns="73152"/>
          <a:lstStyle/>
          <a:p>
            <a:pPr algn="ctr">
              <a:spcAft>
                <a:spcPts val="0"/>
              </a:spcAft>
            </a:pPr>
            <a:r>
              <a:rPr lang="es-MX" sz="2400" b="1">
                <a:solidFill>
                  <a:srgbClr val="22A06B"/>
                </a:solidFill>
                <a:latin typeface="Aptos"/>
              </a:rPr>
              <a:t>24</a:t>
            </a:r>
            <a:endParaRPr lang="es-MX" sz="2400"/>
          </a:p>
          <a:p>
            <a:pPr algn="ctr">
              <a:spcAft>
                <a:spcPts val="0"/>
              </a:spcAft>
            </a:pPr>
            <a:r>
              <a:rPr lang="es-MX" sz="819">
                <a:solidFill>
                  <a:srgbClr val="0B1728"/>
                </a:solidFill>
                <a:latin typeface="Aptos"/>
              </a:rPr>
              <a:t>vendors escalables</a:t>
            </a:r>
            <a:endParaRPr lang="es-MX" sz="819"/>
          </a:p>
        </p:txBody>
      </p:sp>
      <p:sp>
        <p:nvSpPr>
          <p:cNvPr id="10" name="Text"/>
          <p:cNvSpPr txBox="1"/>
          <p:nvPr/>
        </p:nvSpPr>
        <p:spPr>
          <a:xfrm>
            <a:off x="4892040" y="2542032"/>
            <a:ext cx="27889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3F0"/>
            </a:solidFill>
          </a:ln>
        </p:spPr>
        <p:txBody>
          <a:bodyPr wrap="square" anchor="top" lIns="73152" rIns="73152" tIns="73152" bIns="73152"/>
          <a:lstStyle/>
          <a:p>
            <a:pPr algn="l">
              <a:spcAft>
                <a:spcPts val="0"/>
              </a:spcAft>
            </a:pPr>
            <a:r>
              <a:rPr lang="es-MX" sz="1220" b="1">
                <a:solidFill>
                  <a:srgbClr val="0B1728"/>
                </a:solidFill>
                <a:latin typeface="Aptos"/>
              </a:rPr>
              <a:t>Controles listos para explicar</a:t>
            </a:r>
            <a:endParaRPr lang="es-MX" sz="1220"/>
          </a:p>
          <a:p>
            <a:pPr algn="l">
              <a:spcAft>
                <a:spcPts val="0"/>
              </a:spcAft>
            </a:pPr>
            <a:r>
              <a:rPr lang="es-MX" sz="860">
                <a:solidFill>
                  <a:srgbClr val="64748B"/>
                </a:solidFill>
                <a:latin typeface="Aptos"/>
              </a:rPr>
              <a:t>VPC privada, IAM/KMS, CTS Cloud Trace (auditoría CNBV), 3 datanodes MPP (EXPLAIN ANALYZE en vivo), Terraform IaC (zero-diff plan), y Langfuse Cloud</a:t>
            </a:r>
            <a:endParaRPr lang="es-MX" sz="860"/>
          </a:p>
        </p:txBody>
      </p:sp>
      <p:sp>
        <p:nvSpPr>
          <p:cNvPr id="11" name="Text"/>
          <p:cNvSpPr txBox="1"/>
          <p:nvPr/>
        </p:nvSpPr>
        <p:spPr>
          <a:xfrm>
            <a:off x="7991856" y="2542032"/>
            <a:ext cx="27889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3F0"/>
            </a:solidFill>
          </a:ln>
        </p:spPr>
        <p:txBody>
          <a:bodyPr wrap="square" anchor="top" lIns="73152" rIns="73152" tIns="73152" bIns="73152"/>
          <a:lstStyle/>
          <a:p>
            <a:pPr algn="l">
              <a:spcAft>
                <a:spcPts val="0"/>
              </a:spcAft>
            </a:pPr>
            <a:r>
              <a:rPr lang="es-MX" sz="1220" b="1">
                <a:solidFill>
                  <a:srgbClr val="0B1728"/>
                </a:solidFill>
                <a:latin typeface="Aptos"/>
              </a:rPr>
              <a:t>Recursos Huawei Cloud</a:t>
            </a:r>
            <a:endParaRPr lang="es-MX" sz="1220"/>
          </a:p>
          <a:p>
            <a:pPr algn="l">
              <a:spcAft>
                <a:spcPts val="0"/>
              </a:spcAft>
            </a:pPr>
            <a:r>
              <a:rPr lang="es-MX" sz="860">
                <a:solidFill>
                  <a:srgbClr val="64748B"/>
                </a:solidFill>
                <a:latin typeface="Aptos"/>
              </a:rPr>
              <a:t>ECS x2, OBS x3, FunctionGraph x3, DLI, DWS 2 nodos, DataArts Studio y Langfuse Cloud.</a:t>
            </a:r>
            <a:endParaRPr lang="es-MX" sz="860"/>
          </a:p>
        </p:txBody>
      </p:sp>
      <p:sp>
        <p:nvSpPr>
          <p:cNvPr id="12" name="Text"/>
          <p:cNvSpPr txBox="1"/>
          <p:nvPr/>
        </p:nvSpPr>
        <p:spPr>
          <a:xfrm>
            <a:off x="658368" y="3977640"/>
            <a:ext cx="10012680" cy="804672"/>
          </a:xfrm>
          <a:prstGeom prst="roundRect">
            <a:avLst/>
          </a:prstGeom>
          <a:solidFill>
            <a:srgbClr val="08233F"/>
          </a:solidFill>
          <a:ln>
            <a:noFill/>
          </a:ln>
        </p:spPr>
        <p:txBody>
          <a:bodyPr wrap="square" anchor="mid" lIns="73152" rIns="73152" tIns="73152" bIns="73152"/>
          <a:lstStyle/>
          <a:p>
            <a:pPr algn="ctr">
              <a:spcAft>
                <a:spcPts val="0"/>
              </a:spcAft>
            </a:pPr>
            <a:r>
              <a:rPr lang="es-MX" sz="1200" b="1">
                <a:solidFill>
                  <a:srgbClr val="1FB6C9"/>
                </a:solidFill>
                <a:latin typeface="Aptos"/>
              </a:rPr>
              <a:t>Cierre recomendado</a:t>
            </a:r>
            <a:endParaRPr lang="es-MX" sz="1200"/>
          </a:p>
          <a:p>
            <a:pPr algn="ctr">
              <a:spcAft>
                <a:spcPts val="0"/>
              </a:spcAft>
            </a:pPr>
            <a:r>
              <a:rPr lang="es-MX" sz="1300">
                <a:solidFill>
                  <a:srgbClr val="FFFFFF"/>
                </a:solidFill>
                <a:latin typeface="Aptos"/>
              </a:rPr>
              <a:t>Pedir al grupo elegir un contrato crítico y una pregunta de chatbot para probar explicabilidad, trazabilidad y siguiente mejor acción.</a:t>
            </a:r>
            <a:endParaRPr lang="es-MX" sz="1300"/>
          </a:p>
        </p:txBody>
      </p:sp>
      <p:sp>
        <p:nvSpPr>
          <p:cNvPr id="13" name="Text"/>
          <p:cNvSpPr txBox="1"/>
          <p:nvPr/>
        </p:nvSpPr>
        <p:spPr>
          <a:xfrm>
            <a:off x="658368" y="5230368"/>
            <a:ext cx="1001268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3F0"/>
            </a:solidFill>
          </a:ln>
        </p:spPr>
        <p:txBody>
          <a:bodyPr wrap="square" anchor="mid" lIns="73152" rIns="73152" tIns="73152" bIns="73152"/>
          <a:lstStyle/>
          <a:p>
            <a:pPr algn="ctr">
              <a:spcAft>
                <a:spcPts val="0"/>
              </a:spcAft>
            </a:pPr>
            <a:r>
              <a:rPr lang="es-MX" sz="1050">
                <a:solidFill>
                  <a:srgbClr val="64748B"/>
                </a:solidFill>
                <a:latin typeface="Aptos"/>
              </a:rPr>
              <a:t>Se removieron claims débiles como costo por contrato y latencia fija: mejor mostrar métricas defendibles del dataset y del flujo observado.</a:t>
            </a:r>
            <a:endParaRPr lang="es-MX" sz="1050"/>
          </a:p>
        </p:txBody>
      </p:sp>
      <p:sp>
        <p:nvSpPr>
          <p:cNvPr id="14" name="Footer"/>
          <p:cNvSpPr txBox="1"/>
          <p:nvPr/>
        </p:nvSpPr>
        <p:spPr>
          <a:xfrm>
            <a:off x="502920" y="6446520"/>
            <a:ext cx="98755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mid" lIns="73152" rIns="73152" tIns="73152" bIns="73152"/>
          <a:lstStyle/>
          <a:p>
            <a:pPr algn="l">
              <a:spcAft>
                <a:spcPts val="0"/>
              </a:spcAft>
            </a:pPr>
            <a:r>
              <a:rPr lang="es-MX" sz="750">
                <a:solidFill>
                  <a:srgbClr val="64748B"/>
                </a:solidFill>
                <a:latin typeface="Aptos"/>
              </a:rPr>
              <a:t>Workshop Huawei Cloud x Salinas | Mayo 13, 2026 | México Century Plaza</a:t>
            </a:r>
            <a:endParaRPr lang="es-MX" sz="750"/>
          </a:p>
        </p:txBody>
      </p:sp>
      <p:sp>
        <p:nvSpPr>
          <p:cNvPr id="15" name="Page"/>
          <p:cNvSpPr txBox="1"/>
          <p:nvPr/>
        </p:nvSpPr>
        <p:spPr>
          <a:xfrm>
            <a:off x="11064240" y="644652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mid" lIns="73152" rIns="73152" tIns="73152" bIns="73152"/>
          <a:lstStyle/>
          <a:p>
            <a:pPr algn="r">
              <a:spcAft>
                <a:spcPts val="0"/>
              </a:spcAft>
            </a:pPr>
            <a:r>
              <a:rPr lang="es-MX" sz="750">
                <a:solidFill>
                  <a:srgbClr val="64748B"/>
                </a:solidFill>
                <a:latin typeface="Aptos"/>
              </a:rPr>
              <a:t>5 / 5</a:t>
            </a:r>
            <a:endParaRPr lang="es-MX" sz="7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