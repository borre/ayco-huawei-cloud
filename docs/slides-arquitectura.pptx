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AYCO — Arquitectura General Huawei Cloud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457200" y="45720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Casos de Uso sobre Infraestructura Unificada  |  la-north-2 (México)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INGESTA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16459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6459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6459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Calidad</a:t>
            </a:r>
            <a:endParaRPr lang="en-US" sz="700" dirty="0"/>
          </a:p>
        </p:txBody>
      </p:sp>
      <p:sp>
        <p:nvSpPr>
          <p:cNvPr id="8" name="Text 6"/>
          <p:cNvSpPr/>
          <p:nvPr/>
        </p:nvSpPr>
        <p:spPr>
          <a:xfrm>
            <a:off x="28803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46120" y="868680"/>
            <a:ext cx="118872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246120" y="868680"/>
            <a:ext cx="118872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246120" y="1130198"/>
            <a:ext cx="118872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Lake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448056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84632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84632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4632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6583680" y="868680"/>
            <a:ext cx="100584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868680"/>
            <a:ext cx="100584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6583680" y="1130198"/>
            <a:ext cx="100584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</a:t>
            </a:r>
            <a:endParaRPr lang="en-US" sz="700" dirty="0"/>
          </a:p>
        </p:txBody>
      </p:sp>
      <p:sp>
        <p:nvSpPr>
          <p:cNvPr id="19" name="Text 17"/>
          <p:cNvSpPr/>
          <p:nvPr/>
        </p:nvSpPr>
        <p:spPr>
          <a:xfrm>
            <a:off x="7635240" y="9784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8001000" y="868680"/>
            <a:ext cx="914400" cy="502920"/>
          </a:xfrm>
          <a:prstGeom prst="rect">
            <a:avLst>
              <a:gd name="adj" fmla="val 9091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001000" y="8686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001000" y="11301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Serverless</a:t>
            </a:r>
            <a:endParaRPr lang="en-US" sz="700" dirty="0"/>
          </a:p>
        </p:txBody>
      </p:sp>
      <p:sp>
        <p:nvSpPr>
          <p:cNvPr id="23" name="Text 21"/>
          <p:cNvSpPr/>
          <p:nvPr/>
        </p:nvSpPr>
        <p:spPr>
          <a:xfrm>
            <a:off x="274320" y="16002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PROCESA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1645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645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45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+ Anomaly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3063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342900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342900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Serverless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6217920" y="15544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217920" y="15544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MaaS / DeepSeek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0" y="18159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Inference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7635240" y="16642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8001000" y="1554480"/>
            <a:ext cx="914400" cy="502920"/>
          </a:xfrm>
          <a:prstGeom prst="rect">
            <a:avLst>
              <a:gd name="adj" fmla="val 9091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8001000" y="15544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001000" y="18159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Vectors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274320" y="22860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645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1645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645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Warehouse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3063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342900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342900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342900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6217920" y="2240280"/>
            <a:ext cx="1371600" cy="502920"/>
          </a:xfrm>
          <a:prstGeom prst="rect">
            <a:avLst>
              <a:gd name="adj" fmla="val 9091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6217920" y="2240280"/>
            <a:ext cx="13716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217920" y="2501798"/>
            <a:ext cx="13716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Chatbot</a:t>
            </a:r>
            <a:endParaRPr lang="en-US" sz="700" dirty="0"/>
          </a:p>
        </p:txBody>
      </p:sp>
      <p:sp>
        <p:nvSpPr>
          <p:cNvPr id="49" name="Text 47"/>
          <p:cNvSpPr/>
          <p:nvPr/>
        </p:nvSpPr>
        <p:spPr>
          <a:xfrm>
            <a:off x="7635240" y="2350008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8001000" y="2240280"/>
            <a:ext cx="914400" cy="502920"/>
          </a:xfrm>
          <a:prstGeom prst="rect">
            <a:avLst>
              <a:gd name="adj" fmla="val 9091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1" name="Text 49"/>
          <p:cNvSpPr/>
          <p:nvPr/>
        </p:nvSpPr>
        <p:spPr>
          <a:xfrm>
            <a:off x="8001000" y="2240280"/>
            <a:ext cx="914400" cy="27660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8001000" y="2501798"/>
            <a:ext cx="914400" cy="241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</a:t>
            </a:r>
            <a:endParaRPr lang="en-US" sz="700" dirty="0"/>
          </a:p>
        </p:txBody>
      </p:sp>
      <p:sp>
        <p:nvSpPr>
          <p:cNvPr id="53" name="Text 51"/>
          <p:cNvSpPr/>
          <p:nvPr/>
        </p:nvSpPr>
        <p:spPr>
          <a:xfrm>
            <a:off x="274320" y="297180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1645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5" name="Text 53"/>
          <p:cNvSpPr/>
          <p:nvPr/>
        </p:nvSpPr>
        <p:spPr>
          <a:xfrm>
            <a:off x="1645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Ejecutivos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645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· Exposición · Contratos · CNBV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17920" y="2926080"/>
            <a:ext cx="2560320" cy="457200"/>
          </a:xfrm>
          <a:prstGeom prst="rect">
            <a:avLst>
              <a:gd name="adj" fmla="val 10000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8" name="Text 56"/>
          <p:cNvSpPr/>
          <p:nvPr/>
        </p:nvSpPr>
        <p:spPr>
          <a:xfrm>
            <a:off x="6217920" y="2926080"/>
            <a:ext cx="2560320" cy="2514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Financiero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217920" y="316382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Q&amp;A sobre contratos en lenguaje natural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457200" y="3566160"/>
            <a:ext cx="8229600" cy="411480"/>
          </a:xfrm>
          <a:prstGeom prst="rect">
            <a:avLst>
              <a:gd name="adj" fmla="val 6667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61" name="Text 59"/>
          <p:cNvSpPr/>
          <p:nvPr/>
        </p:nvSpPr>
        <p:spPr>
          <a:xfrm>
            <a:off x="54864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D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800" dirty="0"/>
          </a:p>
        </p:txBody>
      </p:sp>
      <p:sp>
        <p:nvSpPr>
          <p:cNvPr id="62" name="Text 60"/>
          <p:cNvSpPr/>
          <p:nvPr/>
        </p:nvSpPr>
        <p:spPr>
          <a:xfrm>
            <a:off x="201168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Firewall</a:t>
            </a:r>
            <a:endParaRPr lang="en-US" sz="700" dirty="0"/>
          </a:p>
        </p:txBody>
      </p:sp>
      <p:sp>
        <p:nvSpPr>
          <p:cNvPr id="63" name="Text 61"/>
          <p:cNvSpPr/>
          <p:nvPr/>
        </p:nvSpPr>
        <p:spPr>
          <a:xfrm>
            <a:off x="329184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WAF</a:t>
            </a:r>
            <a:endParaRPr lang="en-US" sz="700" dirty="0"/>
          </a:p>
        </p:txBody>
      </p:sp>
      <p:sp>
        <p:nvSpPr>
          <p:cNvPr id="64" name="Text 62"/>
          <p:cNvSpPr/>
          <p:nvPr/>
        </p:nvSpPr>
        <p:spPr>
          <a:xfrm>
            <a:off x="457200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 Condicional</a:t>
            </a:r>
            <a:endParaRPr lang="en-US" sz="700" dirty="0"/>
          </a:p>
        </p:txBody>
      </p:sp>
      <p:sp>
        <p:nvSpPr>
          <p:cNvPr id="65" name="Text 63"/>
          <p:cNvSpPr/>
          <p:nvPr/>
        </p:nvSpPr>
        <p:spPr>
          <a:xfrm>
            <a:off x="585216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(Cifrado)</a:t>
            </a:r>
            <a:endParaRPr lang="en-US" sz="700" dirty="0"/>
          </a:p>
        </p:txBody>
      </p:sp>
      <p:sp>
        <p:nvSpPr>
          <p:cNvPr id="66" name="Text 64"/>
          <p:cNvSpPr/>
          <p:nvPr/>
        </p:nvSpPr>
        <p:spPr>
          <a:xfrm>
            <a:off x="7132320" y="3566160"/>
            <a:ext cx="1280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700" dirty="0"/>
          </a:p>
        </p:txBody>
      </p:sp>
      <p:sp>
        <p:nvSpPr>
          <p:cNvPr id="67" name="Text 65"/>
          <p:cNvSpPr/>
          <p:nvPr/>
        </p:nvSpPr>
        <p:spPr>
          <a:xfrm>
            <a:off x="457200" y="713232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8A8F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Fuentes: ERP · Buró de Crédito · SFTP · APIs</a:t>
            </a:r>
            <a:endParaRPr lang="en-US" sz="700" dirty="0"/>
          </a:p>
        </p:txBody>
      </p:sp>
      <p:sp>
        <p:nvSpPr>
          <p:cNvPr id="68" name="Text 66"/>
          <p:cNvSpPr/>
          <p:nvPr/>
        </p:nvSpPr>
        <p:spPr>
          <a:xfrm>
            <a:off x="164592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1: Risk Scoring Financiero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64592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→ risk → alerts</a:t>
            </a:r>
            <a:endParaRPr lang="en-US" sz="700" dirty="0"/>
          </a:p>
        </p:txBody>
      </p:sp>
      <p:sp>
        <p:nvSpPr>
          <p:cNvPr id="70" name="Text 68"/>
          <p:cNvSpPr/>
          <p:nvPr/>
        </p:nvSpPr>
        <p:spPr>
          <a:xfrm>
            <a:off x="4297680" y="4160520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2: Plataforma de Datos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4297680" y="4361688"/>
            <a:ext cx="2560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multi-source → DWS → reports</a:t>
            </a:r>
            <a:endParaRPr lang="en-US" sz="700" dirty="0"/>
          </a:p>
        </p:txBody>
      </p:sp>
      <p:sp>
        <p:nvSpPr>
          <p:cNvPr id="72" name="Text 70"/>
          <p:cNvSpPr/>
          <p:nvPr/>
        </p:nvSpPr>
        <p:spPr>
          <a:xfrm>
            <a:off x="6858000" y="416052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3: Contract AI + Dify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6858000" y="4361688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→ DeepSeek → chatbot</a:t>
            </a:r>
            <a:endParaRPr lang="en-US" sz="700" dirty="0"/>
          </a:p>
        </p:txBody>
      </p:sp>
      <p:sp>
        <p:nvSpPr>
          <p:cNvPr id="74" name="Text 72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Risk Scoring Financiero + Plataforma de Datos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2 semanas de análisis manual → 8 minutos automáticos con alertas CNBV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6304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63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Buró de Crédito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SFTP · APIs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96596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214884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14884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DataArts Studio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+ Validación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de Datos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023360" y="1463040"/>
            <a:ext cx="1188720" cy="731520"/>
          </a:xfrm>
          <a:prstGeom prst="rect">
            <a:avLst>
              <a:gd name="adj" fmla="val 6250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023360" y="1463040"/>
            <a:ext cx="1188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Data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Parquet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5780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44068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4068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 Spark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Scoring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Detection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32320" y="1691640"/>
            <a:ext cx="320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7315200" y="1463040"/>
            <a:ext cx="1645920" cy="731520"/>
          </a:xfrm>
          <a:prstGeom prst="rect">
            <a:avLst>
              <a:gd name="adj" fmla="val 6250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7315200" y="146304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ODS → DW → DM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Estrella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5720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Dashboard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 vendors · 4 niveles · Alertas SAR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30B5C5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29184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Report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29184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sector · Por región · Por monto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126480" y="2514600"/>
            <a:ext cx="2560320" cy="640080"/>
          </a:xfrm>
          <a:prstGeom prst="rect">
            <a:avLst>
              <a:gd name="adj" fmla="val 5714"/>
            </a:avLst>
          </a:prstGeom>
          <a:solidFill>
            <a:srgbClr val="ED6D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6126480" y="25146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CNBV Compliance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126480" y="278892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Transacciones · KYC · AML · SPEI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8580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2,300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68580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24028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min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224028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79476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niveles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79476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Bajo · Medio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Alto · Crítico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534924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SAR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534924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automáticas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903720" y="34747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00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99.98%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6903720" y="3794760"/>
            <a:ext cx="1554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7200" y="4434840"/>
            <a:ext cx="8229600" cy="274320"/>
          </a:xfrm>
          <a:prstGeom prst="rect">
            <a:avLst>
              <a:gd name="adj" fmla="val 10000"/>
            </a:avLst>
          </a:prstGeom>
          <a:solidFill>
            <a:srgbClr val="5A1A1A"/>
          </a:solidFill>
          <a:ln/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CFW · WAF · IAM · KMS  |  Cumplimiento CNBV · Banxico · Ley Fintech (AML/KYC)</a:t>
            </a:r>
            <a:endParaRPr lang="en-US" sz="700" dirty="0"/>
          </a:p>
        </p:txBody>
      </p:sp>
      <p:sp>
        <p:nvSpPr>
          <p:cNvPr id="39" name="Text 37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Pipeline: Contract AI + Dify Chatbot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revisión manual de contratos → chatbot AI que responde en segundos sobre todo tu portafolio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PDF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Contratos → OBS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6916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82880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1E5F7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Service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Huawei Cloud OCR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632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200400" y="1188720"/>
            <a:ext cx="914400" cy="594360"/>
          </a:xfrm>
          <a:prstGeom prst="rect">
            <a:avLst>
              <a:gd name="adj" fmla="val 7692"/>
            </a:avLst>
          </a:prstGeom>
          <a:solidFill>
            <a:srgbClr val="2D2D44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00400" y="118872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6052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389120" y="1188720"/>
            <a:ext cx="1188720" cy="594360"/>
          </a:xfrm>
          <a:prstGeom prst="rect">
            <a:avLst>
              <a:gd name="adj" fmla="val 7692"/>
            </a:avLst>
          </a:prstGeom>
          <a:solidFill>
            <a:srgbClr val="8B2252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89120" y="118872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Func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Normalización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62356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760720" y="1188720"/>
            <a:ext cx="137160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760720" y="118872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DeepSeek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 + Class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78040" y="135331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7589520" y="1188720"/>
            <a:ext cx="1097280" cy="594360"/>
          </a:xfrm>
          <a:prstGeom prst="rect">
            <a:avLst>
              <a:gd name="adj" fmla="val 7692"/>
            </a:avLst>
          </a:prstGeom>
          <a:solidFill>
            <a:srgbClr val="7B3F0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7589520" y="118872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DWS + 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55080" y="1828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0B5C5"/>
                </a:solidFill>
              </a:rPr>
              <a:t>▼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2743200" y="2286000"/>
            <a:ext cx="146304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2743200" y="2286000"/>
            <a:ext cx="1463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+ KB Vectorial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25196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4572000" y="2286000"/>
            <a:ext cx="1645920" cy="594360"/>
          </a:xfrm>
          <a:prstGeom prst="rect">
            <a:avLst>
              <a:gd name="adj" fmla="val 7692"/>
            </a:avLst>
          </a:prstGeom>
          <a:solidFill>
            <a:srgbClr val="0D4D4D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4572000" y="2286000"/>
            <a:ext cx="1645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Dify Platform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+ RAG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263640" y="245059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A8FA3"/>
                </a:solidFill>
              </a:rPr>
              <a:t>▶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6675120" y="2286000"/>
            <a:ext cx="2011680" cy="594360"/>
          </a:xfrm>
          <a:prstGeom prst="rect">
            <a:avLst>
              <a:gd name="adj" fmla="val 7692"/>
            </a:avLst>
          </a:prstGeom>
          <a:solidFill>
            <a:srgbClr val="62B230"/>
          </a:solidFill>
          <a:ln/>
          <a:effectLst>
            <a:outerShdw sx="100000" sy="100000" kx="0" ky="0" algn="bl" rotWithShape="0" blurRad="50800" dist="25400" dir="8100000">
              <a:srgbClr val="000000">
                <a:alpha val="30000"/>
              </a:srgbClr>
            </a:outerShdw>
          </a:effectLst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6675120" y="228600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Q&amp;A Chatbot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675120" y="25603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"¿Qué contratos tienen penalización?"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CCFF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"¿Exposición total en CDMX?"</a:t>
            </a:r>
            <a:endParaRPr lang="en-US" sz="700" dirty="0"/>
          </a:p>
        </p:txBody>
      </p:sp>
      <p:sp>
        <p:nvSpPr>
          <p:cNvPr id="31" name="Shape 29"/>
          <p:cNvSpPr/>
          <p:nvPr/>
        </p:nvSpPr>
        <p:spPr>
          <a:xfrm>
            <a:off x="73152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73152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Summary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3152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3 párrafos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228600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28600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Partes, montos,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vigencia, jurisdicción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384048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384048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Clauses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384048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cláusulas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riesgosas + severidad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39496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/>
          <p:nvPr/>
        </p:nvSpPr>
        <p:spPr>
          <a:xfrm>
            <a:off x="539496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539496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Categorización: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crédito, garantía, etc.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6949440" y="3200400"/>
            <a:ext cx="1463040" cy="777240"/>
          </a:xfrm>
          <a:prstGeom prst="rect">
            <a:avLst>
              <a:gd name="adj" fmla="val 4706"/>
            </a:avLst>
          </a:prstGeom>
          <a:solidFill>
            <a:srgbClr val="111122"/>
          </a:solidFill>
          <a:ln w="6350">
            <a:solidFill>
              <a:srgbClr val="2D2D44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6949440" y="32004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0B5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Cross-Contract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6949440" y="3474720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semántica</a:t>
            </a:r>
            <a:endParaRPr lang="en-US" sz="70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cross-portafolio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1371600" y="4297680"/>
            <a:ext cx="6400800" cy="411480"/>
          </a:xfrm>
          <a:prstGeom prst="rect">
            <a:avLst>
              <a:gd name="adj" fmla="val 8889"/>
            </a:avLst>
          </a:prstGeom>
          <a:solidFill>
            <a:srgbClr val="C7000B"/>
          </a:solidFill>
          <a:ln/>
        </p:spPr>
        <p:txBody>
          <a:bodyPr/>
          <a:p/>
        </p:txBody>
      </p:sp>
      <p:sp>
        <p:nvSpPr>
          <p:cNvPr id="47" name="Text 45"/>
          <p:cNvSpPr/>
          <p:nvPr/>
        </p:nvSpPr>
        <p:spPr>
          <a:xfrm>
            <a:off x="1371600" y="42976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revisar contratos en silos → chatbot que responde en segundos sobre todo tu portafolio. DeepSeek + Dify = abogado AI 24/7.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484632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Workshop Huawei Cloud × Salinas  |  Mayo 8, 2026  |  México Century Plaza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AYCO Arquitectura Huawei Cloud</dc:title>
  <dc:subject>PptxGenJS Presentation</dc:subject>
  <dc:creator>Eduardo Cansino — Huawei Cloud LATAM</dc:creator>
  <cp:lastModifiedBy>Eduardo Cansino — Huawei Cloud LATAM</cp:lastModifiedBy>
  <cp:revision>1</cp:revision>
  <dcterms:created xsi:type="dcterms:W3CDTF">2026-05-04T19:08:33Z</dcterms:created>
  <dcterms:modified xsi:type="dcterms:W3CDTF">2026-05-04T19:08:33Z</dcterms:modified>
</cp:coreProperties>
</file>