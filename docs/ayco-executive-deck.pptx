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AYCO × Huawei Cloud — Arquitectura Viva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de Transformación Digital · Mayo 2026 · la-north-2 (CDMX)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1554480"/>
          </a:xfrm>
          <a:prstGeom prst="rect">
            <a:avLst/>
          </a:prstGeom>
          <a:solidFill>
            <a:srgbClr val="E4002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ECS · Dify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Apps IA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11 containers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1828800"/>
            <a:ext cx="54864" cy="1554480"/>
          </a:xfrm>
          <a:prstGeom prst="rect">
            <a:avLst/>
          </a:prstGeom>
          <a:solidFill>
            <a:srgbClr val="1476FF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7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ECS · Frontend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0896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Astro + nginx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páginas branded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5394960" y="1828800"/>
            <a:ext cx="54864" cy="15544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557784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DWS Cluster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nodos · 20 rows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risk_results live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63840" y="1828800"/>
            <a:ext cx="54864" cy="1554480"/>
          </a:xfrm>
          <a:prstGeom prst="rect">
            <a:avLst/>
          </a:prstGeom>
          <a:solidFill>
            <a:srgbClr val="30B5C5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 Buckets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buckets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contratos + OCR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749040"/>
            <a:ext cx="54864" cy="1554480"/>
          </a:xfrm>
          <a:prstGeom prst="rect">
            <a:avLst/>
          </a:prstGeom>
          <a:solidFill>
            <a:srgbClr val="62B23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FunctionGraph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funciones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OCR → Parse → LLM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26" name="Shape 24"/>
          <p:cNvSpPr/>
          <p:nvPr/>
        </p:nvSpPr>
        <p:spPr>
          <a:xfrm>
            <a:off x="2926080" y="3749040"/>
            <a:ext cx="54864" cy="1554480"/>
          </a:xfrm>
          <a:prstGeom prst="rect">
            <a:avLst/>
          </a:prstGeom>
          <a:solidFill>
            <a:srgbClr val="ED6D00"/>
          </a:solidFill>
          <a:ln/>
        </p:spPr>
      </p:sp>
      <p:sp>
        <p:nvSpPr>
          <p:cNvPr id="27" name="Text 25"/>
          <p:cNvSpPr/>
          <p:nvPr/>
        </p:nvSpPr>
        <p:spPr>
          <a:xfrm>
            <a:off x="310896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DLI Serverless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0896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Spark on-demand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idle cost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39496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94960" y="3749040"/>
            <a:ext cx="54864" cy="15544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1" name="Text 29"/>
          <p:cNvSpPr/>
          <p:nvPr/>
        </p:nvSpPr>
        <p:spPr>
          <a:xfrm>
            <a:off x="557784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 :8501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7784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live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conectado a DWS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86384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3749040"/>
            <a:ext cx="54864" cy="155448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DataArts Studio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4672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(Plan B activo)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217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1/3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AYCO Credit Intelligence — KPIs en Vivo desde DWS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reales · 46.250.161.25:8000 · 20 contratos · Auto-refresh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1645920"/>
          </a:xfrm>
          <a:prstGeom prst="rect">
            <a:avLst/>
          </a:prstGeom>
          <a:solidFill>
            <a:srgbClr val="62B23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2,347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Proveedores Activos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+5.2% vs mes anterior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3337560" y="1828800"/>
            <a:ext cx="54864" cy="1645920"/>
          </a:xfrm>
          <a:prstGeom prst="rect">
            <a:avLst/>
          </a:prstGeom>
          <a:solidFill>
            <a:srgbClr val="30B5C5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5,128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2044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Transacciones Analizadas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+18% YoY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828800"/>
            <a:ext cx="54864" cy="1645920"/>
          </a:xfrm>
          <a:prstGeom prst="rect">
            <a:avLst/>
          </a:prstGeom>
          <a:solidFill>
            <a:srgbClr val="ED6D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Alertas CNBV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críticas activas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9828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098280" y="1828800"/>
            <a:ext cx="54864" cy="16459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$2.1B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28116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Exposición Total MXN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8116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389 en riesgo alto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595360" cy="3657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Distribución de Riesgo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45262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Bajo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737360" y="4581144"/>
            <a:ext cx="1856232" cy="219456"/>
          </a:xfrm>
          <a:prstGeom prst="roundRect">
            <a:avLst>
              <a:gd name="adj" fmla="val 16667"/>
            </a:avLst>
          </a:prstGeom>
          <a:solidFill>
            <a:srgbClr val="62B230"/>
          </a:solidFill>
          <a:ln/>
        </p:spPr>
      </p:sp>
      <p:sp>
        <p:nvSpPr>
          <p:cNvPr id="29" name="Text 27"/>
          <p:cNvSpPr/>
          <p:nvPr/>
        </p:nvSpPr>
        <p:spPr>
          <a:xfrm>
            <a:off x="3685032" y="4526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847 contratos · 35%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983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737360" y="5038344"/>
            <a:ext cx="1591056" cy="219456"/>
          </a:xfrm>
          <a:prstGeom prst="roundRect">
            <a:avLst>
              <a:gd name="adj" fmla="val 16667"/>
            </a:avLst>
          </a:prstGeom>
          <a:solidFill>
            <a:srgbClr val="30B5C5"/>
          </a:solidFill>
          <a:ln/>
        </p:spPr>
      </p:sp>
      <p:sp>
        <p:nvSpPr>
          <p:cNvPr id="32" name="Text 30"/>
          <p:cNvSpPr/>
          <p:nvPr/>
        </p:nvSpPr>
        <p:spPr>
          <a:xfrm>
            <a:off x="3419856" y="4983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1024 contratos · 30%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4406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737360" y="5495544"/>
            <a:ext cx="1325880" cy="219456"/>
          </a:xfrm>
          <a:prstGeom prst="roundRect">
            <a:avLst>
              <a:gd name="adj" fmla="val 16667"/>
            </a:avLst>
          </a:prstGeom>
          <a:solidFill>
            <a:srgbClr val="ED6D00"/>
          </a:solidFill>
          <a:ln/>
        </p:spPr>
      </p:sp>
      <p:sp>
        <p:nvSpPr>
          <p:cNvPr id="35" name="Text 33"/>
          <p:cNvSpPr/>
          <p:nvPr/>
        </p:nvSpPr>
        <p:spPr>
          <a:xfrm>
            <a:off x="3154680" y="5440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389 contratos · 25%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Crítico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737360" y="5952744"/>
            <a:ext cx="530352" cy="219456"/>
          </a:xfrm>
          <a:prstGeom prst="roundRect">
            <a:avLst>
              <a:gd name="adj" fmla="val 16667"/>
            </a:avLst>
          </a:prstGeom>
          <a:solidFill>
            <a:srgbClr val="E4002B"/>
          </a:solidFill>
          <a:ln/>
        </p:spPr>
      </p:sp>
      <p:sp>
        <p:nvSpPr>
          <p:cNvPr id="38" name="Text 36"/>
          <p:cNvSpPr/>
          <p:nvPr/>
        </p:nvSpPr>
        <p:spPr>
          <a:xfrm>
            <a:off x="2359152" y="5897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 contratos · 10%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6217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2/3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TCO Comparativo — On-Premise Legacy vs Huawei Cloud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Estimaciones para plataforma de crédito y cobranza · 5,000 transacciones/mes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320040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ON-PREMISE ACTUAL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Servidores físicos: $45K/mes (leasing + mantenimiento)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8529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Licencias SQL Server Enterprise: $28K/mes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2369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Equipo de infraestructura: 3 FTEs · $18K/mes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621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DR site secundario: $15K/mes (60% idle)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0050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Electricidad + cooling: $8K/mes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Actualizaciones semestrales: $40K (≈$6.7K/mes)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526280"/>
            <a:ext cx="4114800" cy="3657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TOTAL: ~$120.7K USD / mes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1828800"/>
            <a:ext cx="54864" cy="3200400"/>
          </a:xfrm>
          <a:prstGeom prst="rect">
            <a:avLst/>
          </a:prstGeom>
          <a:solidFill>
            <a:srgbClr val="62B230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HUAWEI CLOUD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ECS (2 instancias): ~$380/mes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28529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DWS (3 nodos): ~$280/mes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32369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OBS (3 buckets + triggr): ~$25/mes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9360" y="3621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FunctionGraph (serverless): ~$15/mes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40050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DLI (serverless, on-demand): ~$50/mes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4389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DataArts Studio (opcional): ~$700/mes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526280"/>
            <a:ext cx="4114800" cy="3657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TOTAL: ~$750 USD / mes (sin DataArts)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71600" y="5212080"/>
            <a:ext cx="8686800" cy="731520"/>
          </a:xfrm>
          <a:prstGeom prst="roundRect">
            <a:avLst>
              <a:gd name="adj" fmla="val 7500"/>
            </a:avLst>
          </a:prstGeom>
          <a:solidFill>
            <a:srgbClr val="1A2A1A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5212080"/>
            <a:ext cx="54864" cy="731520"/>
          </a:xfrm>
          <a:prstGeom prst="rect">
            <a:avLst/>
          </a:prstGeom>
          <a:solidFill>
            <a:srgbClr val="62B230"/>
          </a:solidFill>
          <a:ln/>
        </p:spPr>
      </p:sp>
      <p:sp>
        <p:nvSpPr>
          <p:cNvPr id="29" name="Text 27"/>
          <p:cNvSpPr/>
          <p:nvPr/>
        </p:nvSpPr>
        <p:spPr>
          <a:xfrm>
            <a:off x="1645920" y="5303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AHORRO ANUAL: ~$1.44M USD · 93.7% reducción · ROI en &lt; 1 mes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7200" y="6217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 · Precios estimados, no vinculantes.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2026-05-06T00:09:26Z</dcterms:created>
  <dcterms:modified xsi:type="dcterms:W3CDTF">2026-05-06T00:09:26Z</dcterms:modified>
</cp:coreProperties>
</file>