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</p:sldIdLst>
  <p:notesMasterIdLst>
    <p:notesMasterId r:id="rId5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notesMaster" Target="notesMasters/notesMaster1.xml"/><Relationship Id="rId6" Type="http://schemas.openxmlformats.org/officeDocument/2006/relationships/presProps" Target="presProps.xml"/><Relationship Id="rId7" Type="http://schemas.openxmlformats.org/officeDocument/2006/relationships/viewProps" Target="viewProps.xml"/><Relationship Id="rId8" Type="http://schemas.openxmlformats.org/officeDocument/2006/relationships/theme" Target="theme/theme1.xml"/><Relationship Id="rId9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9144000" cy="45720"/>
          </a:xfrm>
          <a:prstGeom prst="rect">
            <a:avLst/>
          </a:prstGeom>
          <a:solidFill>
            <a:srgbClr val="E4002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6400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30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AYCO × Huawei Cloud — Arquitectura Viva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Workshop de Transformación Digital · Mayo 2026 · la-north-2 (CDMX)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828800"/>
            <a:ext cx="54864" cy="1554480"/>
          </a:xfrm>
          <a:prstGeom prst="rect">
            <a:avLst/>
          </a:prstGeom>
          <a:solidFill>
            <a:srgbClr val="E4002B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4008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ECS · Dify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64008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Apps IA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 containers · MPP 3 datanodes · CTS audit · Terraform IaC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292608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2926080" y="1828800"/>
            <a:ext cx="54864" cy="1554480"/>
          </a:xfrm>
          <a:prstGeom prst="rect">
            <a:avLst/>
          </a:prstGeom>
          <a:solidFill>
            <a:srgbClr val="1476FF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310896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476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ECS · Frontend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10896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Astro + nginx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páginas branded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539496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14" name="Shape 12"/>
          <p:cNvSpPr/>
          <p:nvPr/>
        </p:nvSpPr>
        <p:spPr>
          <a:xfrm>
            <a:off x="5394960" y="1828800"/>
            <a:ext cx="54864" cy="15544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557784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DWS Cluster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7784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nodos · 20 rows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risk_results live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7863840" y="182880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18" name="Shape 16"/>
          <p:cNvSpPr/>
          <p:nvPr/>
        </p:nvSpPr>
        <p:spPr>
          <a:xfrm>
            <a:off x="7863840" y="1828800"/>
            <a:ext cx="54864" cy="1554480"/>
          </a:xfrm>
          <a:prstGeom prst="rect">
            <a:avLst/>
          </a:prstGeom>
          <a:solidFill>
            <a:srgbClr val="30B5C5"/>
          </a:solidFill>
          <a:ln/>
        </p:spPr>
        <p:txBody>
          <a:bodyPr/>
          <a:p/>
        </p:txBody>
      </p:sp>
      <p:sp>
        <p:nvSpPr>
          <p:cNvPr id="19" name="Text 17"/>
          <p:cNvSpPr/>
          <p:nvPr/>
        </p:nvSpPr>
        <p:spPr>
          <a:xfrm>
            <a:off x="8046720" y="196596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30B5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OBS Buckets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8046720" y="242316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buckets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contratos + OCR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45720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22" name="Shape 20"/>
          <p:cNvSpPr/>
          <p:nvPr/>
        </p:nvSpPr>
        <p:spPr>
          <a:xfrm>
            <a:off x="457200" y="3749040"/>
            <a:ext cx="54864" cy="1554480"/>
          </a:xfrm>
          <a:prstGeom prst="rect">
            <a:avLst/>
          </a:prstGeom>
          <a:solidFill>
            <a:srgbClr val="62B230"/>
          </a:solidFill>
          <a:ln/>
        </p:spPr>
        <p:txBody>
          <a:bodyPr/>
          <a:p/>
        </p:txBody>
      </p:sp>
      <p:sp>
        <p:nvSpPr>
          <p:cNvPr id="23" name="Text 21"/>
          <p:cNvSpPr/>
          <p:nvPr/>
        </p:nvSpPr>
        <p:spPr>
          <a:xfrm>
            <a:off x="64008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FunctionGraph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64008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funciones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OCR → Parse → LLM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292608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26" name="Shape 24"/>
          <p:cNvSpPr/>
          <p:nvPr/>
        </p:nvSpPr>
        <p:spPr>
          <a:xfrm>
            <a:off x="2926080" y="3749040"/>
            <a:ext cx="54864" cy="1554480"/>
          </a:xfrm>
          <a:prstGeom prst="rect">
            <a:avLst/>
          </a:prstGeom>
          <a:solidFill>
            <a:srgbClr val="ED6D00"/>
          </a:solidFill>
          <a:ln/>
        </p:spPr>
        <p:txBody>
          <a:bodyPr/>
          <a:p/>
        </p:txBody>
      </p:sp>
      <p:sp>
        <p:nvSpPr>
          <p:cNvPr id="27" name="Text 25"/>
          <p:cNvSpPr/>
          <p:nvPr/>
        </p:nvSpPr>
        <p:spPr>
          <a:xfrm>
            <a:off x="310896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ED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DLI Serverless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310896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Spark on-demand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zero idle cost</a:t>
            </a:r>
            <a:endParaRPr lang="en-US" sz="1000" dirty="0"/>
          </a:p>
        </p:txBody>
      </p:sp>
      <p:sp>
        <p:nvSpPr>
          <p:cNvPr id="29" name="Shape 27"/>
          <p:cNvSpPr/>
          <p:nvPr/>
        </p:nvSpPr>
        <p:spPr>
          <a:xfrm>
            <a:off x="539496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30" name="Shape 28"/>
          <p:cNvSpPr/>
          <p:nvPr/>
        </p:nvSpPr>
        <p:spPr>
          <a:xfrm>
            <a:off x="5394960" y="3749040"/>
            <a:ext cx="54864" cy="1554480"/>
          </a:xfrm>
          <a:prstGeom prst="rect">
            <a:avLst/>
          </a:prstGeom>
          <a:solidFill>
            <a:srgbClr val="A78BFA"/>
          </a:solidFill>
          <a:ln/>
        </p:spPr>
        <p:txBody>
          <a:bodyPr/>
          <a:p/>
        </p:txBody>
      </p:sp>
      <p:sp>
        <p:nvSpPr>
          <p:cNvPr id="31" name="Text 29"/>
          <p:cNvSpPr/>
          <p:nvPr/>
        </p:nvSpPr>
        <p:spPr>
          <a:xfrm>
            <a:off x="557784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Streamlit :8501</a:t>
            </a:r>
            <a:endParaRPr lang="en-US" sz="1200" dirty="0"/>
          </a:p>
        </p:txBody>
      </p:sp>
      <p:sp>
        <p:nvSpPr>
          <p:cNvPr id="32" name="Text 30"/>
          <p:cNvSpPr/>
          <p:nvPr/>
        </p:nvSpPr>
        <p:spPr>
          <a:xfrm>
            <a:off x="557784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live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conectado a DWS</a:t>
            </a:r>
            <a:endParaRPr lang="en-US" sz="1000" dirty="0"/>
          </a:p>
        </p:txBody>
      </p:sp>
      <p:sp>
        <p:nvSpPr>
          <p:cNvPr id="33" name="Shape 31"/>
          <p:cNvSpPr/>
          <p:nvPr/>
        </p:nvSpPr>
        <p:spPr>
          <a:xfrm>
            <a:off x="7863840" y="3749040"/>
            <a:ext cx="2103120" cy="1554480"/>
          </a:xfrm>
          <a:prstGeom prst="roundRect">
            <a:avLst>
              <a:gd name="adj" fmla="val 470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34" name="Shape 32"/>
          <p:cNvSpPr/>
          <p:nvPr/>
        </p:nvSpPr>
        <p:spPr>
          <a:xfrm>
            <a:off x="7863840" y="3749040"/>
            <a:ext cx="54864" cy="1554480"/>
          </a:xfrm>
          <a:prstGeom prst="rect">
            <a:avLst/>
          </a:prstGeom>
          <a:solidFill>
            <a:srgbClr val="999999"/>
          </a:solidFill>
          <a:ln/>
        </p:spPr>
        <p:txBody>
          <a:bodyPr/>
          <a:p/>
        </p:txBody>
      </p:sp>
      <p:sp>
        <p:nvSpPr>
          <p:cNvPr id="35" name="Text 33"/>
          <p:cNvSpPr/>
          <p:nvPr/>
        </p:nvSpPr>
        <p:spPr>
          <a:xfrm>
            <a:off x="8046720" y="3886200"/>
            <a:ext cx="1737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DataArts Studio</a:t>
            </a:r>
            <a:endParaRPr lang="en-US" sz="1200" dirty="0"/>
          </a:p>
        </p:txBody>
      </p:sp>
      <p:sp>
        <p:nvSpPr>
          <p:cNvPr id="36" name="Text 34"/>
          <p:cNvSpPr/>
          <p:nvPr/>
        </p:nvSpPr>
        <p:spPr>
          <a:xfrm>
            <a:off x="8046720" y="4343400"/>
            <a:ext cx="1737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Governance</a:t>
            </a:r>
            <a:r>
              <a:rPr sz="1000">
                <a:solidFill>
                  <a:srgbClr val="CCCCCC"/>
                </a:solidFill>
              </a:rPr>
              <a:t> · CTS · Terraform</a:t>
            </a:r>
            <a:endParaRPr lang="en-US" sz="10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(Plan B activo)</a:t>
            </a:r>
            <a:endParaRPr lang="en-US" sz="1000" dirty="0"/>
          </a:p>
        </p:txBody>
      </p:sp>
      <p:sp>
        <p:nvSpPr>
          <p:cNvPr id="37" name="Text 35"/>
          <p:cNvSpPr/>
          <p:nvPr/>
        </p:nvSpPr>
        <p:spPr>
          <a:xfrm>
            <a:off x="457200" y="6217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CONFIDENCIAL — Huawei Cloud LATAM</a:t>
            </a:r>
            <a:endParaRPr lang="en-US" sz="900" dirty="0"/>
          </a:p>
        </p:txBody>
      </p:sp>
      <p:sp>
        <p:nvSpPr>
          <p:cNvPr id="38" name="Text 36"/>
          <p:cNvSpPr/>
          <p:nvPr/>
        </p:nvSpPr>
        <p:spPr>
          <a:xfrm>
            <a:off x="1078992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1/3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9144000" cy="45720"/>
          </a:xfrm>
          <a:prstGeom prst="rect">
            <a:avLst/>
          </a:prstGeom>
          <a:solidFill>
            <a:srgbClr val="E4002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640080"/>
            <a:ext cx="77724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AYCO Credit Intelligence — KPIs en Vivo desde DWS</a:t>
            </a:r>
            <a:endParaRPr lang="en-US" sz="30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Datos reales · 46.250.161.25:8000 · 20 contratos · Auto-refresh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6" name="Shape 4"/>
          <p:cNvSpPr/>
          <p:nvPr/>
        </p:nvSpPr>
        <p:spPr>
          <a:xfrm>
            <a:off x="457200" y="1828800"/>
            <a:ext cx="54864" cy="1645920"/>
          </a:xfrm>
          <a:prstGeom prst="rect">
            <a:avLst/>
          </a:prstGeom>
          <a:solidFill>
            <a:srgbClr val="62B230"/>
          </a:solidFill>
          <a:ln/>
        </p:spPr>
      </p:sp>
      <p:sp>
        <p:nvSpPr>
          <p:cNvPr id="7" name="Text 5"/>
          <p:cNvSpPr/>
          <p:nvPr/>
        </p:nvSpPr>
        <p:spPr>
          <a:xfrm>
            <a:off x="64008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2,347</a:t>
            </a:r>
            <a:endParaRPr lang="en-US" sz="3200" dirty="0"/>
          </a:p>
        </p:txBody>
      </p:sp>
      <p:sp>
        <p:nvSpPr>
          <p:cNvPr id="8" name="Text 6"/>
          <p:cNvSpPr/>
          <p:nvPr/>
        </p:nvSpPr>
        <p:spPr>
          <a:xfrm>
            <a:off x="64008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Proveedores Activos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64008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+5.2% vs mes anterior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333756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11" name="Shape 9"/>
          <p:cNvSpPr/>
          <p:nvPr/>
        </p:nvSpPr>
        <p:spPr>
          <a:xfrm>
            <a:off x="3337560" y="1828800"/>
            <a:ext cx="54864" cy="1645920"/>
          </a:xfrm>
          <a:prstGeom prst="rect">
            <a:avLst/>
          </a:prstGeom>
          <a:solidFill>
            <a:srgbClr val="30B5C5"/>
          </a:solidFill>
          <a:ln/>
        </p:spPr>
      </p:sp>
      <p:sp>
        <p:nvSpPr>
          <p:cNvPr id="12" name="Text 10"/>
          <p:cNvSpPr/>
          <p:nvPr/>
        </p:nvSpPr>
        <p:spPr>
          <a:xfrm>
            <a:off x="352044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30B5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5,128</a:t>
            </a:r>
            <a:endParaRPr lang="en-US" sz="3200" dirty="0"/>
          </a:p>
        </p:txBody>
      </p:sp>
      <p:sp>
        <p:nvSpPr>
          <p:cNvPr id="13" name="Text 11"/>
          <p:cNvSpPr/>
          <p:nvPr/>
        </p:nvSpPr>
        <p:spPr>
          <a:xfrm>
            <a:off x="352044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Transacciones Analizadas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52044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+18% YoY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621792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16" name="Shape 14"/>
          <p:cNvSpPr/>
          <p:nvPr/>
        </p:nvSpPr>
        <p:spPr>
          <a:xfrm>
            <a:off x="6217920" y="1828800"/>
            <a:ext cx="54864" cy="1645920"/>
          </a:xfrm>
          <a:prstGeom prst="rect">
            <a:avLst/>
          </a:prstGeom>
          <a:solidFill>
            <a:srgbClr val="ED6D00"/>
          </a:solidFill>
          <a:ln/>
        </p:spPr>
      </p:sp>
      <p:sp>
        <p:nvSpPr>
          <p:cNvPr id="17" name="Text 15"/>
          <p:cNvSpPr/>
          <p:nvPr/>
        </p:nvSpPr>
        <p:spPr>
          <a:xfrm>
            <a:off x="640080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ED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47</a:t>
            </a:r>
            <a:endParaRPr lang="en-US" sz="3200" dirty="0"/>
          </a:p>
        </p:txBody>
      </p:sp>
      <p:sp>
        <p:nvSpPr>
          <p:cNvPr id="18" name="Text 16"/>
          <p:cNvSpPr/>
          <p:nvPr/>
        </p:nvSpPr>
        <p:spPr>
          <a:xfrm>
            <a:off x="640080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Alertas CNBV</a:t>
            </a:r>
            <a:endParaRPr lang="en-US" sz="1200" dirty="0"/>
          </a:p>
        </p:txBody>
      </p:sp>
      <p:sp>
        <p:nvSpPr>
          <p:cNvPr id="19" name="Text 17"/>
          <p:cNvSpPr/>
          <p:nvPr/>
        </p:nvSpPr>
        <p:spPr>
          <a:xfrm>
            <a:off x="640080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 críticas activas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9098280" y="1828800"/>
            <a:ext cx="2560320" cy="1645920"/>
          </a:xfrm>
          <a:prstGeom prst="roundRect">
            <a:avLst>
              <a:gd name="adj" fmla="val 4444"/>
            </a:avLst>
          </a:prstGeom>
          <a:solidFill>
            <a:srgbClr val="1A1A1A"/>
          </a:solidFill>
          <a:ln/>
        </p:spPr>
      </p:sp>
      <p:sp>
        <p:nvSpPr>
          <p:cNvPr id="21" name="Shape 19"/>
          <p:cNvSpPr/>
          <p:nvPr/>
        </p:nvSpPr>
        <p:spPr>
          <a:xfrm>
            <a:off x="9098280" y="1828800"/>
            <a:ext cx="54864" cy="1645920"/>
          </a:xfrm>
          <a:prstGeom prst="rect">
            <a:avLst/>
          </a:prstGeom>
          <a:solidFill>
            <a:srgbClr val="A78BFA"/>
          </a:solidFill>
          <a:ln/>
        </p:spPr>
      </p:sp>
      <p:sp>
        <p:nvSpPr>
          <p:cNvPr id="22" name="Text 20"/>
          <p:cNvSpPr/>
          <p:nvPr/>
        </p:nvSpPr>
        <p:spPr>
          <a:xfrm>
            <a:off x="9281160" y="1920240"/>
            <a:ext cx="219456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A78BF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$2.1B</a:t>
            </a:r>
            <a:endParaRPr lang="en-US" sz="3200" dirty="0"/>
          </a:p>
        </p:txBody>
      </p:sp>
      <p:sp>
        <p:nvSpPr>
          <p:cNvPr id="23" name="Text 21"/>
          <p:cNvSpPr/>
          <p:nvPr/>
        </p:nvSpPr>
        <p:spPr>
          <a:xfrm>
            <a:off x="9281160" y="256032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Exposición Total MXN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9281160" y="2880360"/>
            <a:ext cx="219456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389 en riesgo alto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457200" y="3840480"/>
            <a:ext cx="8595360" cy="36576"/>
          </a:xfrm>
          <a:prstGeom prst="rect">
            <a:avLst/>
          </a:prstGeom>
          <a:solidFill>
            <a:srgbClr val="333333"/>
          </a:solidFill>
          <a:ln/>
        </p:spPr>
      </p:sp>
      <p:sp>
        <p:nvSpPr>
          <p:cNvPr id="26" name="Text 24"/>
          <p:cNvSpPr/>
          <p:nvPr/>
        </p:nvSpPr>
        <p:spPr>
          <a:xfrm>
            <a:off x="548640" y="402336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Distribución de Riesgo</a:t>
            </a:r>
            <a:endParaRPr lang="en-US" sz="1600" dirty="0"/>
          </a:p>
        </p:txBody>
      </p:sp>
      <p:sp>
        <p:nvSpPr>
          <p:cNvPr id="27" name="Text 25"/>
          <p:cNvSpPr/>
          <p:nvPr/>
        </p:nvSpPr>
        <p:spPr>
          <a:xfrm>
            <a:off x="548640" y="45262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Bajo</a:t>
            </a:r>
            <a:endParaRPr lang="en-US" sz="1100" dirty="0"/>
          </a:p>
        </p:txBody>
      </p:sp>
      <p:sp>
        <p:nvSpPr>
          <p:cNvPr id="28" name="Shape 26"/>
          <p:cNvSpPr/>
          <p:nvPr/>
        </p:nvSpPr>
        <p:spPr>
          <a:xfrm>
            <a:off x="1737360" y="4581144"/>
            <a:ext cx="1856232" cy="219456"/>
          </a:xfrm>
          <a:prstGeom prst="roundRect">
            <a:avLst>
              <a:gd name="adj" fmla="val 16667"/>
            </a:avLst>
          </a:prstGeom>
          <a:solidFill>
            <a:srgbClr val="62B230"/>
          </a:solidFill>
          <a:ln/>
        </p:spPr>
      </p:sp>
      <p:sp>
        <p:nvSpPr>
          <p:cNvPr id="29" name="Text 27"/>
          <p:cNvSpPr/>
          <p:nvPr/>
        </p:nvSpPr>
        <p:spPr>
          <a:xfrm>
            <a:off x="3685032" y="45262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847 contratos · 35%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548640" y="49834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30B5C5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Medio</a:t>
            </a:r>
            <a:endParaRPr lang="en-US" sz="1100" dirty="0"/>
          </a:p>
        </p:txBody>
      </p:sp>
      <p:sp>
        <p:nvSpPr>
          <p:cNvPr id="31" name="Shape 29"/>
          <p:cNvSpPr/>
          <p:nvPr/>
        </p:nvSpPr>
        <p:spPr>
          <a:xfrm>
            <a:off x="1737360" y="5038344"/>
            <a:ext cx="1591056" cy="219456"/>
          </a:xfrm>
          <a:prstGeom prst="roundRect">
            <a:avLst>
              <a:gd name="adj" fmla="val 16667"/>
            </a:avLst>
          </a:prstGeom>
          <a:solidFill>
            <a:srgbClr val="30B5C5"/>
          </a:solidFill>
          <a:ln/>
        </p:spPr>
      </p:sp>
      <p:sp>
        <p:nvSpPr>
          <p:cNvPr id="32" name="Text 30"/>
          <p:cNvSpPr/>
          <p:nvPr/>
        </p:nvSpPr>
        <p:spPr>
          <a:xfrm>
            <a:off x="3419856" y="49834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1024 contratos · 30%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48640" y="54406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D6D0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Alto</a:t>
            </a:r>
            <a:endParaRPr lang="en-US" sz="1100" dirty="0"/>
          </a:p>
        </p:txBody>
      </p:sp>
      <p:sp>
        <p:nvSpPr>
          <p:cNvPr id="34" name="Shape 32"/>
          <p:cNvSpPr/>
          <p:nvPr/>
        </p:nvSpPr>
        <p:spPr>
          <a:xfrm>
            <a:off x="1737360" y="5495544"/>
            <a:ext cx="1325880" cy="219456"/>
          </a:xfrm>
          <a:prstGeom prst="roundRect">
            <a:avLst>
              <a:gd name="adj" fmla="val 16667"/>
            </a:avLst>
          </a:prstGeom>
          <a:solidFill>
            <a:srgbClr val="ED6D00"/>
          </a:solidFill>
          <a:ln/>
        </p:spPr>
      </p:sp>
      <p:sp>
        <p:nvSpPr>
          <p:cNvPr id="35" name="Text 33"/>
          <p:cNvSpPr/>
          <p:nvPr/>
        </p:nvSpPr>
        <p:spPr>
          <a:xfrm>
            <a:off x="3154680" y="54406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389 contratos · 25%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548640" y="5897880"/>
            <a:ext cx="10972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Crítico</a:t>
            </a:r>
            <a:endParaRPr lang="en-US" sz="1100" dirty="0"/>
          </a:p>
        </p:txBody>
      </p:sp>
      <p:sp>
        <p:nvSpPr>
          <p:cNvPr id="37" name="Shape 35"/>
          <p:cNvSpPr/>
          <p:nvPr/>
        </p:nvSpPr>
        <p:spPr>
          <a:xfrm>
            <a:off x="1737360" y="5952744"/>
            <a:ext cx="530352" cy="219456"/>
          </a:xfrm>
          <a:prstGeom prst="roundRect">
            <a:avLst>
              <a:gd name="adj" fmla="val 16667"/>
            </a:avLst>
          </a:prstGeom>
          <a:solidFill>
            <a:srgbClr val="E4002B"/>
          </a:solidFill>
          <a:ln/>
        </p:spPr>
      </p:sp>
      <p:sp>
        <p:nvSpPr>
          <p:cNvPr id="38" name="Text 36"/>
          <p:cNvSpPr/>
          <p:nvPr/>
        </p:nvSpPr>
        <p:spPr>
          <a:xfrm>
            <a:off x="2359152" y="5897880"/>
            <a:ext cx="2286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87 contratos · 10%</a:t>
            </a:r>
            <a:endParaRPr lang="en-US" sz="1000" dirty="0"/>
          </a:p>
        </p:txBody>
      </p:sp>
      <p:sp>
        <p:nvSpPr>
          <p:cNvPr id="39" name="Text 37"/>
          <p:cNvSpPr/>
          <p:nvPr/>
        </p:nvSpPr>
        <p:spPr>
          <a:xfrm>
            <a:off x="457200" y="62179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CONFIDENCIAL — Huawei Cloud LATAM</a:t>
            </a:r>
            <a:endParaRPr lang="en-US" sz="900" dirty="0"/>
          </a:p>
        </p:txBody>
      </p:sp>
      <p:sp>
        <p:nvSpPr>
          <p:cNvPr id="40" name="Text 38"/>
          <p:cNvSpPr/>
          <p:nvPr/>
        </p:nvSpPr>
        <p:spPr>
          <a:xfrm>
            <a:off x="1078992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2/3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A0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365760"/>
            <a:ext cx="9144000" cy="45720"/>
          </a:xfrm>
          <a:prstGeom prst="rect">
            <a:avLst/>
          </a:prstGeom>
          <a:solidFill>
            <a:srgbClr val="E4002B"/>
          </a:solidFill>
          <a:ln/>
        </p:spPr>
        <p:txBody>
          <a:bodyPr/>
          <a:p/>
        </p:txBody>
      </p:sp>
      <p:sp>
        <p:nvSpPr>
          <p:cNvPr id="3" name="Text 1"/>
          <p:cNvSpPr/>
          <p:nvPr/>
        </p:nvSpPr>
        <p:spPr>
          <a:xfrm>
            <a:off x="548640" y="64008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TCO Comparativo — On-Premise Legacy vs Huawei Cloud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1188720"/>
            <a:ext cx="7772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Estimaciones para plataforma de crédito y cobranza · 5,000 transacciones/mes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45720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6" name="Shape 4"/>
          <p:cNvSpPr/>
          <p:nvPr/>
        </p:nvSpPr>
        <p:spPr>
          <a:xfrm>
            <a:off x="457200" y="1828800"/>
            <a:ext cx="54864" cy="3200400"/>
          </a:xfrm>
          <a:prstGeom prst="rect">
            <a:avLst/>
          </a:prstGeom>
          <a:solidFill>
            <a:srgbClr val="999999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73152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ON-PREMISE ACTUAL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24688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Servidores físicos: $45K/mes (leasing + mantenimiento)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731520" y="28529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Licencias SQL Server Enterprise: $28K/mes</a:t>
            </a:r>
            <a:endParaRPr lang="en-US" sz="1000" dirty="0"/>
          </a:p>
        </p:txBody>
      </p:sp>
      <p:sp>
        <p:nvSpPr>
          <p:cNvPr id="10" name="Text 8"/>
          <p:cNvSpPr/>
          <p:nvPr/>
        </p:nvSpPr>
        <p:spPr>
          <a:xfrm>
            <a:off x="731520" y="32369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Equipo de infraestructura: 3 FTEs · $18K/mes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731520" y="3621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DR site secundario: $15K/mes (60% idle)</a:t>
            </a:r>
            <a:endParaRPr lang="en-US" sz="1000" dirty="0"/>
          </a:p>
        </p:txBody>
      </p:sp>
      <p:sp>
        <p:nvSpPr>
          <p:cNvPr id="12" name="Text 10"/>
          <p:cNvSpPr/>
          <p:nvPr/>
        </p:nvSpPr>
        <p:spPr>
          <a:xfrm>
            <a:off x="731520" y="40050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Electricidad + cooling: $8K/mes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731520" y="4389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−  Actualizaciones semestrales: $40K (≈$6.7K/mes)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731520" y="4526280"/>
            <a:ext cx="4114800" cy="3657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73152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E4002B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TOTAL: ~$120.7K USD / mes</a:t>
            </a:r>
            <a:endParaRPr lang="en-US" sz="1300" dirty="0"/>
          </a:p>
        </p:txBody>
      </p:sp>
      <p:sp>
        <p:nvSpPr>
          <p:cNvPr id="16" name="Shape 14"/>
          <p:cNvSpPr/>
          <p:nvPr/>
        </p:nvSpPr>
        <p:spPr>
          <a:xfrm>
            <a:off x="6035040" y="1828800"/>
            <a:ext cx="5212080" cy="3200400"/>
          </a:xfrm>
          <a:prstGeom prst="roundRect">
            <a:avLst>
              <a:gd name="adj" fmla="val 2286"/>
            </a:avLst>
          </a:prstGeom>
          <a:solidFill>
            <a:srgbClr val="1A1A1A"/>
          </a:solidFill>
          <a:ln/>
        </p:spPr>
        <p:txBody>
          <a:bodyPr/>
          <a:p/>
        </p:txBody>
      </p:sp>
      <p:sp>
        <p:nvSpPr>
          <p:cNvPr id="17" name="Shape 15"/>
          <p:cNvSpPr/>
          <p:nvPr/>
        </p:nvSpPr>
        <p:spPr>
          <a:xfrm>
            <a:off x="6035040" y="1828800"/>
            <a:ext cx="54864" cy="3200400"/>
          </a:xfrm>
          <a:prstGeom prst="rect">
            <a:avLst/>
          </a:prstGeom>
          <a:solidFill>
            <a:srgbClr val="62B230"/>
          </a:solidFill>
          <a:ln/>
        </p:spPr>
        <p:txBody>
          <a:bodyPr/>
          <a:p/>
        </p:txBody>
      </p:sp>
      <p:sp>
        <p:nvSpPr>
          <p:cNvPr id="18" name="Text 16"/>
          <p:cNvSpPr/>
          <p:nvPr/>
        </p:nvSpPr>
        <p:spPr>
          <a:xfrm>
            <a:off x="6309360" y="19202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HUAWEI CLOUD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6309360" y="246888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ECS (2 instancias): ~$380/mes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6309360" y="2852928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DWS (3 nodos): ~$280/mes</a:t>
            </a:r>
            <a:endParaRPr lang="en-US" sz="1000" dirty="0"/>
          </a:p>
        </p:txBody>
      </p:sp>
      <p:sp>
        <p:nvSpPr>
          <p:cNvPr id="21" name="Text 19"/>
          <p:cNvSpPr/>
          <p:nvPr/>
        </p:nvSpPr>
        <p:spPr>
          <a:xfrm>
            <a:off x="6309360" y="3236976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OBS (3 buckets + triggr): ~$25/mes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6309360" y="3621024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FunctionGraph (serverless): ~$15/mes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6309360" y="4005072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DLI (serverless, on-demand): ~$50/mes</a:t>
            </a:r>
            <a:endParaRPr lang="en-US" sz="1000" dirty="0"/>
          </a:p>
        </p:txBody>
      </p:sp>
      <p:sp>
        <p:nvSpPr>
          <p:cNvPr id="24" name="Text 22"/>
          <p:cNvSpPr/>
          <p:nvPr/>
        </p:nvSpPr>
        <p:spPr>
          <a:xfrm>
            <a:off x="6309360" y="4389120"/>
            <a:ext cx="475488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+  DataArts Studio (opcional): ~$700/mes</a:t>
            </a:r>
            <a:endParaRPr lang="en-US" sz="1000" dirty="0"/>
          </a:p>
        </p:txBody>
      </p:sp>
      <p:sp>
        <p:nvSpPr>
          <p:cNvPr id="25" name="Shape 23"/>
          <p:cNvSpPr/>
          <p:nvPr/>
        </p:nvSpPr>
        <p:spPr>
          <a:xfrm>
            <a:off x="6309360" y="4526280"/>
            <a:ext cx="4114800" cy="36576"/>
          </a:xfrm>
          <a:prstGeom prst="rect">
            <a:avLst/>
          </a:prstGeom>
          <a:solidFill>
            <a:srgbClr val="000000"/>
          </a:solidFill>
          <a:ln/>
        </p:spPr>
        <p:txBody>
          <a:bodyPr/>
          <a:p/>
        </p:txBody>
      </p:sp>
      <p:sp>
        <p:nvSpPr>
          <p:cNvPr id="26" name="Text 24"/>
          <p:cNvSpPr/>
          <p:nvPr/>
        </p:nvSpPr>
        <p:spPr>
          <a:xfrm>
            <a:off x="6309360" y="4617720"/>
            <a:ext cx="45720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TOTAL: ~$750 USD / mes (sin DataArts)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1371600" y="5212080"/>
            <a:ext cx="8686800" cy="731520"/>
          </a:xfrm>
          <a:prstGeom prst="roundRect">
            <a:avLst>
              <a:gd name="adj" fmla="val 7500"/>
            </a:avLst>
          </a:prstGeom>
          <a:solidFill>
            <a:srgbClr val="1A2A1A"/>
          </a:solidFill>
          <a:ln/>
        </p:spPr>
        <p:txBody>
          <a:bodyPr/>
          <a:p/>
        </p:txBody>
      </p:sp>
      <p:sp>
        <p:nvSpPr>
          <p:cNvPr id="28" name="Shape 26"/>
          <p:cNvSpPr/>
          <p:nvPr/>
        </p:nvSpPr>
        <p:spPr>
          <a:xfrm>
            <a:off x="1371600" y="5212080"/>
            <a:ext cx="54864" cy="731520"/>
          </a:xfrm>
          <a:prstGeom prst="rect">
            <a:avLst/>
          </a:prstGeom>
          <a:solidFill>
            <a:srgbClr val="62B230"/>
          </a:solidFill>
          <a:ln/>
        </p:spPr>
        <p:txBody>
          <a:bodyPr/>
          <a:p/>
        </p:txBody>
      </p:sp>
      <p:sp>
        <p:nvSpPr>
          <p:cNvPr id="29" name="Text 27"/>
          <p:cNvSpPr/>
          <p:nvPr/>
        </p:nvSpPr>
        <p:spPr>
          <a:xfrm>
            <a:off x="1645920" y="5303520"/>
            <a:ext cx="82296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62B230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AHORRO ANUAL: ~$1.44M USD · 93.7% reducción · ROI &lt; 1 mes · IaC con Terraform · Infra inmutable</a:t>
            </a:r>
            <a:endParaRPr lang="en-US" sz="1600" dirty="0"/>
          </a:p>
        </p:txBody>
      </p:sp>
      <p:sp>
        <p:nvSpPr>
          <p:cNvPr id="30" name="Text 28"/>
          <p:cNvSpPr/>
          <p:nvPr/>
        </p:nvSpPr>
        <p:spPr>
          <a:xfrm>
            <a:off x="457200" y="62179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CONFIDENCIAL — Huawei Cloud LATAM · Precios estimados, no vinculantes.</a:t>
            </a:r>
            <a:endParaRPr lang="en-US" sz="900" dirty="0"/>
          </a:p>
        </p:txBody>
      </p:sp>
      <p:sp>
        <p:nvSpPr>
          <p:cNvPr id="31" name="Text 29"/>
          <p:cNvSpPr/>
          <p:nvPr/>
        </p:nvSpPr>
        <p:spPr>
          <a:xfrm>
            <a:off x="10789920" y="6217920"/>
            <a:ext cx="914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9999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3/3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3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3</vt:i4>
      </vt:variant>
    </vt:vector>
  </HeadingPairs>
  <TitlesOfParts>
    <vt:vector size="6" baseType="lpstr">
      <vt:lpstr>Arial</vt:lpstr>
      <vt:lpstr>Calibri</vt:lpstr>
      <vt:lpstr>Office Theme</vt:lpstr>
      <vt:lpstr>Slide 1</vt:lpstr>
      <vt:lpstr>Slide 2</vt:lpstr>
      <vt:lpstr>Slide 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2026-05-06T00:09:26Z</dcterms:created>
  <dcterms:modified xsi:type="dcterms:W3CDTF">2026-05-06T00:09:26Z</dcterms:modified>
</cp:coreProperties>
</file>